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9" r:id="rId2"/>
    <p:sldId id="262" r:id="rId3"/>
    <p:sldId id="263" r:id="rId4"/>
    <p:sldId id="264" r:id="rId5"/>
    <p:sldId id="266" r:id="rId6"/>
    <p:sldId id="265" r:id="rId7"/>
    <p:sldId id="267" r:id="rId8"/>
    <p:sldId id="268" r:id="rId9"/>
    <p:sldId id="269" r:id="rId10"/>
    <p:sldId id="261" r:id="rId11"/>
  </p:sldIdLst>
  <p:sldSz cx="12192000" cy="6858000"/>
  <p:notesSz cx="6858000" cy="9144000"/>
  <p:embeddedFontLst>
    <p:embeddedFont>
      <p:font typeface="Ericsson Hilda" pitchFamily="2" charset="0"/>
      <p:regular r:id="rId14"/>
      <p:bold r:id="rId15"/>
      <p:italic r:id="rId16"/>
      <p:boldItalic r:id="rId17"/>
    </p:embeddedFont>
    <p:embeddedFont>
      <p:font typeface="Ericsson Hilda Light" pitchFamily="2" charset="0"/>
      <p:regular r:id="rId18"/>
      <p:italic r:id="rId19"/>
    </p:embeddedFont>
    <p:embeddedFont>
      <p:font typeface="Ericsson Technical Icons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C373"/>
    <a:srgbClr val="242424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 autoAdjust="0"/>
    <p:restoredTop sz="88875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17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FD348-9C7F-4865-875C-863EC6E2C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4207-A46E-4F9A-91C9-BB4398CEA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2018-02-21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05526-C577-427D-800D-7921EA160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A4CFA-39AC-4AB6-B521-EBDB0AF74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EDCC-D3AE-4D3E-A1AA-6BA600F2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6212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2018-02-21 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fld id="{F949BC75-2359-4F98-918A-7033C92AD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338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2018-02-21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C9DD1CB-DD7E-47C0-8C73-DFDF434617D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35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2018-02-21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92AC96B-4D67-4510-9E86-C4D3070C128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6000" b="0" kern="1400" spc="-160" baseline="0">
                <a:latin typeface="+mj-lt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Ericsson Hilda Light 60pt,</a:t>
            </a:r>
            <a:br>
              <a:rPr lang="en-US" dirty="0"/>
            </a:br>
            <a:r>
              <a:rPr lang="en-US" dirty="0"/>
              <a:t>Ericsson Black,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Presentation description/subtitle</a:t>
            </a:r>
            <a:br>
              <a:rPr lang="en-US" dirty="0"/>
            </a:br>
            <a:r>
              <a:rPr lang="en-US" dirty="0"/>
              <a:t>Ericsson Hilda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37288"/>
            <a:ext cx="1910479" cy="287336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200">
                <a:latin typeface="+mn-lt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37287"/>
            <a:ext cx="2515041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r>
              <a:rPr lang="en-US" dirty="0"/>
              <a:t>Organization</a:t>
            </a:r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37287"/>
            <a:ext cx="897503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137457561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. Brigh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A763E3F-D546-48DC-86FC-898851FBC7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                                                                        Click icon to add a bright image</a:t>
            </a: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2330958"/>
          </a:xfrm>
        </p:spPr>
        <p:txBody>
          <a:bodyPr/>
          <a:lstStyle>
            <a:lvl1pPr>
              <a:lnSpc>
                <a:spcPct val="85000"/>
              </a:lnSpc>
              <a:defRPr sz="6000" b="0" kern="1400" spc="-160" baseline="0">
                <a:latin typeface="+mj-lt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Ericsson Hilda Light 60pt,</a:t>
            </a:r>
            <a:br>
              <a:rPr lang="en-US" dirty="0"/>
            </a:br>
            <a:r>
              <a:rPr lang="en-US" dirty="0"/>
              <a:t>Ericsson Black,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Presentation description/subtitle</a:t>
            </a:r>
            <a:br>
              <a:rPr lang="en-US" dirty="0"/>
            </a:br>
            <a:r>
              <a:rPr lang="en-US" dirty="0"/>
              <a:t>Ericsson Hilda 20pt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03516D-EC68-4282-84F4-9729304A5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0452" y="476250"/>
            <a:ext cx="256032" cy="2560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D47211-FF10-4DFA-A5AF-8E0A63463B4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40463" y="6237288"/>
            <a:ext cx="1910479" cy="287336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200">
                <a:latin typeface="+mn-lt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E57E58D-AC34-4A4B-A5B1-CE1B53ABBDA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29600" y="6237287"/>
            <a:ext cx="2515041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r>
              <a:rPr lang="en-US" dirty="0"/>
              <a:t>Organization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A4CC6AB0-560E-4AE0-A93D-9C1C64F0544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811951" y="6237287"/>
            <a:ext cx="897503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anchor="b"/>
          <a:lstStyle>
            <a:lvl1pPr marL="0" indent="0" algn="ctr">
              <a:buNone/>
              <a:defRPr lang="en-US" sz="1200" dirty="0"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399975860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w. Dark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AD780AD-21B6-4312-96C4-9E36B16488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                                                                   Click icon to add a dark  image</a:t>
            </a: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2330958"/>
          </a:xfrm>
        </p:spPr>
        <p:txBody>
          <a:bodyPr/>
          <a:lstStyle>
            <a:lvl1pPr>
              <a:lnSpc>
                <a:spcPct val="85000"/>
              </a:lnSpc>
              <a:defRPr sz="6000" b="0" kern="1400" spc="-1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title,</a:t>
            </a:r>
            <a:br>
              <a:rPr lang="en-US" dirty="0"/>
            </a:br>
            <a:r>
              <a:rPr lang="en-US" dirty="0"/>
              <a:t>Ericsson Hilda Light 60pt,</a:t>
            </a:r>
            <a:br>
              <a:rPr lang="en-US" dirty="0"/>
            </a:br>
            <a:r>
              <a:rPr lang="en-US" dirty="0"/>
              <a:t>Ericsson White,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description/subtitle</a:t>
            </a:r>
            <a:br>
              <a:rPr lang="en-US" dirty="0"/>
            </a:br>
            <a:r>
              <a:rPr lang="en-US" dirty="0"/>
              <a:t>Ericsson Hilda 20pt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9FEEAB-1C1F-4153-BC50-6FCDEAC19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AC4DB9-933C-4680-A281-C11929BCC2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40463" y="6237288"/>
            <a:ext cx="1910479" cy="287336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Speaker name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568BB6-C8A4-4545-B025-7D97CC4692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29600" y="6237287"/>
            <a:ext cx="2515041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anchor="b"/>
          <a:lstStyle>
            <a:lvl1pPr marL="0" indent="0" algn="ctr">
              <a:buNone/>
              <a:defRPr lang="en-US" sz="1200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Organization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D51585B7-9911-4BC2-ACC7-3D991408BDD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811951" y="6237287"/>
            <a:ext cx="897503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anchor="b"/>
          <a:lstStyle>
            <a:lvl1pPr marL="0" indent="0" algn="ctr">
              <a:buNone/>
              <a:defRPr lang="en-US" sz="120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</a:p>
        </p:txBody>
      </p:sp>
    </p:spTree>
    <p:extLst>
      <p:ext uri="{BB962C8B-B14F-4D97-AF65-F5344CB8AC3E}">
        <p14:creationId xmlns:p14="http://schemas.microsoft.com/office/powerpoint/2010/main" val="78732647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note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5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6000" b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Keynote cover page,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Black, 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6"/>
            <a:ext cx="5472112" cy="2087562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Speaker,</a:t>
            </a:r>
            <a:br>
              <a:rPr lang="en-US" dirty="0"/>
            </a:br>
            <a:r>
              <a:rPr lang="en-US" dirty="0"/>
              <a:t>Ericsson Black, Ericsson Hilda 20pt</a:t>
            </a:r>
          </a:p>
        </p:txBody>
      </p:sp>
    </p:spTree>
    <p:extLst>
      <p:ext uri="{BB962C8B-B14F-4D97-AF65-F5344CB8AC3E}">
        <p14:creationId xmlns:p14="http://schemas.microsoft.com/office/powerpoint/2010/main" val="1085322578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note Cover Page w. Brigh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8127A-B068-4F16-BC03-AF06DDDB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                                                                        Click icon to add a bright image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2288721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6000" b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Keynote cover page,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Black, 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Speaker,</a:t>
            </a:r>
            <a:br>
              <a:rPr lang="en-US" dirty="0"/>
            </a:br>
            <a:r>
              <a:rPr lang="en-US" dirty="0"/>
              <a:t>Ericsson Black,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0F7625D-2507-407E-B5D2-5964ED88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0452" y="476250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5542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note Cover Page w. Dark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8127A-B068-4F16-BC03-AF06DDDB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                                                                Click icon to add a dark image</a:t>
            </a:r>
          </a:p>
        </p:txBody>
      </p:sp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2288721"/>
          </a:xfr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Keynote cover cage,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Speaker,</a:t>
            </a:r>
            <a:br>
              <a:rPr lang="en-US" dirty="0"/>
            </a:br>
            <a:r>
              <a:rPr lang="en-US" dirty="0"/>
              <a:t>Ericsson Black, Ericsson Hilda 20pt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753C092-06FE-4B22-BAB1-EBEB69074D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663325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11" name="Title_TM">
            <a:extLst>
              <a:ext uri="{FF2B5EF4-FFF2-40B4-BE49-F238E27FC236}">
                <a16:creationId xmlns:a16="http://schemas.microsoft.com/office/drawing/2014/main" id="{48FE7FF9-3930-4C4A-8BC6-EB9A286812D4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4" y="476250"/>
            <a:ext cx="8353425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2" name="SubTitle_TM">
            <a:extLst>
              <a:ext uri="{FF2B5EF4-FFF2-40B4-BE49-F238E27FC236}">
                <a16:creationId xmlns:a16="http://schemas.microsoft.com/office/drawing/2014/main" id="{A60848B0-180A-4C02-A8B3-E172AF538B6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035D0DD-E99D-4FBA-B8C0-65E91EC04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9646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rIns="72000"/>
          <a:lstStyle>
            <a:lvl1pPr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1pPr>
            <a:lvl2pPr marL="742950" indent="-28575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2pPr>
            <a:lvl3pPr marL="11430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3pPr>
            <a:lvl4pPr marL="16002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4pPr>
            <a:lvl5pPr marL="20574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latin typeface="Ericsson Hilda Light" panose="00000400000000000000" pitchFamily="2" charset="0"/>
            </a:endParaRPr>
          </a:p>
        </p:txBody>
      </p:sp>
      <p:sp>
        <p:nvSpPr>
          <p:cNvPr id="10" name="Title_TM">
            <a:extLst>
              <a:ext uri="{FF2B5EF4-FFF2-40B4-BE49-F238E27FC236}">
                <a16:creationId xmlns:a16="http://schemas.microsoft.com/office/drawing/2014/main" id="{4F3FE80A-6B53-492B-8FC1-A575806A0D0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1" name="SubTitle_TM">
            <a:extLst>
              <a:ext uri="{FF2B5EF4-FFF2-40B4-BE49-F238E27FC236}">
                <a16:creationId xmlns:a16="http://schemas.microsoft.com/office/drawing/2014/main" id="{3AECA499-20B0-4F79-85A2-1C9D1BFBB0C0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77A080-9B1F-4D75-A79E-8C7540FBB1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6540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10" name="Title_TM">
            <a:extLst>
              <a:ext uri="{FF2B5EF4-FFF2-40B4-BE49-F238E27FC236}">
                <a16:creationId xmlns:a16="http://schemas.microsoft.com/office/drawing/2014/main" id="{6AB007D5-DA18-4842-9C2D-8C72512602C0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1" name="SubTitle_TM">
            <a:extLst>
              <a:ext uri="{FF2B5EF4-FFF2-40B4-BE49-F238E27FC236}">
                <a16:creationId xmlns:a16="http://schemas.microsoft.com/office/drawing/2014/main" id="{0D3699C9-F9CA-4781-89C3-F0A901D1F1AF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4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042C2C-5CDA-4F99-B59E-8CE43FEF2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66910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lIns="72000" rIns="72000"/>
          <a:lstStyle>
            <a:lvl1pPr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1pPr>
            <a:lvl2pPr marL="742950" indent="-28575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2pPr>
            <a:lvl3pPr marL="11430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3pPr>
            <a:lvl4pPr marL="16002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4pPr>
            <a:lvl5pPr marL="20574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latin typeface="Ericsson Hilda Light" panose="00000400000000000000" pitchFamily="2" charset="0"/>
            </a:endParaRPr>
          </a:p>
        </p:txBody>
      </p:sp>
      <p:sp>
        <p:nvSpPr>
          <p:cNvPr id="10" name="Title_TM">
            <a:extLst>
              <a:ext uri="{FF2B5EF4-FFF2-40B4-BE49-F238E27FC236}">
                <a16:creationId xmlns:a16="http://schemas.microsoft.com/office/drawing/2014/main" id="{F1368AB3-821C-4A71-B119-C0A8AA44A93F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1" name="SubTitle_TM">
            <a:extLst>
              <a:ext uri="{FF2B5EF4-FFF2-40B4-BE49-F238E27FC236}">
                <a16:creationId xmlns:a16="http://schemas.microsoft.com/office/drawing/2014/main" id="{8561E9FC-533B-4891-A7E3-A3DDB1BD26FB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80218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A0CF15-A701-44C3-81FC-A544265685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54033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none" lIns="72000" rIns="72000"/>
          <a:lstStyle>
            <a:lvl1pPr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1pPr>
            <a:lvl2pPr marL="742950" indent="-28575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2pPr>
            <a:lvl3pPr marL="11430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3pPr>
            <a:lvl4pPr marL="16002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4pPr>
            <a:lvl5pPr marL="20574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latin typeface="Ericsson Hilda Light" panose="00000400000000000000" pitchFamily="2" charset="0"/>
            </a:endParaRPr>
          </a:p>
        </p:txBody>
      </p:sp>
      <p:sp>
        <p:nvSpPr>
          <p:cNvPr id="12" name="Title_TM">
            <a:extLst>
              <a:ext uri="{FF2B5EF4-FFF2-40B4-BE49-F238E27FC236}">
                <a16:creationId xmlns:a16="http://schemas.microsoft.com/office/drawing/2014/main" id="{93CB56C1-2916-4C60-8532-A023564D2C57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4" y="476250"/>
            <a:ext cx="8353425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3" name="SubTitle_TM">
            <a:extLst>
              <a:ext uri="{FF2B5EF4-FFF2-40B4-BE49-F238E27FC236}">
                <a16:creationId xmlns:a16="http://schemas.microsoft.com/office/drawing/2014/main" id="{61DC6511-5700-4E95-89CA-81484C248C03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B7B746-B315-4EB5-B3A2-CA259B065B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02525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P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none" lIns="72000" rIns="72000"/>
          <a:lstStyle>
            <a:lvl1pPr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1pPr>
            <a:lvl2pPr marL="742950" indent="-28575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2pPr>
            <a:lvl3pPr marL="11430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3pPr>
            <a:lvl4pPr marL="16002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4pPr>
            <a:lvl5pPr marL="2057400" indent="-228600" eaLnBrk="0" hangingPunct="0">
              <a:spcBef>
                <a:spcPct val="50000"/>
              </a:spcBef>
              <a:defRPr sz="2000">
                <a:solidFill>
                  <a:schemeClr val="tx1"/>
                </a:solidFill>
                <a:latin typeface="Ericsson Hilda Light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Ericsson Hilda Light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latin typeface="Ericsson Hilda Light" panose="00000400000000000000" pitchFamily="2" charset="0"/>
            </a:endParaRPr>
          </a:p>
        </p:txBody>
      </p:sp>
      <p:sp>
        <p:nvSpPr>
          <p:cNvPr id="12" name="Title_TM">
            <a:extLst>
              <a:ext uri="{FF2B5EF4-FFF2-40B4-BE49-F238E27FC236}">
                <a16:creationId xmlns:a16="http://schemas.microsoft.com/office/drawing/2014/main" id="{93CB56C1-2916-4C60-8532-A023564D2C57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4" y="476250"/>
            <a:ext cx="8353425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White,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3" name="SubTitle_TM">
            <a:extLst>
              <a:ext uri="{FF2B5EF4-FFF2-40B4-BE49-F238E27FC236}">
                <a16:creationId xmlns:a16="http://schemas.microsoft.com/office/drawing/2014/main" id="{61DC6511-5700-4E95-89CA-81484C248C03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3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White, Ericsson Hilda 20pt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096BBFC-712A-429D-9C0A-7743993E7F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18655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TM">
            <a:extLst>
              <a:ext uri="{FF2B5EF4-FFF2-40B4-BE49-F238E27FC236}">
                <a16:creationId xmlns:a16="http://schemas.microsoft.com/office/drawing/2014/main" id="{696C7C8F-5086-466A-8108-2FE0A8663D59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5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Chapter/section divider or Statement/fact/quote, </a:t>
            </a:r>
            <a:br>
              <a:rPr lang="en-US" dirty="0"/>
            </a:br>
            <a:r>
              <a:rPr lang="en-US" dirty="0"/>
              <a:t>Ericsson Hilda Light 60pt, </a:t>
            </a:r>
            <a:br>
              <a:rPr lang="en-US" dirty="0"/>
            </a:br>
            <a:r>
              <a:rPr lang="en-US" dirty="0"/>
              <a:t>Ericsson Black, </a:t>
            </a:r>
            <a:br>
              <a:rPr lang="en-US" dirty="0"/>
            </a:br>
            <a:r>
              <a:rPr lang="en-US" dirty="0"/>
              <a:t>max 5-lines</a:t>
            </a:r>
          </a:p>
        </p:txBody>
      </p:sp>
      <p:sp>
        <p:nvSpPr>
          <p:cNvPr id="10" name="SubTitle_TM">
            <a:extLst>
              <a:ext uri="{FF2B5EF4-FFF2-40B4-BE49-F238E27FC236}">
                <a16:creationId xmlns:a16="http://schemas.microsoft.com/office/drawing/2014/main" id="{ED5DEA0B-CF0D-4EE6-B6A8-90BAF3DE8AF1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r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Statement/quote source, </a:t>
            </a:r>
          </a:p>
          <a:p>
            <a:r>
              <a:rPr lang="en-US" dirty="0"/>
              <a:t>Ericsson Black, Ericsson Hilda 20pt</a:t>
            </a:r>
          </a:p>
        </p:txBody>
      </p:sp>
    </p:spTree>
    <p:extLst>
      <p:ext uri="{BB962C8B-B14F-4D97-AF65-F5344CB8AC3E}">
        <p14:creationId xmlns:p14="http://schemas.microsoft.com/office/powerpoint/2010/main" val="3355176887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Se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1"/>
            <a:ext cx="8353425" cy="3457574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lang="en-US" sz="6000" b="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Chapter/section, </a:t>
            </a:r>
            <a:br>
              <a:rPr lang="en-US" dirty="0"/>
            </a:br>
            <a:r>
              <a:rPr lang="en-US" dirty="0"/>
              <a:t>Ericsson Hilda Light 60pt, Ericsson Black, </a:t>
            </a:r>
            <a:br>
              <a:rPr lang="en-US" dirty="0"/>
            </a:br>
            <a:r>
              <a:rPr lang="en-US" dirty="0"/>
              <a:t>max 4-lines</a:t>
            </a:r>
          </a:p>
        </p:txBody>
      </p:sp>
    </p:spTree>
    <p:extLst>
      <p:ext uri="{BB962C8B-B14F-4D97-AF65-F5344CB8AC3E}">
        <p14:creationId xmlns:p14="http://schemas.microsoft.com/office/powerpoint/2010/main" val="1793964376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33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41545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613FB31-E723-434D-8FBC-0054A54163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33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EAEE37-7D1D-49D7-BEC8-7A88843E38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24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4C7C5B-04BF-4F0E-888E-CE87D0EF1D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97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65A3682-3283-4350-B37F-DCABDCB15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38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1A279A-6DFF-44E2-AFD5-C14BD7105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406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9C0052-7A7B-40FB-AF90-CA9C4B79D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64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heav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D93672-2A04-4EF3-916F-2C920729FB0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72000" rIns="72000"/>
          <a:lstStyle/>
          <a:p>
            <a:pPr>
              <a:spcBef>
                <a:spcPct val="50000"/>
              </a:spcBef>
              <a:defRPr/>
            </a:pPr>
            <a:endParaRPr lang="en-US" dirty="0">
              <a:latin typeface="Ericsson Hilda Light" panose="00000400000000000000" pitchFamily="2" charset="0"/>
              <a:cs typeface="+mn-cs"/>
            </a:endParaRPr>
          </a:p>
        </p:txBody>
      </p:sp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510456-FEBC-46FA-B25A-B809F2C18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7410" y="476250"/>
            <a:ext cx="261523" cy="2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37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33167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607999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itle,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5472113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_SM">
            <a:extLst>
              <a:ext uri="{FF2B5EF4-FFF2-40B4-BE49-F238E27FC236}">
                <a16:creationId xmlns:a16="http://schemas.microsoft.com/office/drawing/2014/main" id="{AC5B9436-E3EB-4A3D-BE6B-EFFF8123DE9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41146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,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5472113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5472113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Eric. Hilda Light 40pt, </a:t>
            </a:r>
            <a:r>
              <a:rPr lang="en-US" dirty="0" err="1"/>
              <a:t>Eri</a:t>
            </a:r>
            <a:r>
              <a:rPr lang="en-US" dirty="0"/>
              <a:t>. Black, max 2-lines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F844D-0CF3-4814-B0DE-3D27A83936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r>
              <a:rPr lang="en-US" dirty="0"/>
              <a:t>    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4347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itle,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6240463" y="1844675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_SM">
            <a:extLst>
              <a:ext uri="{FF2B5EF4-FFF2-40B4-BE49-F238E27FC236}">
                <a16:creationId xmlns:a16="http://schemas.microsoft.com/office/drawing/2014/main" id="{4ACB62A1-CC4A-4B59-B1D8-ED86B77D9A3A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5223735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,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6240463" y="1844675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240463" y="476250"/>
            <a:ext cx="492436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max 2-lines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49585-9F54-46CC-8CEC-052CD1853EC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r>
              <a:rPr lang="en-US" dirty="0"/>
              <a:t>      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319818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675883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narrow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6240463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_SM">
            <a:extLst>
              <a:ext uri="{FF2B5EF4-FFF2-40B4-BE49-F238E27FC236}">
                <a16:creationId xmlns:a16="http://schemas.microsoft.com/office/drawing/2014/main" id="{B1CFD82C-8968-4B87-A964-6288AF293D7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922214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right image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479424" y="1844675"/>
            <a:ext cx="5472113" cy="2089150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479425" y="4149724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A05AB2F5-3C8F-45BD-81CB-45EC98D4284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631202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left image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1844674"/>
            <a:ext cx="5472112" cy="2089151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6240463" y="4149724"/>
            <a:ext cx="5472112" cy="2087564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524C71C0-9908-4C8C-97CC-AA201198D2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850641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wo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50" y="4149724"/>
            <a:ext cx="8353425" cy="2087564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3359150" y="1844675"/>
            <a:ext cx="8353425" cy="2089150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0114795F-6AFF-421E-BA39-763FAD29FC1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9772865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Image over two content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6240463" y="4149724"/>
            <a:ext cx="5472112" cy="2087564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79425" y="4149724"/>
            <a:ext cx="5472113" cy="2087563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itle_SM">
            <a:extLst>
              <a:ext uri="{FF2B5EF4-FFF2-40B4-BE49-F238E27FC236}">
                <a16:creationId xmlns:a16="http://schemas.microsoft.com/office/drawing/2014/main" id="{A14F6E09-C956-49B3-8E41-DBD053DF768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762546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8184575" y="1844675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4332000" y="1844673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5457253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narrow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9121776" y="1844674"/>
            <a:ext cx="2590799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6240464" y="1844674"/>
            <a:ext cx="2592386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_SM">
            <a:extLst>
              <a:ext uri="{FF2B5EF4-FFF2-40B4-BE49-F238E27FC236}">
                <a16:creationId xmlns:a16="http://schemas.microsoft.com/office/drawing/2014/main" id="{7EEF5633-BC13-4AEA-AEF5-CE2675504D3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8960687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2758992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reamb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4149724"/>
            <a:ext cx="2592388" cy="2087563"/>
          </a:xfrm>
          <a:prstGeom prst="rect">
            <a:avLst/>
          </a:prstGeo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50" y="4149725"/>
            <a:ext cx="2592388" cy="2087562"/>
          </a:xfrm>
          <a:prstGeom prst="rect">
            <a:avLst/>
          </a:prstGeo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2592388" cy="4392612"/>
          </a:xfrm>
          <a:prstGeom prst="rect">
            <a:avLst/>
          </a:prstGeom>
        </p:spPr>
        <p:txBody>
          <a:bodyPr/>
          <a:lstStyle>
            <a:lvl1pPr marL="0" indent="0">
              <a:buFont typeface="Ericsson Hilda Light" panose="020B0604020202020204" pitchFamily="34" charset="0"/>
              <a:buNone/>
              <a:defRPr sz="2500">
                <a:latin typeface="+mn-lt"/>
              </a:defRPr>
            </a:lvl1pPr>
            <a:lvl2pPr marL="0" indent="0">
              <a:buFont typeface="Ericsson Hilda Light" panose="020B0604020202020204" pitchFamily="34" charset="0"/>
              <a:buNone/>
              <a:defRPr sz="2500">
                <a:latin typeface="+mj-lt"/>
              </a:defRPr>
            </a:lvl2pPr>
            <a:lvl3pPr marL="342900" indent="0">
              <a:buFont typeface="Ericsson Hilda Light" panose="020B0604020202020204" pitchFamily="34" charset="0"/>
              <a:buNone/>
              <a:defRPr sz="2500">
                <a:latin typeface="+mj-lt"/>
              </a:defRPr>
            </a:lvl3pPr>
            <a:lvl4pPr marL="685800" indent="0">
              <a:buFont typeface="Ericsson Hilda Light" panose="020B0604020202020204" pitchFamily="34" charset="0"/>
              <a:buNone/>
              <a:defRPr sz="2500">
                <a:latin typeface="+mj-lt"/>
              </a:defRPr>
            </a:lvl4pPr>
            <a:lvl5pPr marL="1028700" indent="0">
              <a:buFont typeface="Ericsson Hilda Light" panose="020B0604020202020204" pitchFamily="34" charset="0"/>
              <a:buNone/>
              <a:defRPr sz="2500">
                <a:latin typeface="+mj-lt"/>
              </a:defRPr>
            </a:lvl5pPr>
          </a:lstStyle>
          <a:p>
            <a:pPr lvl="0"/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ea typeface="+mn-ea"/>
                <a:cs typeface="Ericsson Hilda Light" panose="020B0604020202020204" pitchFamily="34" charset="0"/>
              </a:rPr>
              <a:t>Preamble text, </a:t>
            </a:r>
            <a:r>
              <a:rPr lang="en-US" dirty="0"/>
              <a:t>Ericsson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ea typeface="+mn-ea"/>
                <a:cs typeface="Ericsson Hilda Light" panose="020B0604020202020204" pitchFamily="34" charset="0"/>
              </a:rPr>
              <a:t>Hilda 25pt, Ericsson Black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9120188" y="4149724"/>
            <a:ext cx="2592387" cy="2087563"/>
          </a:xfrm>
          <a:prstGeom prst="rect">
            <a:avLst/>
          </a:prstGeo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itle_SM">
            <a:extLst>
              <a:ext uri="{FF2B5EF4-FFF2-40B4-BE49-F238E27FC236}">
                <a16:creationId xmlns:a16="http://schemas.microsoft.com/office/drawing/2014/main" id="{CD0BB64A-768A-4118-B3E5-52B98C693831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5090902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 with visu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4149724"/>
            <a:ext cx="2592388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414972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4149724"/>
            <a:ext cx="2592388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3" hasCustomPrompt="1"/>
          </p:nvPr>
        </p:nvSpPr>
        <p:spPr>
          <a:xfrm>
            <a:off x="9121776" y="4149724"/>
            <a:ext cx="259079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itle_SM">
            <a:extLst>
              <a:ext uri="{FF2B5EF4-FFF2-40B4-BE49-F238E27FC236}">
                <a16:creationId xmlns:a16="http://schemas.microsoft.com/office/drawing/2014/main" id="{F83268EB-5955-4A3F-8B85-E7C084E6FAF5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31006958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0462" y="4149724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0462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7942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4149725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25486120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0463" y="415099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79424" y="414972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0463" y="1844675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3"/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79424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3359151" y="4149724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3359151" y="1844675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9120188" y="4149725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3"/>
            <a:endParaRPr lang="en-US" dirty="0"/>
          </a:p>
        </p:txBody>
      </p:sp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</a:p>
        </p:txBody>
      </p:sp>
    </p:spTree>
    <p:extLst>
      <p:ext uri="{BB962C8B-B14F-4D97-AF65-F5344CB8AC3E}">
        <p14:creationId xmlns:p14="http://schemas.microsoft.com/office/powerpoint/2010/main" val="14369881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153259"/>
            <a:ext cx="6048375" cy="347472"/>
          </a:xfrm>
          <a:prstGeom prst="rect">
            <a:avLst/>
          </a:prstGeom>
        </p:spPr>
        <p:txBody>
          <a:bodyPr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ericsson.com/related-</a:t>
            </a:r>
            <a:r>
              <a:rPr lang="en-US" dirty="0" err="1"/>
              <a:t>url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79B00C-7C1F-4F17-8D52-31D787A123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6895" y="2854112"/>
            <a:ext cx="1163145" cy="11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685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EBC62E-40C0-43CF-98DC-55F7A1D1FD3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1813" y="4153259"/>
            <a:ext cx="6048375" cy="347472"/>
          </a:xfrm>
          <a:prstGeom prst="rect">
            <a:avLst/>
          </a:prstGeom>
        </p:spPr>
        <p:txBody>
          <a:bodyPr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ericsson.com/related-</a:t>
            </a:r>
            <a:r>
              <a:rPr lang="en-US" dirty="0" err="1"/>
              <a:t>url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E90D21-D589-4F0A-88B0-94229A40F0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509" y="2842270"/>
            <a:ext cx="1174987" cy="117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10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715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 dirty="0">
                <a:solidFill>
                  <a:schemeClr val="tx1"/>
                </a:solidFill>
              </a:rPr>
              <a:t>This Master Slide is to ensure that all our characters are embedded with the presentation. Should not be used in a presentation.</a:t>
            </a: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dirty="0">
                <a:solidFill>
                  <a:schemeClr val="tx1"/>
                </a:solidFill>
              </a:rPr>
              <a:t>!"#$%&amp;'()*+,./0123456789:;&lt;=&gt;?@ABCDEFGHIJKLMNOPQRSTUVWXYZ[\]^_`</a:t>
            </a:r>
            <a:r>
              <a:rPr lang="en-US" sz="1400" dirty="0" err="1">
                <a:solidFill>
                  <a:schemeClr val="tx1"/>
                </a:solidFill>
              </a:rPr>
              <a:t>abcdefghijklmnopqrstuvwxyz</a:t>
            </a:r>
            <a:r>
              <a:rPr lang="en-US" sz="1400" dirty="0">
                <a:solidFill>
                  <a:schemeClr val="tx1"/>
                </a:solidFill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400" dirty="0" err="1">
                <a:solidFill>
                  <a:schemeClr val="tx1"/>
                </a:solidFill>
              </a:rPr>
              <a:t>ẀẁẃẄẅỲỳ</a:t>
            </a:r>
            <a:r>
              <a:rPr lang="en-US" sz="1400" dirty="0">
                <a:solidFill>
                  <a:schemeClr val="tx1"/>
                </a:solidFill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400" dirty="0" err="1">
                <a:solidFill>
                  <a:schemeClr val="tx1"/>
                </a:solidFill>
              </a:rPr>
              <a:t>ﬁﬂΆΈΉΊΌΎΏΐΑΒΓΕΖΗΘΙΚΛΜΝΞΟΠΡΣΤΥΦΧΨΪΫΆΈΉΊΰ</a:t>
            </a:r>
            <a:r>
              <a:rPr lang="en-US" sz="1400" dirty="0">
                <a:solidFill>
                  <a:schemeClr val="tx1"/>
                </a:solidFill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400" b="1" dirty="0">
                <a:solidFill>
                  <a:schemeClr val="tx1"/>
                </a:solidFill>
              </a:rPr>
              <a:t>!"#$%&amp;'()*+,./0123456789:;&lt;=&gt;?@ABCDEFGHIJKLMNOPQRSTUVWXYZ[\]^_`</a:t>
            </a:r>
            <a:r>
              <a:rPr lang="en-US" sz="1400" b="1" dirty="0" err="1">
                <a:solidFill>
                  <a:schemeClr val="tx1"/>
                </a:solidFill>
              </a:rPr>
              <a:t>abcdefghijklmnopqrstuvwxyz</a:t>
            </a:r>
            <a:r>
              <a:rPr lang="en-US" sz="1400" b="1" dirty="0">
                <a:solidFill>
                  <a:schemeClr val="tx1"/>
                </a:solidFill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400" b="1" dirty="0" err="1">
                <a:solidFill>
                  <a:schemeClr val="tx1"/>
                </a:solidFill>
              </a:rPr>
              <a:t>ẀẁẃẄẅỲỳ</a:t>
            </a:r>
            <a:r>
              <a:rPr lang="en-US" sz="1400" b="1" dirty="0">
                <a:solidFill>
                  <a:schemeClr val="tx1"/>
                </a:solidFill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400" b="1" dirty="0" err="1">
                <a:solidFill>
                  <a:schemeClr val="tx1"/>
                </a:solidFill>
              </a:rPr>
              <a:t>ﬁﬂΆΈΉΊΌΎΏΐΑΒΓΕΖΗΘΙΚΛΜΝΞΟΠΡΣΤΥΦΧΨΪΫΆΈΉΊΰ</a:t>
            </a:r>
            <a:r>
              <a:rPr lang="en-US" sz="1400" b="1" dirty="0">
                <a:solidFill>
                  <a:schemeClr val="tx1"/>
                </a:solidFill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400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400" b="1" dirty="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400" b="1" dirty="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400" b="1" dirty="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400" b="1" dirty="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400" b="1" dirty="0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400" b="1" dirty="0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4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04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_SM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5" y="1844675"/>
            <a:ext cx="11233150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For heading, use Ericsson Hilda in bold. For copy and bullets, use Ericsson Hilda.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Fifths level</a:t>
            </a:r>
          </a:p>
        </p:txBody>
      </p:sp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Slide title, Ericsson Hilda Light 40pt, Ericsson Black, max 2-lines</a:t>
            </a:r>
          </a:p>
        </p:txBody>
      </p:sp>
      <p:sp>
        <p:nvSpPr>
          <p:cNvPr id="2" name="txtfooterCopy">
            <a:extLst>
              <a:ext uri="{FF2B5EF4-FFF2-40B4-BE49-F238E27FC236}">
                <a16:creationId xmlns:a16="http://schemas.microsoft.com/office/drawing/2014/main" id="{B5D66844-3D70-468C-AC9F-76DF3D537153}"/>
              </a:ext>
            </a:extLst>
          </p:cNvPr>
          <p:cNvSpPr txBox="1"/>
          <p:nvPr userDrawn="1"/>
        </p:nvSpPr>
        <p:spPr>
          <a:xfrm>
            <a:off x="527050" y="6524625"/>
            <a:ext cx="9865783" cy="2159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r>
              <a:rPr lang="en-US" sz="800" b="0" i="0" u="none" dirty="0">
                <a:solidFill>
                  <a:schemeClr val="bg1"/>
                </a:solidFill>
                <a:latin typeface="+mn-lt"/>
              </a:rPr>
              <a:t>Ericsson Internal  |  2018-02-21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25556D-527C-4037-A1EA-D4D374B5DCA7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490452" y="476250"/>
            <a:ext cx="256032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3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91" r:id="rId15"/>
    <p:sldLayoutId id="2147483673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674" r:id="rId24"/>
    <p:sldLayoutId id="2147483694" r:id="rId25"/>
    <p:sldLayoutId id="2147483682" r:id="rId26"/>
    <p:sldLayoutId id="2147483683" r:id="rId27"/>
    <p:sldLayoutId id="2147483684" r:id="rId28"/>
    <p:sldLayoutId id="2147483685" r:id="rId29"/>
    <p:sldLayoutId id="2147483675" r:id="rId30"/>
    <p:sldLayoutId id="2147483676" r:id="rId31"/>
    <p:sldLayoutId id="2147483686" r:id="rId32"/>
    <p:sldLayoutId id="2147483687" r:id="rId33"/>
    <p:sldLayoutId id="2147483688" r:id="rId34"/>
    <p:sldLayoutId id="2147483689" r:id="rId35"/>
    <p:sldLayoutId id="2147483696" r:id="rId36"/>
    <p:sldLayoutId id="2147483677" r:id="rId37"/>
    <p:sldLayoutId id="2147483678" r:id="rId38"/>
    <p:sldLayoutId id="2147483679" r:id="rId39"/>
    <p:sldLayoutId id="2147483680" r:id="rId40"/>
    <p:sldLayoutId id="2147483690" r:id="rId41"/>
    <p:sldLayoutId id="2147483681" r:id="rId42"/>
    <p:sldLayoutId id="2147483692" r:id="rId43"/>
    <p:sldLayoutId id="2147483704" r:id="rId44"/>
    <p:sldLayoutId id="2147483705" r:id="rId45"/>
  </p:sldLayoutIdLst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342900" indent="-342900" algn="l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Font typeface="Ericsson Hilda Light" panose="00000400000000000000" pitchFamily="2" charset="0"/>
        <a:buChar char="—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712788" indent="-342900" algn="l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Font typeface="Ericsson Hilda Light" panose="00000400000000000000" pitchFamily="2" charset="0"/>
        <a:buChar char="—"/>
        <a:defRPr sz="2000" kern="1000" spc="-30">
          <a:solidFill>
            <a:schemeClr val="tx1"/>
          </a:solidFill>
          <a:latin typeface="+mn-lt"/>
        </a:defRPr>
      </a:lvl2pPr>
      <a:lvl3pPr marL="1079500" indent="-342900" algn="l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Font typeface="Ericsson Hilda Light" panose="00000400000000000000" pitchFamily="2" charset="0"/>
        <a:buChar char="—"/>
        <a:defRPr sz="2000" kern="1000" spc="-30">
          <a:solidFill>
            <a:schemeClr val="tx1"/>
          </a:solidFill>
          <a:latin typeface="+mn-lt"/>
        </a:defRPr>
      </a:lvl3pPr>
      <a:lvl4pPr marL="1435100" indent="-342900" algn="l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Font typeface="Ericsson Hilda Light" panose="00000400000000000000" pitchFamily="2" charset="0"/>
        <a:buChar char="—"/>
        <a:defRPr sz="2000" kern="1000" spc="-30">
          <a:solidFill>
            <a:schemeClr val="tx1"/>
          </a:solidFill>
          <a:latin typeface="+mn-lt"/>
        </a:defRPr>
      </a:lvl4pPr>
      <a:lvl5pPr marL="1770063" indent="-342900" algn="l" rtl="0" eaLnBrk="1" fontAlgn="base" hangingPunct="1">
        <a:spcBef>
          <a:spcPts val="300"/>
        </a:spcBef>
        <a:spcAft>
          <a:spcPct val="0"/>
        </a:spcAft>
        <a:buClr>
          <a:schemeClr val="tx1"/>
        </a:buClr>
        <a:buFont typeface="Ericsson Hilda Light" panose="00000400000000000000" pitchFamily="2" charset="0"/>
        <a:buChar char="—"/>
        <a:defRPr sz="2000" kern="1000" spc="-30">
          <a:solidFill>
            <a:schemeClr val="tx1"/>
          </a:solidFill>
          <a:latin typeface="+mn-lt"/>
        </a:defRPr>
      </a:lvl5pPr>
      <a:lvl6pPr marL="2071688" indent="-1809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Ericsson Hilda" pitchFamily="2" charset="0"/>
        <a:buChar char="›"/>
        <a:defRPr sz="2000">
          <a:solidFill>
            <a:schemeClr val="tx1"/>
          </a:solidFill>
          <a:latin typeface="+mn-lt"/>
        </a:defRPr>
      </a:lvl6pPr>
      <a:lvl7pPr marL="2528888" indent="-1809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Ericsson Hilda" pitchFamily="2" charset="0"/>
        <a:buChar char="›"/>
        <a:defRPr sz="2000">
          <a:solidFill>
            <a:schemeClr val="tx1"/>
          </a:solidFill>
          <a:latin typeface="+mn-lt"/>
        </a:defRPr>
      </a:lvl7pPr>
      <a:lvl8pPr marL="2986088" indent="-1809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Ericsson Hilda" pitchFamily="2" charset="0"/>
        <a:buChar char="›"/>
        <a:defRPr sz="2000">
          <a:solidFill>
            <a:schemeClr val="tx1"/>
          </a:solidFill>
          <a:latin typeface="+mn-lt"/>
        </a:defRPr>
      </a:lvl8pPr>
      <a:lvl9pPr marL="3443288" indent="-1809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Ericsson Hilda" pitchFamily="2" charset="0"/>
        <a:buChar char="›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devtoolkit.openmobilealliance.org/OEditor/LWMOView?url=https%3A%2F%2Fraw.githubusercontent.com%2FOpenMobileAlliance%2Flwm2m-registry%2Fprod%2F511.xml" TargetMode="Externa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MobileAlliance/compact-composite" TargetMode="Externa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rajat.kandoi@ericsson.com" TargetMode="Externa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5DB9-990D-42FA-8A96-AE9E2B1A3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Compact Composite Object (ID: 511)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7152E-1193-42D5-AAAE-792423D857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Rajat Kandoi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86FD49-9B2F-4208-8540-5F97918FA1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Ericsson Research, Finland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FD6E6-EB04-48C7-AAF4-64C6EAFFEBA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2023-10-24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F34A258-47BF-49A9-BD44-7F6BE2D4F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OMA DMSO Weekly Conference</a:t>
            </a:r>
          </a:p>
        </p:txBody>
      </p:sp>
    </p:spTree>
    <p:extLst>
      <p:ext uri="{BB962C8B-B14F-4D97-AF65-F5344CB8AC3E}">
        <p14:creationId xmlns:p14="http://schemas.microsoft.com/office/powerpoint/2010/main" val="218947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F13D72A-BC65-CB4D-A3A5-0AAE6F05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Purpose and Agenda</a:t>
            </a:r>
            <a:endParaRPr lang="en-S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E3AC4B-A2D7-D542-94E6-823F7C99BD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Purpose:</a:t>
            </a:r>
          </a:p>
          <a:p>
            <a:r>
              <a:rPr lang="en-US" dirty="0"/>
              <a:t>Creating a technical enabler for the CC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Agenda:</a:t>
            </a:r>
          </a:p>
          <a:p>
            <a:r>
              <a:rPr lang="en-US" dirty="0"/>
              <a:t>Quick recap of CC Object</a:t>
            </a:r>
          </a:p>
          <a:p>
            <a:r>
              <a:rPr lang="en-US" dirty="0"/>
              <a:t>Way of working / next steps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9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09ED-0EF4-E227-9189-110046B0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CC Object - Recap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06D8F-8569-7F7C-B0BA-4A0C719C169B}"/>
              </a:ext>
            </a:extLst>
          </p:cNvPr>
          <p:cNvSpPr txBox="1"/>
          <p:nvPr/>
        </p:nvSpPr>
        <p:spPr bwMode="auto">
          <a:xfrm>
            <a:off x="10478574" y="6524624"/>
            <a:ext cx="2831742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NL" sz="1000" dirty="0">
                <a:hlinkClick r:id="rId2"/>
              </a:rPr>
              <a:t>Link</a:t>
            </a:r>
            <a:r>
              <a:rPr lang="en-NL" sz="1000" dirty="0"/>
              <a:t> to LwM2M Registry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145348-2794-2E26-DC0C-8B5DAFEB3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51" y="1631950"/>
            <a:ext cx="4660900" cy="47498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262FC3-2937-D1F6-759B-D25DDFC705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1" b="7307"/>
          <a:stretch/>
        </p:blipFill>
        <p:spPr>
          <a:xfrm>
            <a:off x="5486536" y="2172591"/>
            <a:ext cx="6385013" cy="351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1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1C40-98C4-C8C7-5CA1-070D0C28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CC Object - interactions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8467D78-8791-9F58-5614-2F55F4529C9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/>
          <a:srcRect l="13386"/>
          <a:stretch/>
        </p:blipFill>
        <p:spPr>
          <a:xfrm>
            <a:off x="643943" y="2015689"/>
            <a:ext cx="5356985" cy="4102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B27B1F-7B05-E5B5-CCF0-82AFFC9D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25" y="4445893"/>
            <a:ext cx="4685122" cy="11757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36445A-87EE-34D5-F6AC-5B4BCD30972C}"/>
              </a:ext>
            </a:extLst>
          </p:cNvPr>
          <p:cNvSpPr/>
          <p:nvPr/>
        </p:nvSpPr>
        <p:spPr bwMode="auto">
          <a:xfrm>
            <a:off x="1983346" y="4868214"/>
            <a:ext cx="2376153" cy="32841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57188" marR="0" indent="-357188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Ericsson Hilda" panose="00000500000000000000" pitchFamily="2" charset="0"/>
              <a:buChar char="—"/>
              <a:tabLst/>
            </a:pPr>
            <a:endParaRPr kumimoji="0" lang="en-NL" sz="2000" b="0" i="0" u="none" strike="noStrike" cap="none" normalizeH="0" baseline="0" dirty="0" err="1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21FECC-7438-0634-32F1-35CFB6931C3F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 bwMode="auto">
          <a:xfrm>
            <a:off x="4359499" y="5032420"/>
            <a:ext cx="2411226" cy="134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50960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E7B2-A91F-58DE-B90C-4B890A55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Benefits of the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B2D73-A3D6-FF43-676A-C70391885A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NL" dirty="0"/>
              <a:t>Bundling values that make sense together</a:t>
            </a:r>
          </a:p>
          <a:p>
            <a:pPr lvl="1"/>
            <a:r>
              <a:rPr lang="en-GB" dirty="0"/>
              <a:t>E</a:t>
            </a:r>
            <a:r>
              <a:rPr lang="en-NL" dirty="0"/>
              <a:t>.g.: Measurement value and unit, latitude and longitude, etc. </a:t>
            </a:r>
          </a:p>
          <a:p>
            <a:endParaRPr lang="en-NL" dirty="0"/>
          </a:p>
          <a:p>
            <a:r>
              <a:rPr lang="en-NL" dirty="0"/>
              <a:t>Regulatory compliance</a:t>
            </a:r>
          </a:p>
          <a:p>
            <a:pPr lvl="1"/>
            <a:r>
              <a:rPr lang="en-NL" dirty="0"/>
              <a:t>Past examples (from health domain) were raised in OMA</a:t>
            </a:r>
          </a:p>
          <a:p>
            <a:endParaRPr lang="en-NL" dirty="0"/>
          </a:p>
          <a:p>
            <a:r>
              <a:rPr lang="en-NL" dirty="0"/>
              <a:t>Energy efficiency </a:t>
            </a:r>
          </a:p>
          <a:p>
            <a:pPr lvl="1"/>
            <a:r>
              <a:rPr lang="en-NL" dirty="0"/>
              <a:t>via less data transmission, especially benefial in constrained environments</a:t>
            </a:r>
          </a:p>
          <a:p>
            <a:pPr lvl="1"/>
            <a:endParaRPr lang="en-NL" dirty="0"/>
          </a:p>
          <a:p>
            <a:r>
              <a:rPr lang="en-NL" dirty="0"/>
              <a:t>Discoverability of semantics is still possible</a:t>
            </a:r>
          </a:p>
          <a:p>
            <a:pPr lvl="1"/>
            <a:r>
              <a:rPr lang="en-NL" dirty="0"/>
              <a:t>But requires an additional step</a:t>
            </a:r>
          </a:p>
        </p:txBody>
      </p:sp>
    </p:spTree>
    <p:extLst>
      <p:ext uri="{BB962C8B-B14F-4D97-AF65-F5344CB8AC3E}">
        <p14:creationId xmlns:p14="http://schemas.microsoft.com/office/powerpoint/2010/main" val="265418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15B2-15D0-337C-4424-34DC2CBB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/>
          <a:lstStyle/>
          <a:p>
            <a:r>
              <a:rPr lang="en-NL" dirty="0"/>
              <a:t>Current status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C2BF-39AB-6933-98EE-6751A1F359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NL" dirty="0"/>
              <a:t>Repository created:</a:t>
            </a:r>
          </a:p>
          <a:p>
            <a:pPr lvl="1"/>
            <a:r>
              <a:rPr lang="en-US" dirty="0">
                <a:hlinkClick r:id="rId2"/>
              </a:rPr>
              <a:t>https://github.com/OpenMobileAlliance/compact-composite</a:t>
            </a:r>
            <a:endParaRPr lang="en-US" dirty="0"/>
          </a:p>
          <a:p>
            <a:pPr lvl="1"/>
            <a:r>
              <a:rPr lang="en-NL" dirty="0"/>
              <a:t>First draft published in “Informative” format</a:t>
            </a:r>
          </a:p>
          <a:p>
            <a:pPr lvl="1"/>
            <a:endParaRPr lang="en-NL" dirty="0"/>
          </a:p>
          <a:p>
            <a:r>
              <a:rPr lang="en-NL" dirty="0"/>
              <a:t>Supporting companies?</a:t>
            </a:r>
          </a:p>
          <a:p>
            <a:endParaRPr lang="en-NL" dirty="0"/>
          </a:p>
          <a:p>
            <a:r>
              <a:rPr lang="en-NL" dirty="0"/>
              <a:t>Contributions</a:t>
            </a:r>
          </a:p>
          <a:p>
            <a:pPr lvl="1"/>
            <a:r>
              <a:rPr lang="en-NL" dirty="0"/>
              <a:t>Please make comments on the repo directly. Or Email: rajat.kandoi@ericsson.com</a:t>
            </a:r>
          </a:p>
          <a:p>
            <a:pPr lvl="1"/>
            <a:r>
              <a:rPr lang="en-NL" dirty="0"/>
              <a:t>Design choices</a:t>
            </a:r>
          </a:p>
          <a:p>
            <a:pPr lvl="2"/>
            <a:r>
              <a:rPr lang="en-NL" dirty="0"/>
              <a:t>Some are mentioned in the draft, others in todo (README). If others come to mind,  please let me know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281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3F34-8C19-2331-D9AB-91EBB6E4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Feedback on open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917E5-1BF5-E017-75AD-80176CCC4A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Handling of race conditions is yet to be elaborated (e.g. - Writing of Target Links and read of Compact Data happens at same time)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Do we want to include any numbers / performance gains?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I have some indicative numbers available but might be good to agree on a set of resources for comparison purposes. One option is to use </a:t>
            </a:r>
            <a:r>
              <a:rPr lang="en-GB" b="0" i="1" dirty="0">
                <a:solidFill>
                  <a:srgbClr val="1F2328"/>
                </a:solidFill>
                <a:effectLst/>
                <a:latin typeface="-apple-system"/>
              </a:rPr>
              <a:t>only</a:t>
            </a: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 the existing example, and another option is to add more examples.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Handling of multiple instances could/should perhaps be mentioned. But what guidance can be provided? And is such guidance part of Normative documents?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F2328"/>
                </a:solidFill>
                <a:effectLst/>
                <a:latin typeface="-apple-system"/>
              </a:rPr>
              <a:t>Should there be any mention of potential future extensions for Write or support multiple formats for Target Links?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7464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B9B6-6DDE-8F68-BDAB-7BAD4213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How will the enabler become public?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5F0CFE-3CC9-053F-16A4-F6407EF5B79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79425" y="1689240"/>
            <a:ext cx="7220280" cy="38419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7DA970-17BC-571A-FA95-B04F53A6F613}"/>
              </a:ext>
            </a:extLst>
          </p:cNvPr>
          <p:cNvSpPr txBox="1">
            <a:spLocks/>
          </p:cNvSpPr>
          <p:nvPr/>
        </p:nvSpPr>
        <p:spPr bwMode="auto">
          <a:xfrm>
            <a:off x="8740587" y="1844675"/>
            <a:ext cx="2971987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Ericsson Hilda Light" panose="00000400000000000000" pitchFamily="2" charset="0"/>
              <a:buChar char="—"/>
              <a:defRPr sz="2000" kern="10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2788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Ericsson Hilda Light" panose="00000400000000000000" pitchFamily="2" charset="0"/>
              <a:buChar char="—"/>
              <a:defRPr sz="2000" kern="1000" spc="-30">
                <a:solidFill>
                  <a:schemeClr val="tx1"/>
                </a:solidFill>
                <a:latin typeface="+mn-lt"/>
              </a:defRPr>
            </a:lvl2pPr>
            <a:lvl3pPr marL="10795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Ericsson Hilda Light" panose="00000400000000000000" pitchFamily="2" charset="0"/>
              <a:buChar char="—"/>
              <a:defRPr sz="2000" kern="1000" spc="-30">
                <a:solidFill>
                  <a:schemeClr val="tx1"/>
                </a:solidFill>
                <a:latin typeface="+mn-lt"/>
              </a:defRPr>
            </a:lvl3pPr>
            <a:lvl4pPr marL="14351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Ericsson Hilda Light" panose="00000400000000000000" pitchFamily="2" charset="0"/>
              <a:buChar char="—"/>
              <a:defRPr sz="2000" kern="1000" spc="-30">
                <a:solidFill>
                  <a:schemeClr val="tx1"/>
                </a:solidFill>
                <a:latin typeface="+mn-lt"/>
              </a:defRPr>
            </a:lvl4pPr>
            <a:lvl5pPr marL="1770063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Ericsson Hilda Light" panose="00000400000000000000" pitchFamily="2" charset="0"/>
              <a:buChar char="—"/>
              <a:defRPr sz="2000" kern="1000" spc="-30">
                <a:solidFill>
                  <a:schemeClr val="tx1"/>
                </a:solidFill>
                <a:latin typeface="+mn-lt"/>
              </a:defRPr>
            </a:lvl5pPr>
            <a:lvl6pPr marL="2071688" indent="-1809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Ericsson Hilda" pitchFamily="2" charset="0"/>
              <a:buChar char="›"/>
              <a:defRPr sz="2000">
                <a:solidFill>
                  <a:schemeClr val="tx1"/>
                </a:solidFill>
                <a:latin typeface="+mn-lt"/>
              </a:defRPr>
            </a:lvl6pPr>
            <a:lvl7pPr marL="2528888" indent="-1809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Ericsson Hilda" pitchFamily="2" charset="0"/>
              <a:buChar char="›"/>
              <a:defRPr sz="2000">
                <a:solidFill>
                  <a:schemeClr val="tx1"/>
                </a:solidFill>
                <a:latin typeface="+mn-lt"/>
              </a:defRPr>
            </a:lvl7pPr>
            <a:lvl8pPr marL="2986088" indent="-1809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Ericsson Hilda" pitchFamily="2" charset="0"/>
              <a:buChar char="›"/>
              <a:defRPr sz="2000">
                <a:solidFill>
                  <a:schemeClr val="tx1"/>
                </a:solidFill>
                <a:latin typeface="+mn-lt"/>
              </a:defRPr>
            </a:lvl8pPr>
            <a:lvl9pPr marL="3443288" indent="-18097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Ericsson Hilda" pitchFamily="2" charset="0"/>
              <a:buChar char="›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NL" dirty="0"/>
              <a:t>Should add the CC enabler to the list?</a:t>
            </a:r>
          </a:p>
          <a:p>
            <a:endParaRPr lang="en-NL" dirty="0"/>
          </a:p>
          <a:p>
            <a:r>
              <a:rPr lang="en-NL" dirty="0"/>
              <a:t>But its an internal repo - how will this work make it to the public domain?</a:t>
            </a:r>
          </a:p>
          <a:p>
            <a:endParaRPr lang="en-NL" dirty="0"/>
          </a:p>
          <a:p>
            <a:r>
              <a:rPr lang="en-NL" dirty="0"/>
              <a:t>Answer not needed immediately but good to plan</a:t>
            </a:r>
          </a:p>
        </p:txBody>
      </p:sp>
    </p:spTree>
    <p:extLst>
      <p:ext uri="{BB962C8B-B14F-4D97-AF65-F5344CB8AC3E}">
        <p14:creationId xmlns:p14="http://schemas.microsoft.com/office/powerpoint/2010/main" val="182430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15B2-15D0-337C-4424-34DC2CBB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8353426" cy="1081088"/>
          </a:xfrm>
        </p:spPr>
        <p:txBody>
          <a:bodyPr/>
          <a:lstStyle/>
          <a:p>
            <a:r>
              <a:rPr lang="en-NL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C2BF-39AB-6933-98EE-6751A1F359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NL" dirty="0"/>
          </a:p>
          <a:p>
            <a:r>
              <a:rPr lang="en-NL" dirty="0"/>
              <a:t>Contributions</a:t>
            </a:r>
          </a:p>
          <a:p>
            <a:pPr lvl="1"/>
            <a:r>
              <a:rPr lang="en-NL" dirty="0"/>
              <a:t>Please make comments on the repo directly. Feel free to make PRs too (in fact encouraged </a:t>
            </a:r>
            <a:r>
              <a:rPr lang="en-NL" dirty="0">
                <a:sym typeface="Wingdings" pitchFamily="2" charset="2"/>
              </a:rPr>
              <a:t>)</a:t>
            </a:r>
            <a:endParaRPr lang="en-NL" dirty="0"/>
          </a:p>
          <a:p>
            <a:pPr lvl="1"/>
            <a:r>
              <a:rPr lang="en-NL" dirty="0"/>
              <a:t>Can reach out by email too: </a:t>
            </a:r>
            <a:r>
              <a:rPr lang="en-NL" dirty="0">
                <a:hlinkClick r:id="rId2"/>
              </a:rPr>
              <a:t>rajat.kandoi@ericsson.com</a:t>
            </a:r>
            <a:endParaRPr lang="en-NL" dirty="0"/>
          </a:p>
          <a:p>
            <a:pPr marL="369888" lvl="1" indent="0">
              <a:buNone/>
            </a:pPr>
            <a:endParaRPr lang="en-NL" dirty="0"/>
          </a:p>
          <a:p>
            <a:r>
              <a:rPr lang="en-NL" dirty="0"/>
              <a:t>Design choices</a:t>
            </a:r>
          </a:p>
          <a:p>
            <a:pPr lvl="1"/>
            <a:r>
              <a:rPr lang="en-NL" dirty="0"/>
              <a:t>Some are mentioned in the draft, others in todo (README). If others come to mind,  please let me know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5088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23854EA-CEFE-4DA8-92CF-3180BAF51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1812" y="4156317"/>
            <a:ext cx="6048375" cy="34747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287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Template2017">
  <a:themeElements>
    <a:clrScheme name="Custom 6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0082F0"/>
      </a:accent1>
      <a:accent2>
        <a:srgbClr val="0FC373"/>
      </a:accent2>
      <a:accent3>
        <a:srgbClr val="AF78D2"/>
      </a:accent3>
      <a:accent4>
        <a:srgbClr val="FAD22D"/>
      </a:accent4>
      <a:accent5>
        <a:srgbClr val="FF8C0A"/>
      </a:accent5>
      <a:accent6>
        <a:srgbClr val="FF3232"/>
      </a:accent6>
      <a:hlink>
        <a:srgbClr val="0A14D2"/>
      </a:hlink>
      <a:folHlink>
        <a:srgbClr val="040969"/>
      </a:folHlink>
    </a:clrScheme>
    <a:fontScheme name="Ericsson Brand 2.0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<a:prstTxWarp prst="textNoShape">
          <a:avLst/>
        </a:prstTxWarp>
        <a:noAutofit/>
      </a:bodyPr>
      <a:lstStyle>
        <a:defPPr marL="357188" marR="0" indent="-357188" algn="l" defTabSz="914400" rtl="0" eaLnBrk="1" fontAlgn="base" latinLnBrk="0" hangingPunct="1">
          <a:lnSpc>
            <a:spcPct val="100000"/>
          </a:lnSpc>
          <a:spcBef>
            <a:spcPts val="300"/>
          </a:spcBef>
          <a:spcAft>
            <a:spcPct val="0"/>
          </a:spcAft>
          <a:buClrTx/>
          <a:buSzTx/>
          <a:buFont typeface="Ericsson Hilda" panose="00000500000000000000" pitchFamily="2" charset="0"/>
          <a:buChar char="—"/>
          <a:tabLst/>
          <a:defRPr kumimoji="0" sz="20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 bwMode="auto">
        <a:noFill/>
        <a:ln w="12700">
          <a:noFill/>
          <a:miter lim="800000"/>
          <a:headEnd/>
          <a:tailEnd/>
        </a:ln>
      </a:spPr>
      <a:bodyPr vert="horz" wrap="square" lIns="72000" tIns="36000" rIns="73152" bIns="36576" numCol="1" rtlCol="0" anchor="t" anchorCtr="0" compatLnSpc="1">
        <a:prstTxWarp prst="textNoShape">
          <a:avLst/>
        </a:prstTxWarp>
        <a:noAutofit/>
      </a:bodyPr>
      <a:lstStyle>
        <a:defPPr marL="344488" indent="-344488" algn="l">
          <a:buClr>
            <a:schemeClr val="tx1"/>
          </a:buClr>
          <a:buFont typeface="Ericsson Hilda Light" panose="00000400000000000000" pitchFamily="2" charset="0"/>
          <a:buChar char="—"/>
          <a:defRPr sz="2000" dirty="0" err="1" smtClean="0"/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 Light"/>
        <a:font script="Hebr" typeface="Ericsson Hilda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 Light"/>
        <a:font script="Uigh" typeface="Microsoft Uighur"/>
        <a:font script="Geor" typeface="Sylfaen"/>
        <a:font script="Armn" typeface="Ericsson Hilda Ligh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ricsson Hild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Ericsson Hilda"/>
        <a:font script="Hebr" typeface="Ericsson Hild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ricsson Hild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Ericsson Hilda"/>
        <a:font script="Hebr" typeface="Ericsson Hild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Ericsson Hilda"/>
        <a:font script="Uigh" typeface="Microsoft Uighur"/>
        <a:font script="Geor" typeface="Sylfaen"/>
        <a:font script="Armn" typeface="Ericsson Hilda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PresentationTemplate2017</Template>
  <TotalTime>31077</TotalTime>
  <Words>433</Words>
  <Application>Microsoft Macintosh PowerPoint</Application>
  <PresentationFormat>Widescreen</PresentationFormat>
  <Paragraphs>66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Ericsson Hilda</vt:lpstr>
      <vt:lpstr>-apple-system</vt:lpstr>
      <vt:lpstr>Arial</vt:lpstr>
      <vt:lpstr>Ericsson Hilda Light</vt:lpstr>
      <vt:lpstr>Ericsson Technical Icons</vt:lpstr>
      <vt:lpstr>PresentationTemplate2017</vt:lpstr>
      <vt:lpstr>Compact Composite Object (ID: 511)  </vt:lpstr>
      <vt:lpstr>Purpose and Agenda</vt:lpstr>
      <vt:lpstr>CC Object - Recap</vt:lpstr>
      <vt:lpstr>CC Object - interactions</vt:lpstr>
      <vt:lpstr>Benefits of the approach</vt:lpstr>
      <vt:lpstr>Current status and Next steps</vt:lpstr>
      <vt:lpstr>Feedback on open questions</vt:lpstr>
      <vt:lpstr>How will the enabler become public?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Template</dc:title>
  <dc:creator>rajat.kandoi@ericsson.com</dc:creator>
  <cp:keywords/>
  <dc:description/>
  <cp:lastModifiedBy>Jaime Jiménez</cp:lastModifiedBy>
  <cp:revision>21</cp:revision>
  <dcterms:created xsi:type="dcterms:W3CDTF">2019-03-29T08:49:32Z</dcterms:created>
  <dcterms:modified xsi:type="dcterms:W3CDTF">2023-10-24T15:26:13Z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Type">
    <vt:lpwstr>Presentation2011</vt:lpwstr>
  </property>
  <property fmtid="{D5CDD505-2E9C-101B-9397-08002B2CF9AE}" pid="3" name="TemplateName">
    <vt:lpwstr>CXC 173 2731/1</vt:lpwstr>
  </property>
  <property fmtid="{D5CDD505-2E9C-101B-9397-08002B2CF9AE}" pid="4" name="TemplateVersion">
    <vt:lpwstr>R2A</vt:lpwstr>
  </property>
  <property fmtid="{D5CDD505-2E9C-101B-9397-08002B2CF9AE}" pid="5" name="EmbeddedFonts">
    <vt:bool>false</vt:bool>
  </property>
  <property fmtid="{D5CDD505-2E9C-101B-9397-08002B2CF9AE}" pid="6" name="PackageNo">
    <vt:lpwstr>LXA 119 603</vt:lpwstr>
  </property>
  <property fmtid="{D5CDD505-2E9C-101B-9397-08002B2CF9AE}" pid="7" name="PackageVersion">
    <vt:lpwstr>R6B</vt:lpwstr>
  </property>
  <property fmtid="{D5CDD505-2E9C-101B-9397-08002B2CF9AE}" pid="8" name="TemplateName2">
    <vt:lpwstr>CXC 173 2731/1</vt:lpwstr>
  </property>
  <property fmtid="{D5CDD505-2E9C-101B-9397-08002B2CF9AE}" pid="9" name="TemplateVersion2">
    <vt:lpwstr>R2A</vt:lpwstr>
  </property>
  <property fmtid="{D5CDD505-2E9C-101B-9397-08002B2CF9AE}" pid="10" name="DocumentType2">
    <vt:lpwstr>Presentation2011</vt:lpwstr>
  </property>
  <property fmtid="{D5CDD505-2E9C-101B-9397-08002B2CF9AE}" pid="11" name="Keyword">
    <vt:lpwstr> </vt:lpwstr>
  </property>
  <property fmtid="{D5CDD505-2E9C-101B-9397-08002B2CF9AE}" pid="12" name="FooterType">
    <vt:lpwstr>PresTemp</vt:lpwstr>
  </property>
  <property fmtid="{D5CDD505-2E9C-101B-9397-08002B2CF9AE}" pid="13" name="UsedFont">
    <vt:lpwstr>Ericsson Capital TT</vt:lpwstr>
  </property>
  <property fmtid="{D5CDD505-2E9C-101B-9397-08002B2CF9AE}" pid="14" name="x">
    <vt:lpwstr>0</vt:lpwstr>
  </property>
  <property fmtid="{D5CDD505-2E9C-101B-9397-08002B2CF9AE}" pid="15" name="White">
    <vt:bool>true</vt:bool>
  </property>
  <property fmtid="{D5CDD505-2E9C-101B-9397-08002B2CF9AE}" pid="16" name="chkMetaData">
    <vt:bool>false</vt:bool>
  </property>
  <property fmtid="{D5CDD505-2E9C-101B-9397-08002B2CF9AE}" pid="17" name="chkTaglines">
    <vt:bool>true</vt:bool>
  </property>
  <property fmtid="{D5CDD505-2E9C-101B-9397-08002B2CF9AE}" pid="18" name="SecurityClass">
    <vt:lpwstr>Ericsson Internal</vt:lpwstr>
  </property>
  <property fmtid="{D5CDD505-2E9C-101B-9397-08002B2CF9AE}" pid="19" name="txtConfLabel">
    <vt:lpwstr>Ericsson Internal</vt:lpwstr>
  </property>
  <property fmtid="{D5CDD505-2E9C-101B-9397-08002B2CF9AE}" pid="20" name="optUseConfClass">
    <vt:bool>true</vt:bool>
  </property>
  <property fmtid="{D5CDD505-2E9C-101B-9397-08002B2CF9AE}" pid="21" name="optUseConfLabel">
    <vt:bool>false</vt:bool>
  </property>
  <property fmtid="{D5CDD505-2E9C-101B-9397-08002B2CF9AE}" pid="22" name="optFooterCVLDocNo">
    <vt:bool>true</vt:bool>
  </property>
  <property fmtid="{D5CDD505-2E9C-101B-9397-08002B2CF9AE}" pid="23" name="optFooterCVLCopyright">
    <vt:bool>false</vt:bool>
  </property>
  <property fmtid="{D5CDD505-2E9C-101B-9397-08002B2CF9AE}" pid="24" name="optEnterText1">
    <vt:bool>false</vt:bool>
  </property>
  <property fmtid="{D5CDD505-2E9C-101B-9397-08002B2CF9AE}" pid="25" name="optFooterCVLConfLabel">
    <vt:bool>true</vt:bool>
  </property>
  <property fmtid="{D5CDD505-2E9C-101B-9397-08002B2CF9AE}" pid="26" name="optEnterText2">
    <vt:bool>false</vt:bool>
  </property>
  <property fmtid="{D5CDD505-2E9C-101B-9397-08002B2CF9AE}" pid="27" name="optFooterCVLTitle">
    <vt:bool>true</vt:bool>
  </property>
  <property fmtid="{D5CDD505-2E9C-101B-9397-08002B2CF9AE}" pid="28" name="optFooterCVLPrep">
    <vt:bool>false</vt:bool>
  </property>
  <property fmtid="{D5CDD505-2E9C-101B-9397-08002B2CF9AE}" pid="29" name="optEnterText3">
    <vt:bool>false</vt:bool>
  </property>
  <property fmtid="{D5CDD505-2E9C-101B-9397-08002B2CF9AE}" pid="30" name="optFooterCVLDate">
    <vt:bool>true</vt:bool>
  </property>
  <property fmtid="{D5CDD505-2E9C-101B-9397-08002B2CF9AE}" pid="31" name="optEnterText4">
    <vt:bool>false</vt:bool>
  </property>
  <property fmtid="{D5CDD505-2E9C-101B-9397-08002B2CF9AE}" pid="32" name="LeftFooterField">
    <vt:lpwstr> </vt:lpwstr>
  </property>
  <property fmtid="{D5CDD505-2E9C-101B-9397-08002B2CF9AE}" pid="33" name="MiddleFooterField">
    <vt:lpwstr> </vt:lpwstr>
  </property>
  <property fmtid="{D5CDD505-2E9C-101B-9397-08002B2CF9AE}" pid="34" name="RightFooterField">
    <vt:lpwstr> </vt:lpwstr>
  </property>
  <property fmtid="{D5CDD505-2E9C-101B-9397-08002B2CF9AE}" pid="35" name="RightFooterField2">
    <vt:lpwstr> </vt:lpwstr>
  </property>
  <property fmtid="{D5CDD505-2E9C-101B-9397-08002B2CF9AE}" pid="36" name="TotalNumb">
    <vt:bool>false</vt:bool>
  </property>
  <property fmtid="{D5CDD505-2E9C-101B-9397-08002B2CF9AE}" pid="37" name="Pages">
    <vt:bool>true</vt:bool>
  </property>
  <property fmtid="{D5CDD505-2E9C-101B-9397-08002B2CF9AE}" pid="38" name="BCategory">
    <vt:lpwstr> </vt:lpwstr>
  </property>
  <property fmtid="{D5CDD505-2E9C-101B-9397-08002B2CF9AE}" pid="39" name="BSubject">
    <vt:lpwstr> </vt:lpwstr>
  </property>
  <property fmtid="{D5CDD505-2E9C-101B-9397-08002B2CF9AE}" pid="40" name="DocType">
    <vt:lpwstr> </vt:lpwstr>
  </property>
  <property fmtid="{D5CDD505-2E9C-101B-9397-08002B2CF9AE}" pid="41" name="chkShowAll">
    <vt:bool>false</vt:bool>
  </property>
  <property fmtid="{D5CDD505-2E9C-101B-9397-08002B2CF9AE}" pid="42" name="chkOnlyTitle">
    <vt:bool>false</vt:bool>
  </property>
  <property fmtid="{D5CDD505-2E9C-101B-9397-08002B2CF9AE}" pid="43" name="chkPrep">
    <vt:bool>true</vt:bool>
  </property>
  <property fmtid="{D5CDD505-2E9C-101B-9397-08002B2CF9AE}" pid="44" name="chkAppr">
    <vt:bool>true</vt:bool>
  </property>
  <property fmtid="{D5CDD505-2E9C-101B-9397-08002B2CF9AE}" pid="45" name="chkConf">
    <vt:bool>true</vt:bool>
  </property>
  <property fmtid="{D5CDD505-2E9C-101B-9397-08002B2CF9AE}" pid="46" name="chkDate">
    <vt:bool>true</vt:bool>
  </property>
  <property fmtid="{D5CDD505-2E9C-101B-9397-08002B2CF9AE}" pid="47" name="chkDocNo">
    <vt:bool>true</vt:bool>
  </property>
  <property fmtid="{D5CDD505-2E9C-101B-9397-08002B2CF9AE}" pid="48" name="chkRev">
    <vt:bool>true</vt:bool>
  </property>
  <property fmtid="{D5CDD505-2E9C-101B-9397-08002B2CF9AE}" pid="49" name="chkTitle">
    <vt:bool>false</vt:bool>
  </property>
  <property fmtid="{D5CDD505-2E9C-101B-9397-08002B2CF9AE}" pid="50" name="ExtConf">
    <vt:lpwstr> </vt:lpwstr>
  </property>
  <property fmtid="{D5CDD505-2E9C-101B-9397-08002B2CF9AE}" pid="51" name="chkExtConf">
    <vt:bool>false</vt:bool>
  </property>
</Properties>
</file>