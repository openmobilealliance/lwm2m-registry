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3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746" r:id="rId2"/>
    <p:sldId id="2147476466" r:id="rId3"/>
    <p:sldId id="2147376524" r:id="rId4"/>
    <p:sldId id="2147376525" r:id="rId5"/>
    <p:sldId id="2147376523" r:id="rId6"/>
    <p:sldId id="2147476457" r:id="rId7"/>
    <p:sldId id="2147476462" r:id="rId8"/>
    <p:sldId id="2147476454" r:id="rId9"/>
    <p:sldId id="2147476459" r:id="rId10"/>
    <p:sldId id="2147376532" r:id="rId11"/>
    <p:sldId id="2147476472" r:id="rId12"/>
    <p:sldId id="2147376533" r:id="rId13"/>
    <p:sldId id="2147376534" r:id="rId14"/>
    <p:sldId id="2147376535" r:id="rId15"/>
    <p:sldId id="2147376536" r:id="rId16"/>
    <p:sldId id="2147476461" r:id="rId17"/>
    <p:sldId id="2147476463" r:id="rId18"/>
    <p:sldId id="2147376537" r:id="rId19"/>
    <p:sldId id="2147476470" r:id="rId20"/>
    <p:sldId id="2147476471" r:id="rId21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A61AD1-FDAF-5F4D-A442-5AB544767C90}" type="datetimeFigureOut">
              <a:rPr lang="en-FI" smtClean="0"/>
              <a:t>5.12.2023</a:t>
            </a:fld>
            <a:endParaRPr lang="en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06A00A-1236-3640-BFD8-BB3C342163B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845506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tracker.ietf.org/doc/search/?name=braid&amp;sort=&amp;rfcs=on&amp;activedrafts=on&amp;by=group&amp;group=" TargetMode="External"/><Relationship Id="rId3" Type="http://schemas.openxmlformats.org/officeDocument/2006/relationships/hyperlink" Target="https://en.wikipedia.org/wiki/Comet_(programming)" TargetMode="External"/><Relationship Id="rId7" Type="http://schemas.openxmlformats.org/officeDocument/2006/relationships/hyperlink" Target="https://mercure.rocks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developer.mozilla.org/en-US/docs/Web/API/WebTransport" TargetMode="External"/><Relationship Id="rId5" Type="http://schemas.openxmlformats.org/officeDocument/2006/relationships/hyperlink" Target="https://developer.mozilla.org/en-US/docs/Web/API/WebSockets_API" TargetMode="External"/><Relationship Id="rId10" Type="http://schemas.openxmlformats.org/officeDocument/2006/relationships/hyperlink" Target="https://datatracker.ietf.org/doc/html/rfc7641" TargetMode="External"/><Relationship Id="rId4" Type="http://schemas.openxmlformats.org/officeDocument/2006/relationships/hyperlink" Target="https://developer.mozilla.org/en-US/docs/Web/API/Server-sent_events" TargetMode="External"/><Relationship Id="rId9" Type="http://schemas.openxmlformats.org/officeDocument/2006/relationships/hyperlink" Target="https://datatracker.ietf.org/doc/search/?name=prep&amp;sort=&amp;rfcs=on&amp;activedrafts=on&amp;by=group&amp;group=" TargetMode="Externa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ricsson Hilda Light" panose="00000400000000000000" pitchFamily="2" charset="0"/>
                <a:ea typeface="+mn-ea"/>
                <a:cs typeface="+mn-cs"/>
              </a:rPr>
              <a:t>2021-06-17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3259FB7-B0EA-431E-B30C-DEB740590D1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ricsson Hilda Light" panose="00000400000000000000" pitchFamily="2" charset="0"/>
                <a:ea typeface="+mn-ea"/>
                <a:cs typeface="Ericsson Hilda Light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Ericsson Hilda Light" panose="00000400000000000000" pitchFamily="2" charset="0"/>
              <a:ea typeface="+mn-ea"/>
              <a:cs typeface="Ericsson Hilda Light" panose="020B0604020202020204" pitchFamily="34" charset="0"/>
            </a:endParaRP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ricsson Hilda Light" panose="00000400000000000000" pitchFamily="2" charset="0"/>
                <a:ea typeface="+mn-ea"/>
                <a:cs typeface="+mn-cs"/>
              </a:rPr>
              <a:t>5G Core Sales Bootcamp 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ricsson Hilda Light" panose="00000400000000000000" pitchFamily="2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48304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A81D2-7F11-3E44-90E3-6FE1FFDDFDEC}" type="slidenum">
              <a:rPr lang="en-FI" smtClean="0"/>
              <a:t>2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3730561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/>
          <a:lstStyle/>
          <a:p>
            <a:pPr marL="228600" indent="-228600">
              <a:buAutoNum type="arabicPeriod"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49BC75-2359-4F98-918A-7033C92AD487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Ericsson Hilda Light" panose="00000400000000000000" pitchFamily="2" charset="0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Ericsson Hilda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38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/>
          <a:lstStyle/>
          <a:p>
            <a:pPr marL="228600" indent="-228600">
              <a:buAutoNum type="arabicPeriod"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49BC75-2359-4F98-918A-7033C92AD487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Ericsson Hilda Light" panose="00000400000000000000" pitchFamily="2" charset="0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Ericsson Hilda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550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/>
          <a:lstStyle/>
          <a:p>
            <a:pPr marL="228600" indent="-228600">
              <a:buAutoNum type="arabicPeriod"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49BC75-2359-4F98-918A-7033C92AD487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Ericsson Hilda Light" panose="00000400000000000000" pitchFamily="2" charset="0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Ericsson Hilda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6041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/>
          <a:lstStyle/>
          <a:p>
            <a:pPr marL="228600" indent="-228600">
              <a:buAutoNum type="arabicPeriod"/>
            </a:pPr>
            <a:r>
              <a:rPr lang="en-GB"/>
              <a:t>- </a:t>
            </a:r>
            <a:r>
              <a:rPr lang="en-GB" err="1"/>
              <a:t>FreeRTOS</a:t>
            </a:r>
            <a:r>
              <a:rPr lang="en-GB"/>
              <a:t>: </a:t>
            </a:r>
            <a:r>
              <a:rPr lang="en-GB" err="1"/>
              <a:t>FreeRTOS</a:t>
            </a:r>
            <a:r>
              <a:rPr lang="en-GB"/>
              <a:t> is primarily driven by Amazon Web Services (AWS). It was initially developed by Richard Barry and is now maintained and supported by AWS.</a:t>
            </a:r>
          </a:p>
          <a:p>
            <a:pPr marL="228600" indent="-228600">
              <a:buAutoNum type="arabicPeriod"/>
            </a:pPr>
            <a:endParaRPr lang="en-GB"/>
          </a:p>
          <a:p>
            <a:pPr marL="228600" indent="-228600">
              <a:buAutoNum type="arabicPeriod"/>
            </a:pPr>
            <a:r>
              <a:rPr lang="en-GB"/>
              <a:t>- RIOT: RIOT is an open-source project driven by a community of contributors from various organizations and individuals (Central European background). It is supported by the RIOT community, which includes researchers, developers, and enthusiasts in the IoT space.</a:t>
            </a:r>
          </a:p>
          <a:p>
            <a:pPr marL="228600" indent="-228600">
              <a:buAutoNum type="arabicPeriod"/>
            </a:pPr>
            <a:endParaRPr lang="en-GB"/>
          </a:p>
          <a:p>
            <a:pPr marL="228600" indent="-228600">
              <a:buAutoNum type="arabicPeriod"/>
            </a:pPr>
            <a:r>
              <a:rPr lang="en-GB"/>
              <a:t>- </a:t>
            </a:r>
            <a:r>
              <a:rPr lang="en-GB" err="1"/>
              <a:t>Mbed</a:t>
            </a:r>
            <a:r>
              <a:rPr lang="en-GB"/>
              <a:t>: </a:t>
            </a:r>
            <a:r>
              <a:rPr lang="en-GB" err="1"/>
              <a:t>Mbed</a:t>
            </a:r>
            <a:r>
              <a:rPr lang="en-GB"/>
              <a:t> is developed and maintained by Arm, a multinational semiconductor and software design company. Arm provides the </a:t>
            </a:r>
            <a:r>
              <a:rPr lang="en-GB" err="1"/>
              <a:t>Mbed</a:t>
            </a:r>
            <a:r>
              <a:rPr lang="en-GB"/>
              <a:t> OS, </a:t>
            </a:r>
            <a:r>
              <a:rPr lang="en-GB" err="1"/>
              <a:t>Mbed</a:t>
            </a:r>
            <a:r>
              <a:rPr lang="en-GB"/>
              <a:t> tools, and </a:t>
            </a:r>
            <a:r>
              <a:rPr lang="en-GB" err="1"/>
              <a:t>Mbed</a:t>
            </a:r>
            <a:r>
              <a:rPr lang="en-GB"/>
              <a:t> ecosystem to support the development of IoT devices.</a:t>
            </a:r>
          </a:p>
          <a:p>
            <a:pPr marL="228600" indent="-228600">
              <a:buAutoNum type="arabicPeriod"/>
            </a:pPr>
            <a:endParaRPr lang="en-GB"/>
          </a:p>
          <a:p>
            <a:pPr marL="228600" indent="-228600">
              <a:buAutoNum type="arabicPeriod"/>
            </a:pPr>
            <a:r>
              <a:rPr lang="en-GB"/>
              <a:t>- </a:t>
            </a:r>
            <a:r>
              <a:rPr lang="en-GB" err="1"/>
              <a:t>Oniro</a:t>
            </a:r>
            <a:r>
              <a:rPr lang="en-GB"/>
              <a:t>: </a:t>
            </a:r>
            <a:r>
              <a:rPr lang="en-GB" err="1"/>
              <a:t>Oniro</a:t>
            </a:r>
            <a:r>
              <a:rPr lang="en-GB"/>
              <a:t> is an open-source project driven by the </a:t>
            </a:r>
            <a:r>
              <a:rPr lang="en-GB" err="1"/>
              <a:t>Oniro</a:t>
            </a:r>
            <a:r>
              <a:rPr lang="en-GB"/>
              <a:t> Foundation, a non-profit organization focused on privacy and security in computing. Mostly Huawei behind. The foundation and community contribute to the development and advancement of the </a:t>
            </a:r>
            <a:r>
              <a:rPr lang="en-GB" err="1"/>
              <a:t>Oniro</a:t>
            </a:r>
            <a:r>
              <a:rPr lang="en-GB"/>
              <a:t> operating system.</a:t>
            </a:r>
          </a:p>
          <a:p>
            <a:pPr marL="228600" indent="-228600">
              <a:buAutoNum type="arabicPeriod"/>
            </a:pPr>
            <a:endParaRPr lang="en-GB"/>
          </a:p>
          <a:p>
            <a:pPr marL="228600" indent="-228600">
              <a:buAutoNum type="arabicPeriod"/>
            </a:pPr>
            <a:r>
              <a:rPr lang="en-GB"/>
              <a:t>- </a:t>
            </a:r>
            <a:r>
              <a:rPr lang="en-GB" err="1"/>
              <a:t>TinyOS</a:t>
            </a:r>
            <a:r>
              <a:rPr lang="en-GB"/>
              <a:t>: </a:t>
            </a:r>
            <a:r>
              <a:rPr lang="en-GB" err="1"/>
              <a:t>TinyOS</a:t>
            </a:r>
            <a:r>
              <a:rPr lang="en-GB"/>
              <a:t> is an open-source project developed primarily by researchers and contributors from the </a:t>
            </a:r>
            <a:r>
              <a:rPr lang="en-GB" err="1"/>
              <a:t>TinyOS</a:t>
            </a:r>
            <a:r>
              <a:rPr lang="en-GB"/>
              <a:t> community. It is driven by a collaborative effort from various academic institutions and individuals interested in wireless sensor networks.</a:t>
            </a:r>
          </a:p>
          <a:p>
            <a:pPr marL="228600" indent="-228600">
              <a:buAutoNum type="arabicPeriod"/>
            </a:pPr>
            <a:endParaRPr lang="en-GB"/>
          </a:p>
          <a:p>
            <a:pPr marL="228600" indent="-228600">
              <a:buAutoNum type="arabicPeriod"/>
            </a:pPr>
            <a:r>
              <a:rPr lang="en-GB"/>
              <a:t>- Home Assistant: Home Assistant is an open-source project driven by the Home Assistant community. The project was started by Paulus </a:t>
            </a:r>
            <a:r>
              <a:rPr lang="en-GB" err="1"/>
              <a:t>Schoutsen</a:t>
            </a:r>
            <a:r>
              <a:rPr lang="en-GB"/>
              <a:t> and is now supported by a large community of contributors who actively develop, maintain, and enhance</a:t>
            </a:r>
          </a:p>
          <a:p>
            <a:pPr marL="228600" indent="-228600">
              <a:buAutoNum type="arabicPeriod"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49BC75-2359-4F98-918A-7033C92AD487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Ericsson Hilda Light" panose="00000400000000000000" pitchFamily="2" charset="0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Ericsson Hilda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3235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/>
          <a:lstStyle/>
          <a:p>
            <a:pPr marL="228600" indent="-228600">
              <a:buAutoNum type="arabicPeriod"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49BC75-2359-4F98-918A-7033C92AD487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Ericsson Hilda Light" panose="00000400000000000000" pitchFamily="2" charset="0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Ericsson Hilda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7447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/>
          <a:lstStyle/>
          <a:p>
            <a:pPr marL="228600" indent="-228600">
              <a:buAutoNum type="arabicPeriod"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49BC75-2359-4F98-918A-7033C92AD487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Ericsson Hilda Light" panose="00000400000000000000" pitchFamily="2" charset="0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Ericsson Hilda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0234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/>
          <a:lstStyle/>
          <a:p>
            <a:pPr algn="l"/>
            <a:endParaRPr lang="en-US" sz="1200"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200" b="1" i="0">
                <a:solidFill>
                  <a:srgbClr val="000000"/>
                </a:solidFill>
                <a:effectLst/>
                <a:latin typeface="+mj-lt"/>
              </a:rPr>
              <a:t>Comet</a:t>
            </a:r>
            <a:r>
              <a:rPr lang="en-GB" sz="1200" b="0" i="0">
                <a:solidFill>
                  <a:srgbClr val="333333"/>
                </a:solidFill>
                <a:effectLst/>
                <a:latin typeface="+mj-lt"/>
              </a:rPr>
              <a:t> (1996, now obsolete): An early web technology for maintaining persistent connections between client and server. </a:t>
            </a:r>
            <a:r>
              <a:rPr lang="en-GB" sz="1200" b="0" i="0" u="none" strike="noStrike">
                <a:solidFill>
                  <a:srgbClr val="0088CC"/>
                </a:solidFill>
                <a:effectLst/>
                <a:latin typeface="+mj-lt"/>
                <a:hlinkClick r:id="rId3"/>
              </a:rPr>
              <a:t>Comet on Wikipedia</a:t>
            </a:r>
            <a:endParaRPr lang="en-GB" sz="1200" b="0" i="0">
              <a:solidFill>
                <a:srgbClr val="333333"/>
              </a:solidFill>
              <a:effectLst/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200" b="1" i="0">
                <a:solidFill>
                  <a:srgbClr val="000000"/>
                </a:solidFill>
                <a:effectLst/>
                <a:latin typeface="+mj-lt"/>
              </a:rPr>
              <a:t>Server-Sent Events (SSE)</a:t>
            </a:r>
            <a:r>
              <a:rPr lang="en-GB" sz="1200" b="0" i="0">
                <a:solidFill>
                  <a:srgbClr val="333333"/>
                </a:solidFill>
                <a:effectLst/>
                <a:latin typeface="+mj-lt"/>
              </a:rPr>
              <a:t> (2004): A standard allowing servers to push updates to clients. </a:t>
            </a:r>
            <a:r>
              <a:rPr lang="en-GB" sz="1200" b="0" i="0" u="none" strike="noStrike">
                <a:solidFill>
                  <a:srgbClr val="0088CC"/>
                </a:solidFill>
                <a:effectLst/>
                <a:latin typeface="+mj-lt"/>
                <a:hlinkClick r:id="rId4"/>
              </a:rPr>
              <a:t>Server-Sent Events on Mozilla Developer Network</a:t>
            </a:r>
            <a:endParaRPr lang="en-GB" sz="1200" b="0" i="0">
              <a:solidFill>
                <a:srgbClr val="333333"/>
              </a:solidFill>
              <a:effectLst/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200" b="1" i="0">
                <a:solidFill>
                  <a:srgbClr val="000000"/>
                </a:solidFill>
                <a:effectLst/>
                <a:latin typeface="+mj-lt"/>
              </a:rPr>
              <a:t>WebSocket</a:t>
            </a:r>
            <a:r>
              <a:rPr lang="en-GB" sz="1200" b="0" i="0">
                <a:solidFill>
                  <a:srgbClr val="333333"/>
                </a:solidFill>
                <a:effectLst/>
                <a:latin typeface="+mj-lt"/>
              </a:rPr>
              <a:t> (2008): A communication protocol providing full-duplex communication channels over a single TCP connection. </a:t>
            </a:r>
            <a:r>
              <a:rPr lang="en-GB" sz="1200" b="0" i="0" u="none" strike="noStrike">
                <a:solidFill>
                  <a:srgbClr val="0088CC"/>
                </a:solidFill>
                <a:effectLst/>
                <a:latin typeface="+mj-lt"/>
                <a:hlinkClick r:id="rId5"/>
              </a:rPr>
              <a:t>WebSocket on Mozilla Developer Network</a:t>
            </a:r>
            <a:endParaRPr lang="en-GB" sz="1200" b="0" i="0">
              <a:solidFill>
                <a:srgbClr val="333333"/>
              </a:solidFill>
              <a:effectLst/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200" b="1" i="0" err="1">
                <a:solidFill>
                  <a:srgbClr val="000000"/>
                </a:solidFill>
                <a:effectLst/>
                <a:latin typeface="+mj-lt"/>
              </a:rPr>
              <a:t>WebTransport</a:t>
            </a:r>
            <a:r>
              <a:rPr lang="en-GB" sz="1200" b="0" i="0">
                <a:solidFill>
                  <a:srgbClr val="333333"/>
                </a:solidFill>
                <a:effectLst/>
                <a:latin typeface="+mj-lt"/>
              </a:rPr>
              <a:t> (Under development): A protocol for bidirectional transport of arbitrary data between browser and server. </a:t>
            </a:r>
            <a:r>
              <a:rPr lang="en-GB" sz="1200" b="0" i="0" u="none" strike="noStrike">
                <a:solidFill>
                  <a:srgbClr val="0088CC"/>
                </a:solidFill>
                <a:effectLst/>
                <a:latin typeface="+mj-lt"/>
                <a:hlinkClick r:id="rId6"/>
              </a:rPr>
              <a:t>WebTransport on Mozilla Developer Network</a:t>
            </a:r>
            <a:endParaRPr lang="en-GB" sz="1200" b="0" i="0">
              <a:solidFill>
                <a:srgbClr val="333333"/>
              </a:solidFill>
              <a:effectLst/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200" b="1" i="0">
                <a:solidFill>
                  <a:srgbClr val="000000"/>
                </a:solidFill>
                <a:effectLst/>
                <a:latin typeface="+mj-lt"/>
              </a:rPr>
              <a:t>Mercure</a:t>
            </a:r>
            <a:r>
              <a:rPr lang="en-GB" sz="1200" b="0" i="0">
                <a:solidFill>
                  <a:srgbClr val="333333"/>
                </a:solidFill>
                <a:effectLst/>
                <a:latin typeface="+mj-lt"/>
              </a:rPr>
              <a:t>: A protocol for real-time updates in web applications. </a:t>
            </a:r>
            <a:r>
              <a:rPr lang="en-GB" sz="1200" b="0" i="0" u="none" strike="noStrike">
                <a:solidFill>
                  <a:srgbClr val="0088CC"/>
                </a:solidFill>
                <a:effectLst/>
                <a:latin typeface="+mj-lt"/>
                <a:hlinkClick r:id="rId7"/>
              </a:rPr>
              <a:t>Mercure.rocks</a:t>
            </a:r>
            <a:endParaRPr lang="en-GB" sz="1200" b="0" i="0">
              <a:solidFill>
                <a:srgbClr val="333333"/>
              </a:solidFill>
              <a:effectLst/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200" b="1" i="0">
                <a:solidFill>
                  <a:srgbClr val="000000"/>
                </a:solidFill>
                <a:effectLst/>
                <a:latin typeface="+mj-lt"/>
              </a:rPr>
              <a:t>Braid</a:t>
            </a:r>
            <a:r>
              <a:rPr lang="en-GB" sz="1200" b="0" i="0">
                <a:solidFill>
                  <a:srgbClr val="333333"/>
                </a:solidFill>
                <a:effectLst/>
                <a:latin typeface="+mj-lt"/>
              </a:rPr>
              <a:t>: An ambitious HTTP extension offering a comprehensive framework for state synchronization between server and client. </a:t>
            </a:r>
            <a:r>
              <a:rPr lang="en-GB" sz="1200" b="0" i="0" u="none" strike="noStrike">
                <a:solidFill>
                  <a:srgbClr val="0088CC"/>
                </a:solidFill>
                <a:effectLst/>
                <a:latin typeface="+mj-lt"/>
                <a:hlinkClick r:id="rId8"/>
              </a:rPr>
              <a:t>Braid on IETF Datatracker</a:t>
            </a:r>
            <a:endParaRPr lang="en-GB" sz="1200" b="0" i="0">
              <a:solidFill>
                <a:srgbClr val="333333"/>
              </a:solidFill>
              <a:effectLst/>
              <a:latin typeface="+mj-lt"/>
            </a:endParaRPr>
          </a:p>
          <a:p>
            <a:pPr algn="l"/>
            <a:r>
              <a:rPr lang="en-GB" sz="1200" b="1" i="0">
                <a:solidFill>
                  <a:srgbClr val="000000"/>
                </a:solidFill>
                <a:effectLst/>
                <a:latin typeface="+mj-lt"/>
              </a:rPr>
              <a:t>PREP (Per Resource Events Protocol)</a:t>
            </a:r>
            <a:r>
              <a:rPr lang="en-GB" sz="1200" b="0" i="0">
                <a:solidFill>
                  <a:srgbClr val="333333"/>
                </a:solidFill>
                <a:effectLst/>
                <a:latin typeface="+mj-lt"/>
              </a:rPr>
              <a:t>: A proposal focusing on client notification for resource changes, particularly in decentralized web applications. </a:t>
            </a:r>
            <a:r>
              <a:rPr lang="en-GB" sz="1200" b="0" i="0" u="none" strike="noStrike">
                <a:solidFill>
                  <a:srgbClr val="0088CC"/>
                </a:solidFill>
                <a:effectLst/>
                <a:latin typeface="+mj-lt"/>
                <a:hlinkClick r:id="rId9"/>
              </a:rPr>
              <a:t>PREP on IETF Datatracker</a:t>
            </a:r>
            <a:endParaRPr lang="en-GB" sz="1200" b="0" i="0">
              <a:solidFill>
                <a:srgbClr val="333333"/>
              </a:solidFill>
              <a:effectLst/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200" b="1" i="0">
                <a:solidFill>
                  <a:srgbClr val="000000"/>
                </a:solidFill>
                <a:effectLst/>
                <a:latin typeface="+mj-lt"/>
              </a:rPr>
              <a:t>CoAP Observe (RFC 7641)</a:t>
            </a:r>
            <a:r>
              <a:rPr lang="en-GB" sz="1200" b="0" i="0">
                <a:solidFill>
                  <a:srgbClr val="333333"/>
                </a:solidFill>
                <a:effectLst/>
                <a:latin typeface="+mj-lt"/>
              </a:rPr>
              <a:t>: A mechanism in the Constrained Application Protocol (CoAP) allowing clients to subscribe to resource changes. </a:t>
            </a:r>
            <a:r>
              <a:rPr lang="en-GB" sz="1200" b="0" i="0" u="none" strike="noStrike">
                <a:solidFill>
                  <a:srgbClr val="0088CC"/>
                </a:solidFill>
                <a:effectLst/>
                <a:latin typeface="+mj-lt"/>
                <a:hlinkClick r:id="rId10"/>
              </a:rPr>
              <a:t>RFC 7641 on IETF</a:t>
            </a:r>
            <a:endParaRPr lang="en-GB" sz="1200" b="0" i="0">
              <a:solidFill>
                <a:srgbClr val="333333"/>
              </a:solidFill>
              <a:effectLst/>
              <a:latin typeface="+mj-lt"/>
            </a:endParaRPr>
          </a:p>
          <a:p>
            <a:pPr algn="l"/>
            <a:endParaRPr lang="en-GB" b="0" i="0">
              <a:solidFill>
                <a:srgbClr val="4B4B4B"/>
              </a:solidFill>
              <a:effectLst/>
              <a:latin typeface="PT Sans" panose="020B0503020203020204" pitchFamily="34" charset="77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49BC75-2359-4F98-918A-7033C92AD487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Ericsson Hilda Light" panose="00000400000000000000" pitchFamily="2" charset="0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Ericsson Hilda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1125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/>
          <a:lstStyle/>
          <a:p>
            <a:pPr algn="l"/>
            <a:endParaRPr lang="en-GB" b="0" i="0">
              <a:solidFill>
                <a:srgbClr val="4B4B4B"/>
              </a:solidFill>
              <a:effectLst/>
              <a:latin typeface="PT Sans" panose="020B0503020203020204" pitchFamily="34" charset="77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49BC75-2359-4F98-918A-7033C92AD487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Ericsson Hilda Light" panose="00000400000000000000" pitchFamily="2" charset="0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Ericsson Hilda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013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/>
          <a:lstStyle/>
          <a:p>
            <a:pPr marL="228600" indent="-228600">
              <a:buAutoNum type="arabicPeriod"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49BC75-2359-4F98-918A-7033C92AD487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Ericsson Hilda Light" panose="00000400000000000000" pitchFamily="2" charset="0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Ericsson Hilda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4572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/>
          <a:lstStyle/>
          <a:p>
            <a:pPr marL="228600" indent="-228600">
              <a:buAutoNum type="arabicPeriod"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49BC75-2359-4F98-918A-7033C92AD487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Ericsson Hilda Light" panose="00000400000000000000" pitchFamily="2" charset="0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Ericsson Hilda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6213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/>
          <a:lstStyle/>
          <a:p>
            <a:pPr marL="228600" indent="-228600">
              <a:buAutoNum type="arabicPeriod"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49BC75-2359-4F98-918A-7033C92AD487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Ericsson Hilda Light" panose="00000400000000000000" pitchFamily="2" charset="0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Ericsson Hilda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41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/>
          <a:lstStyle/>
          <a:p>
            <a:pPr marL="228600" indent="-228600">
              <a:buAutoNum type="arabicPeriod"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49BC75-2359-4F98-918A-7033C92AD487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Ericsson Hilda Light" panose="00000400000000000000" pitchFamily="2" charset="0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Ericsson Hilda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2727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/>
          <a:lstStyle/>
          <a:p>
            <a:pPr marL="228600" indent="-228600">
              <a:buAutoNum type="arabicPeriod"/>
            </a:pPr>
            <a:r>
              <a:rPr lang="en-GB"/>
              <a:t>Apples vs Oranges</a:t>
            </a:r>
          </a:p>
          <a:p>
            <a:pPr marL="228600" indent="-228600">
              <a:buAutoNum type="arabicPeriod"/>
            </a:pPr>
            <a:endParaRPr lang="en-GB"/>
          </a:p>
          <a:p>
            <a:pPr marL="228600" indent="-228600">
              <a:buAutoNum type="arabicPeriod"/>
            </a:pPr>
            <a:r>
              <a:rPr lang="en-GB" sz="1200">
                <a:solidFill>
                  <a:srgbClr val="333333"/>
                </a:solidFill>
                <a:effectLst/>
                <a:latin typeface="Ericsson Hilda Light" pitchFamily="2" charset="0"/>
              </a:rPr>
              <a:t>Expressive topics means, they are not just a text string, but contain metadata, link attributes, resource types, can use well-known core, rt based discovery, FETCH, etc..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49BC75-2359-4F98-918A-7033C92AD487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Ericsson Hilda Light" panose="00000400000000000000" pitchFamily="2" charset="0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Ericsson Hilda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18957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A81D2-7F11-3E44-90E3-6FE1FFDDFDEC}" type="slidenum">
              <a:rPr lang="en-FI" smtClean="0"/>
              <a:t>17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131020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/>
          <a:lstStyle/>
          <a:p>
            <a:pPr marL="228600" indent="-228600">
              <a:buAutoNum type="arabicPeriod"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49BC75-2359-4F98-918A-7033C92AD487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Ericsson Hilda Light" panose="00000400000000000000" pitchFamily="2" charset="0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Ericsson Hilda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7548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/>
          <a:lstStyle/>
          <a:p>
            <a:pPr marL="342900" indent="-342900">
              <a:buFontTx/>
              <a:buChar char="-"/>
            </a:pPr>
            <a:endParaRPr lang="en-FI" sz="120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49BC75-2359-4F98-918A-7033C92AD487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Ericsson Hilda Light" panose="00000400000000000000" pitchFamily="2" charset="0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Ericsson Hilda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430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/>
          <a:lstStyle/>
          <a:p>
            <a:pPr marL="342900" indent="-342900">
              <a:buFontTx/>
              <a:buChar char="-"/>
            </a:pPr>
            <a:endParaRPr lang="en-FI" sz="120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49BC75-2359-4F98-918A-7033C92AD487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Ericsson Hilda Light" panose="00000400000000000000" pitchFamily="2" charset="0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Ericsson Hilda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92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0B36A-44E6-E157-7375-E26806525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02EC93-9AC8-4ECE-B19E-5C99CA896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B5A35-736A-8BBB-6854-76DE0ABF0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0D7B9-F630-B740-817E-0250C580561C}" type="datetimeFigureOut">
              <a:rPr lang="en-FI" smtClean="0"/>
              <a:t>5.12.2023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89582-11EE-3872-841E-1CEBC3635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85439-9230-ED64-9DC5-143AFCBC8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649F-E1DD-F447-98FC-8A5B7E2B892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97259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AF05E-4D7E-2B24-15C1-3E232B8DD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E33ED-A280-9C4B-4FE4-4634363A2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78B69-BA77-D90B-E86E-7CD5E0BDF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0D7B9-F630-B740-817E-0250C580561C}" type="datetimeFigureOut">
              <a:rPr lang="en-FI" smtClean="0"/>
              <a:t>5.12.2023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2E2D4-2CEF-B942-2703-DB280E2B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73635-15DD-09C9-9582-AFBBA7053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649F-E1DD-F447-98FC-8A5B7E2B892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916017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28E96-AB62-2530-2584-49682E98A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C8F941-6764-3B9C-D31C-F1019BC4F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84443-A9A1-5A8E-3A72-CECE0FC8F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0D7B9-F630-B740-817E-0250C580561C}" type="datetimeFigureOut">
              <a:rPr lang="en-FI" smtClean="0"/>
              <a:t>5.12.2023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E5E31-705B-3FEE-A3A1-B8A5D9E9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B88E5-C99A-C243-AE79-239FFAF46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649F-E1DD-F447-98FC-8A5B7E2B892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87016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4C4A3-C4FE-33B4-06F1-05815AFFF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C7323-F638-E7DF-27C4-C9D6C738A0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2CC782-0EB6-1AD3-B951-15F3918E6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799FA-60AE-C2F8-0200-0D26E7E59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0D7B9-F630-B740-817E-0250C580561C}" type="datetimeFigureOut">
              <a:rPr lang="en-FI" smtClean="0"/>
              <a:t>5.12.2023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FE7A9A-A740-81CF-530A-B629359AA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6432C1-0007-BE30-FD38-5DB89F7AA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649F-E1DD-F447-98FC-8A5B7E2B892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301625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745FC-FB34-D975-44DF-1A9FE6865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6CED8-5E8D-B7D0-B34A-C8FFA6342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C28E0B-4AA0-556A-9836-B6A8E6C64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F6C526-4794-401C-5746-BE7D35AFE9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4C57FD-CE0A-E10F-32F3-26FE2C0F74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F7402-D5B8-6B00-0087-1F906B5B3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0D7B9-F630-B740-817E-0250C580561C}" type="datetimeFigureOut">
              <a:rPr lang="en-FI" smtClean="0"/>
              <a:t>5.12.2023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C5C02D-5E5C-E485-4F82-64937CD45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B6A6CE-1572-49B2-6346-D237C0638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649F-E1DD-F447-98FC-8A5B7E2B892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209034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0BB32-23E7-2DA3-CFC3-54C3533B2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9D5CEB-DF6D-5576-CD64-7F2F86BD0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0D7B9-F630-B740-817E-0250C580561C}" type="datetimeFigureOut">
              <a:rPr lang="en-FI" smtClean="0"/>
              <a:t>5.12.2023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1D493B-C028-8565-CE02-0A56A2E98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36CEF6-5870-5EA0-31F3-686BF6BB9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649F-E1DD-F447-98FC-8A5B7E2B892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650889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97C616-F8CA-6660-9D14-FBFB98252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0D7B9-F630-B740-817E-0250C580561C}" type="datetimeFigureOut">
              <a:rPr lang="en-FI" smtClean="0"/>
              <a:t>5.12.2023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282EF9-58DD-251A-A529-A1503DE45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9DEC0-529D-D99B-A01E-34C6B1A8A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649F-E1DD-F447-98FC-8A5B7E2B892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60378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4CDDF-BF39-1DF1-63DA-7137A0BA7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13747-FFDC-A33C-74A8-027B53C00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1DC37-57B1-87FF-6A31-ACD7A5719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1CB083-2DBF-FAB7-59B9-D93850579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0D7B9-F630-B740-817E-0250C580561C}" type="datetimeFigureOut">
              <a:rPr lang="en-FI" smtClean="0"/>
              <a:t>5.12.2023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E34746-F4F3-80F3-B34E-49FFFAF9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69FE1-C29A-9DE5-4A83-40F8964A6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649F-E1DD-F447-98FC-8A5B7E2B892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493763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51209-F27B-D355-1F3F-97F3E637C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9DBBD5-FD04-D8BC-D587-4F921C0D73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B1BEF-B379-CE28-3E32-1B92C2C444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CAE0B-8669-9ADD-B013-823E12222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0D7B9-F630-B740-817E-0250C580561C}" type="datetimeFigureOut">
              <a:rPr lang="en-FI" smtClean="0"/>
              <a:t>5.12.2023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2C945-6F5C-637A-6975-A02C4E7E5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C0268C-739A-F1AA-1B97-0A072C6E4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649F-E1DD-F447-98FC-8A5B7E2B892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761715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731EC-2A9D-5249-9F1A-2FE06F5EA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7FD90-78D4-A3F1-D470-CFB4D31E9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42927-6153-B76E-5409-F5E80618C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0D7B9-F630-B740-817E-0250C580561C}" type="datetimeFigureOut">
              <a:rPr lang="en-FI" smtClean="0"/>
              <a:t>5.12.2023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29240-13A5-F9D9-9D46-F375D376E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1D750-F152-01D6-222C-0D3D5AF06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649F-E1DD-F447-98FC-8A5B7E2B892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30805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679233-B92B-CD9F-4B5E-C00E5E82B7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53D1F9-2D81-E121-60C4-0CDC11F528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39312-99D3-AB56-6CF1-9B3486076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0D7B9-F630-B740-817E-0250C580561C}" type="datetimeFigureOut">
              <a:rPr lang="en-FI" smtClean="0"/>
              <a:t>5.12.2023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3EA8C-DF0E-745A-1A38-101BBCAAD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1CA72-6B27-290B-CD6D-D91DCC8ED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649F-E1DD-F447-98FC-8A5B7E2B892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601862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Keynote Cover Page w. Dark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68127A-B068-4F16-BC03-AF06DDDB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                                                                     Click icon to add a dark image</a:t>
            </a:r>
          </a:p>
        </p:txBody>
      </p:sp>
      <p:sp>
        <p:nvSpPr>
          <p:cNvPr id="9" name="Title_TM">
            <a:extLst>
              <a:ext uri="{FF2B5EF4-FFF2-40B4-BE49-F238E27FC236}">
                <a16:creationId xmlns:a16="http://schemas.microsoft.com/office/drawing/2014/main" id="{696C7C8F-5086-466A-8108-2FE0A8663D59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39" y="476278"/>
            <a:ext cx="8353426" cy="2288721"/>
          </a:xfr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lang="en-US" sz="5964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Keynote cover cage, </a:t>
            </a:r>
            <a:br>
              <a:rPr lang="en-US"/>
            </a:br>
            <a:r>
              <a:rPr lang="en-US"/>
              <a:t>Ericsson Hilda Light 60pt, </a:t>
            </a:r>
            <a:br>
              <a:rPr lang="en-US"/>
            </a:br>
            <a:r>
              <a:rPr lang="en-US"/>
              <a:t>Ericsson White, </a:t>
            </a:r>
            <a:br>
              <a:rPr lang="en-US"/>
            </a:br>
            <a:r>
              <a:rPr lang="en-US"/>
              <a:t>max 4-lines</a:t>
            </a:r>
          </a:p>
        </p:txBody>
      </p:sp>
      <p:sp>
        <p:nvSpPr>
          <p:cNvPr id="10" name="SubTitle_TM">
            <a:extLst>
              <a:ext uri="{FF2B5EF4-FFF2-40B4-BE49-F238E27FC236}">
                <a16:creationId xmlns:a16="http://schemas.microsoft.com/office/drawing/2014/main" id="{ED5DEA0B-CF0D-4EE6-B6A8-90BAF3DE8AF1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38" y="4149753"/>
            <a:ext cx="5472113" cy="2087563"/>
          </a:xfrm>
          <a:prstGeom prst="rect">
            <a:avLst/>
          </a:prstGeom>
        </p:spPr>
        <p:txBody>
          <a:bodyPr r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1988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Speaker,</a:t>
            </a:r>
            <a:br>
              <a:rPr lang="en-US"/>
            </a:br>
            <a:r>
              <a:rPr lang="en-US"/>
              <a:t>Ericsson Black, Ericsson Hilda 20pt</a:t>
            </a:r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62EA197D-ECA7-4E2F-AB03-2BA31AB9DE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522391" y="476250"/>
            <a:ext cx="190184" cy="256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4526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103A81-1D60-2FDE-AE86-8C71F24A8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13B0A-D0B3-82B8-BCCB-00DF5A6E5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90A00-F4B2-E4AA-DEF8-22DADF9B98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D0D7B9-F630-B740-817E-0250C580561C}" type="datetimeFigureOut">
              <a:rPr lang="en-FI" smtClean="0"/>
              <a:t>5.12.2023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D8A43-1B7F-EA19-6E4D-403FD7CC9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6AD86-F4BB-6BA3-808E-E8B87F0C84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6D649F-E1DD-F447-98FC-8A5B7E2B892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106846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fc-editor.org/rfc/rfc7252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ww.rfc-editor.org/rfc/rfc6690" TargetMode="External"/><Relationship Id="rId4" Type="http://schemas.openxmlformats.org/officeDocument/2006/relationships/hyperlink" Target="https://www.rfc-editor.org/rfc/rfc7641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rfc8613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rfc-editor.org/rfc/rfc9176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coap.technology/impls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hyperlink" Target="http://coap.technology/tools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coap.technology/impls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hyperlink" Target="http://coap.technology/tools.html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ultitech.com/products/embedded-m2m-modems/loRa-modules" TargetMode="External"/><Relationship Id="rId13" Type="http://schemas.openxmlformats.org/officeDocument/2006/relationships/hyperlink" Target="https://www.emqx.com/en/blog/connecting-coap-devices-to-emqx" TargetMode="External"/><Relationship Id="rId3" Type="http://schemas.openxmlformats.org/officeDocument/2006/relationships/hyperlink" Target="https://community.nxp.com/t5/Wireless-Connectivity-Knowledge/Kinetis-W-Thread-CoAP-basics-and-hands-on/ta-p/1099247" TargetMode="External"/><Relationship Id="rId7" Type="http://schemas.openxmlformats.org/officeDocument/2006/relationships/hyperlink" Target="https://nrfcloud.com/#/" TargetMode="External"/><Relationship Id="rId12" Type="http://schemas.openxmlformats.org/officeDocument/2006/relationships/hyperlink" Target="https://golioth.io/" TargetMode="External"/><Relationship Id="rId17" Type="http://schemas.openxmlformats.org/officeDocument/2006/relationships/hyperlink" Target="https://www.t-mobile.com/content/dam/tfb/pdf/IoT-Solution-Developer-Protocols-Guide.pdf?icid=TFB_TMO_P_19IOT_E3UOLES40BRO6VPW19260" TargetMode="External"/><Relationship Id="rId2" Type="http://schemas.openxmlformats.org/officeDocument/2006/relationships/notesSlide" Target="../notesSlides/notesSlide8.xml"/><Relationship Id="rId16" Type="http://schemas.openxmlformats.org/officeDocument/2006/relationships/hyperlink" Target="https://indianrailways.gov.in/railwayboard/uploads/directorate/cis/advisories/240420-1.pdf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t-mobile.com/content/dam/tfb/us/en/pdf/tfb-iot/41114133_HL781X_PTS_r6.pdf" TargetMode="External"/><Relationship Id="rId11" Type="http://schemas.openxmlformats.org/officeDocument/2006/relationships/hyperlink" Target="https://www.neoway.com/products/wireless-communication/1097.html" TargetMode="External"/><Relationship Id="rId5" Type="http://schemas.openxmlformats.org/officeDocument/2006/relationships/hyperlink" Target="https://www.t-mobile.com/content/dam/tfb/pdf/tfb-iot/Quectel_BG77_LPWA_Specification_V1.5.pdf" TargetMode="External"/><Relationship Id="rId15" Type="http://schemas.openxmlformats.org/officeDocument/2006/relationships/hyperlink" Target="https://developer.itron.com/coap-overview" TargetMode="External"/><Relationship Id="rId10" Type="http://schemas.openxmlformats.org/officeDocument/2006/relationships/hyperlink" Target="https://datatracker.ietf.org/meeting/113/materials/slides-113-lake-developer-feedback-2-00" TargetMode="External"/><Relationship Id="rId4" Type="http://schemas.openxmlformats.org/officeDocument/2006/relationships/hyperlink" Target="https://infocenter.nordicsemi.com/index.jsp?topic=%2Fcom.nordic.infocenter.iotsdk.v0.9.0%2Fgroup__iot__sdk__coap__api.html" TargetMode="External"/><Relationship Id="rId9" Type="http://schemas.openxmlformats.org/officeDocument/2006/relationships/hyperlink" Target="https://www.qualcomm.com/products/mobile/snapdragon/wearables/snapdragon-wear-1300-platform" TargetMode="External"/><Relationship Id="rId14" Type="http://schemas.openxmlformats.org/officeDocument/2006/relationships/hyperlink" Target="https://github.com/glenndehaan/ikea-tradfri-coap-docs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nrfcloud.com/#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aiocoap.readthedocs.io/en/latest/module/aiocoap.numbers.constants.html" TargetMode="External"/><Relationship Id="rId4" Type="http://schemas.openxmlformats.org/officeDocument/2006/relationships/hyperlink" Target="https://developer.mozilla.org/en-US/docs/Web/API/WebTransport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rysn/aiocoap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github.com/jaimejim/aiocoap-pubsub-broker" TargetMode="External"/><Relationship Id="rId5" Type="http://schemas.openxmlformats.org/officeDocument/2006/relationships/hyperlink" Target="https://www.ietf.org/archive/id/draft-ietf-core-coap-pubsub-12.html#name-topic-data-interactions-2" TargetMode="External"/><Relationship Id="rId4" Type="http://schemas.openxmlformats.org/officeDocument/2006/relationships/hyperlink" Target="https://www.ietf.org/archive/id/draft-ietf-core-coap-pubsub-12.html#name-topic-properties-2" TargetMode="Externa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hyperlink" Target="https://link.springer.com/chapter/10.1007/978-981-15-7345-3_47" TargetMode="External"/><Relationship Id="rId18" Type="http://schemas.openxmlformats.org/officeDocument/2006/relationships/hyperlink" Target="https://link.springer.com/chapter/10.1007/978-3-030-97255-4_17" TargetMode="External"/><Relationship Id="rId26" Type="http://schemas.openxmlformats.org/officeDocument/2006/relationships/hyperlink" Target="https://ieeexplore.ieee.org/abstract/document/9464189/" TargetMode="External"/><Relationship Id="rId3" Type="http://schemas.openxmlformats.org/officeDocument/2006/relationships/hyperlink" Target="https://www.tandfonline.com/doi/abs/10.1080/03772063.2021.1912651" TargetMode="External"/><Relationship Id="rId21" Type="http://schemas.openxmlformats.org/officeDocument/2006/relationships/hyperlink" Target="https://dl.acm.org/doi/abs/10.1145/3409334.3452067" TargetMode="External"/><Relationship Id="rId34" Type="http://schemas.openxmlformats.org/officeDocument/2006/relationships/hyperlink" Target="https://www.academia.edu/download/66698862/V9I9202019.pdf" TargetMode="External"/><Relationship Id="rId7" Type="http://schemas.openxmlformats.org/officeDocument/2006/relationships/hyperlink" Target="https://link.springer.com/article/10.1007/s00779-020-01466-4" TargetMode="External"/><Relationship Id="rId12" Type="http://schemas.openxmlformats.org/officeDocument/2006/relationships/hyperlink" Target="https://www.sciencedirect.com/science/article/pii/S1389128621003364" TargetMode="External"/><Relationship Id="rId17" Type="http://schemas.openxmlformats.org/officeDocument/2006/relationships/hyperlink" Target="https://ieeexplore.ieee.org/abstract/document/9369565/" TargetMode="External"/><Relationship Id="rId25" Type="http://schemas.openxmlformats.org/officeDocument/2006/relationships/hyperlink" Target="https://ieeexplore.ieee.org/abstract/document/9495993/" TargetMode="External"/><Relationship Id="rId33" Type="http://schemas.openxmlformats.org/officeDocument/2006/relationships/hyperlink" Target="https://oulurepo.oulu.fi/handle/10024/17008" TargetMode="External"/><Relationship Id="rId2" Type="http://schemas.openxmlformats.org/officeDocument/2006/relationships/notesSlide" Target="../notesSlides/notesSlide18.xml"/><Relationship Id="rId16" Type="http://schemas.openxmlformats.org/officeDocument/2006/relationships/hyperlink" Target="https://ieeexplore.ieee.org/abstract/document/9595725/" TargetMode="External"/><Relationship Id="rId20" Type="http://schemas.openxmlformats.org/officeDocument/2006/relationships/hyperlink" Target="https://ieeexplore.ieee.org/abstract/document/9510140/" TargetMode="External"/><Relationship Id="rId29" Type="http://schemas.openxmlformats.org/officeDocument/2006/relationships/hyperlink" Target="https://onlinelibrary.wiley.com/doi/abs/10.1002/dac.4515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link.springer.com/chapter/10.1007/978-981-19-7513-4_33" TargetMode="External"/><Relationship Id="rId11" Type="http://schemas.openxmlformats.org/officeDocument/2006/relationships/hyperlink" Target="https://www.mdpi.com/2076-3417/11/11/4879" TargetMode="External"/><Relationship Id="rId24" Type="http://schemas.openxmlformats.org/officeDocument/2006/relationships/hyperlink" Target="https://link.springer.com/article/10.1007/s11276-020-02453-6" TargetMode="External"/><Relationship Id="rId32" Type="http://schemas.openxmlformats.org/officeDocument/2006/relationships/hyperlink" Target="https://link.springer.com/chapter/10.1007/978-3-030-66840-2_87" TargetMode="External"/><Relationship Id="rId5" Type="http://schemas.openxmlformats.org/officeDocument/2006/relationships/hyperlink" Target="https://pubs.aip.org/aip/acp/article-abstract/2591/1/030074/2879892" TargetMode="External"/><Relationship Id="rId15" Type="http://schemas.openxmlformats.org/officeDocument/2006/relationships/hyperlink" Target="https://ieeexplore.ieee.org/abstract/document/9559032/" TargetMode="External"/><Relationship Id="rId23" Type="http://schemas.openxmlformats.org/officeDocument/2006/relationships/hyperlink" Target="https://link.springer.com/article/10.1007/s42979-021-00468-0" TargetMode="External"/><Relationship Id="rId28" Type="http://schemas.openxmlformats.org/officeDocument/2006/relationships/hyperlink" Target="https://ieeexplore.ieee.org/abstract/document/9455415/" TargetMode="External"/><Relationship Id="rId36" Type="http://schemas.openxmlformats.org/officeDocument/2006/relationships/hyperlink" Target="https://ieeexplore.ieee.org/abstract/document/9277179/" TargetMode="External"/><Relationship Id="rId10" Type="http://schemas.openxmlformats.org/officeDocument/2006/relationships/hyperlink" Target="https://www.mdpi.com/1424-8220/22/2/567" TargetMode="External"/><Relationship Id="rId19" Type="http://schemas.openxmlformats.org/officeDocument/2006/relationships/hyperlink" Target="http://bia.ifpi.edu.br:8080/jspui/handle/123456789/1993" TargetMode="External"/><Relationship Id="rId31" Type="http://schemas.openxmlformats.org/officeDocument/2006/relationships/hyperlink" Target="https://www.sciencedirect.com/science/article/pii/S2352711021000066" TargetMode="External"/><Relationship Id="rId4" Type="http://schemas.openxmlformats.org/officeDocument/2006/relationships/hyperlink" Target="https://ieeexplore.ieee.org/abstract/document/10220891/" TargetMode="External"/><Relationship Id="rId9" Type="http://schemas.openxmlformats.org/officeDocument/2006/relationships/hyperlink" Target="https://www.sciencedirect.com/science/article/pii/S2352864822000347" TargetMode="External"/><Relationship Id="rId14" Type="http://schemas.openxmlformats.org/officeDocument/2006/relationships/hyperlink" Target="https://dl.acm.org/doi/abs/10.1145/3454127.3456594" TargetMode="External"/><Relationship Id="rId22" Type="http://schemas.openxmlformats.org/officeDocument/2006/relationships/hyperlink" Target="https://ieeexplore.ieee.org/abstract/document/9573857/" TargetMode="External"/><Relationship Id="rId27" Type="http://schemas.openxmlformats.org/officeDocument/2006/relationships/hyperlink" Target="https://link.springer.com/chapter/10.1007/978-3-030-93620-4_12" TargetMode="External"/><Relationship Id="rId30" Type="http://schemas.openxmlformats.org/officeDocument/2006/relationships/hyperlink" Target="https://ieeexplore.ieee.org/abstract/document/9449252/" TargetMode="External"/><Relationship Id="rId35" Type="http://schemas.openxmlformats.org/officeDocument/2006/relationships/hyperlink" Target="https://link.springer.com/chapter/10.1007/978-3-030-42048-2_3" TargetMode="External"/><Relationship Id="rId8" Type="http://schemas.openxmlformats.org/officeDocument/2006/relationships/hyperlink" Target="https://ieeexplore.ieee.org/abstract/document/9711544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http3-explained.haxx.se/en/why-quic/why-tcpho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F29C8CC-0101-038C-B8C9-5AF9BD193AD9}"/>
              </a:ext>
            </a:extLst>
          </p:cNvPr>
          <p:cNvSpPr/>
          <p:nvPr/>
        </p:nvSpPr>
        <p:spPr>
          <a:xfrm>
            <a:off x="-2" y="1518957"/>
            <a:ext cx="12192002" cy="2400944"/>
          </a:xfrm>
          <a:prstGeom prst="rect">
            <a:avLst/>
          </a:prstGeom>
          <a:solidFill>
            <a:schemeClr val="bg1">
              <a:alpha val="6398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DE68E4-25EE-4E59-9689-A7B117D0FC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8216" y="1458686"/>
            <a:ext cx="9687509" cy="2068090"/>
          </a:xfrm>
        </p:spPr>
        <p:txBody>
          <a:bodyPr>
            <a:noAutofit/>
          </a:bodyPr>
          <a:lstStyle/>
          <a:p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A publish-subscribe architecture for CoAP</a:t>
            </a:r>
            <a:br>
              <a:rPr lang="en-US" sz="4800"/>
            </a:br>
            <a:br>
              <a:rPr lang="en-US" sz="4000"/>
            </a:br>
            <a:br>
              <a:rPr lang="en-US" sz="4000"/>
            </a:br>
            <a:endParaRPr lang="en-US" sz="4800"/>
          </a:p>
        </p:txBody>
      </p:sp>
      <p:sp>
        <p:nvSpPr>
          <p:cNvPr id="2" name="Google Shape;420;p54">
            <a:extLst>
              <a:ext uri="{FF2B5EF4-FFF2-40B4-BE49-F238E27FC236}">
                <a16:creationId xmlns:a16="http://schemas.microsoft.com/office/drawing/2014/main" id="{3B0A919D-C7B0-371A-157F-BF0739FBE936}"/>
              </a:ext>
            </a:extLst>
          </p:cNvPr>
          <p:cNvSpPr txBox="1"/>
          <p:nvPr/>
        </p:nvSpPr>
        <p:spPr>
          <a:xfrm>
            <a:off x="1728216" y="3980172"/>
            <a:ext cx="4129326" cy="1091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Jaime Jiménez</a:t>
            </a:r>
          </a:p>
          <a:p>
            <a:r>
              <a:rPr lang="en-US" sz="2000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Ericsson Research HDE</a:t>
            </a:r>
          </a:p>
          <a:p>
            <a:endParaRPr lang="en-US" sz="2000" i="1">
              <a:solidFill>
                <a:schemeClr val="dk2"/>
              </a:solidFill>
              <a:latin typeface="+mj-lt"/>
              <a:ea typeface="Open Sans"/>
              <a:cs typeface="Open Sans"/>
              <a:sym typeface="Open Sans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sz="2000" i="1">
              <a:solidFill>
                <a:schemeClr val="dk2"/>
              </a:solidFill>
              <a:latin typeface="+mj-lt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224686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3A2AD1CE-ECC0-0268-2A4B-D66BE13D3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t="18581" b="18581"/>
          <a:stretch/>
        </p:blipFill>
        <p:spPr bwMode="auto">
          <a:xfrm>
            <a:off x="20" y="0"/>
            <a:ext cx="6116558" cy="685800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87CE92-7C06-DBEC-FD59-0978F49E2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3CAAA28-F559-354F-AB37-87EC387942A5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E1DD4FD-6791-C6E2-96CC-8D0277DF53C1}"/>
              </a:ext>
            </a:extLst>
          </p:cNvPr>
          <p:cNvSpPr txBox="1">
            <a:spLocks/>
          </p:cNvSpPr>
          <p:nvPr/>
        </p:nvSpPr>
        <p:spPr>
          <a:xfrm>
            <a:off x="6685845" y="407987"/>
            <a:ext cx="5251316" cy="1807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 eaLnBrk="1" fontAlgn="base" hangingPunct="1">
              <a:lnSpc>
                <a:spcPct val="85000"/>
              </a:lnSpc>
              <a:spcBef>
                <a:spcPts val="300"/>
              </a:spcBef>
              <a:spcAft>
                <a:spcPct val="0"/>
              </a:spcAft>
              <a:defRPr sz="4000" kern="1400" spc="-16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Ericsson Hilda" pitchFamily="2" charset="0"/>
              </a:defRPr>
            </a:lvl2pPr>
            <a:lvl3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Ericsson Hilda" pitchFamily="2" charset="0"/>
              </a:defRPr>
            </a:lvl3pPr>
            <a:lvl4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Ericsson Hilda" pitchFamily="2" charset="0"/>
              </a:defRPr>
            </a:lvl4pPr>
            <a:lvl5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Ericsson Hilda" pitchFamily="2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Ericsson Hilda" pitchFamily="2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Ericsson Hilda" pitchFamily="2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Ericsson Hilda" pitchFamily="2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Ericsson Hilda" pitchFamily="2" charset="0"/>
              </a:defRPr>
            </a:lvl9pPr>
          </a:lstStyle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4400" b="0" i="0" u="none" strike="noStrike" kern="1200" cap="none" spc="-160" normalizeH="0" baseline="0" noProof="0">
                <a:ln>
                  <a:noFill/>
                </a:ln>
                <a:effectLst/>
                <a:uLnTx/>
                <a:uFillTx/>
              </a:rPr>
              <a:t>Agenda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E70B895-C401-0373-AC18-21D57FF15F41}"/>
              </a:ext>
            </a:extLst>
          </p:cNvPr>
          <p:cNvSpPr txBox="1">
            <a:spLocks/>
          </p:cNvSpPr>
          <p:nvPr/>
        </p:nvSpPr>
        <p:spPr>
          <a:xfrm>
            <a:off x="6685844" y="2376159"/>
            <a:ext cx="5055883" cy="3843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0000" indent="-18000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3600" indent="-18000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2pPr>
            <a:lvl3pPr marL="543600" indent="-18000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3pPr>
            <a:lvl4pPr marL="723600" indent="-18000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4pPr>
            <a:lvl5pPr marL="903600" indent="-18000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5pPr>
            <a:lvl6pPr marL="903600" indent="-18000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6pPr>
            <a:lvl7pPr marL="903600" indent="-18000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7pPr>
            <a:lvl8pPr marL="903600" indent="-18000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8pPr>
            <a:lvl9pPr marL="903600" indent="-18000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408600" indent="-4572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3000" kern="1200">
                <a:latin typeface="+mj-lt"/>
              </a:rPr>
              <a:t>CoAP intro</a:t>
            </a:r>
          </a:p>
          <a:p>
            <a:pPr marL="408600" marR="0" lvl="0" indent="-457200" fontAlgn="base">
              <a:lnSpc>
                <a:spcPct val="90000"/>
              </a:lnSpc>
              <a:spcBef>
                <a:spcPts val="80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sz="3000" kern="1200">
                <a:solidFill>
                  <a:schemeClr val="bg2">
                    <a:lumMod val="90000"/>
                  </a:schemeClr>
                </a:solidFill>
                <a:latin typeface="+mj-lt"/>
              </a:rPr>
              <a:t>CoAP </a:t>
            </a:r>
            <a:r>
              <a:rPr lang="en-US" sz="3000" kern="1200" err="1">
                <a:solidFill>
                  <a:schemeClr val="bg2">
                    <a:lumMod val="90000"/>
                  </a:schemeClr>
                </a:solidFill>
                <a:latin typeface="+mj-lt"/>
              </a:rPr>
              <a:t>PubSub</a:t>
            </a:r>
            <a:r>
              <a:rPr lang="en-US" sz="3000" kern="1200">
                <a:solidFill>
                  <a:schemeClr val="bg2">
                    <a:lumMod val="90000"/>
                  </a:schemeClr>
                </a:solidFill>
                <a:latin typeface="+mj-lt"/>
              </a:rPr>
              <a:t> Broker</a:t>
            </a:r>
          </a:p>
          <a:p>
            <a:pPr marL="408600" marR="0" lvl="0" indent="-457200" fontAlgn="base">
              <a:lnSpc>
                <a:spcPct val="90000"/>
              </a:lnSpc>
              <a:spcBef>
                <a:spcPts val="80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sz="3000" kern="1200">
                <a:solidFill>
                  <a:schemeClr val="bg2">
                    <a:lumMod val="90000"/>
                  </a:schemeClr>
                </a:solidFill>
                <a:latin typeface="+mj-lt"/>
              </a:rPr>
              <a:t>Demo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9408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36DB8-1DD4-43C1-AE09-31397DC58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41" y="312367"/>
            <a:ext cx="10743628" cy="846795"/>
          </a:xfrm>
        </p:spPr>
        <p:txBody>
          <a:bodyPr>
            <a:normAutofit/>
          </a:bodyPr>
          <a:lstStyle/>
          <a:p>
            <a:r>
              <a:rPr lang="en-US"/>
              <a:t>CoAP Fundamentals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78FADA-9566-30E9-AF8C-D16CD608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FI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3CAAA28-F559-354F-AB37-87EC387942A5}" type="slidenum">
              <a:rPr lang="en-FI" smtClean="0"/>
              <a:pPr/>
              <a:t>3</a:t>
            </a:fld>
            <a:endParaRPr lang="en-FI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AD3C656-5BA8-20B4-E1D9-4A6B4B6F8CA9}"/>
              </a:ext>
            </a:extLst>
          </p:cNvPr>
          <p:cNvGrpSpPr/>
          <p:nvPr/>
        </p:nvGrpSpPr>
        <p:grpSpPr>
          <a:xfrm>
            <a:off x="538441" y="1631521"/>
            <a:ext cx="3062009" cy="318564"/>
            <a:chOff x="479423" y="1457208"/>
            <a:chExt cx="11232001" cy="251848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0C1861D-27E1-61AB-FAEB-22E6D9354353}"/>
                </a:ext>
              </a:extLst>
            </p:cNvPr>
            <p:cNvSpPr/>
            <p:nvPr/>
          </p:nvSpPr>
          <p:spPr bwMode="auto">
            <a:xfrm>
              <a:off x="479423" y="1457208"/>
              <a:ext cx="11231999" cy="2459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dist="12700" dir="5400000" sx="99500" sy="99500" algn="t" rotWithShape="0">
                <a:schemeClr val="tx1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b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>
                  <a:solidFill>
                    <a:srgbClr val="181818"/>
                  </a:solidFill>
                  <a:latin typeface="Ericsson Hilda" pitchFamily="2" charset="0"/>
                  <a:cs typeface="Arial" panose="020B0604020202020204" pitchFamily="34" charset="0"/>
                  <a:sym typeface="Hilda Light" panose="00000400000000000000" pitchFamily="50" charset="0"/>
                </a:rPr>
                <a:t>CoAP Protocol (</a:t>
              </a:r>
              <a:r>
                <a:rPr lang="en-US" sz="2000" b="1">
                  <a:solidFill>
                    <a:srgbClr val="181818"/>
                  </a:solidFill>
                  <a:latin typeface="Ericsson Hilda" pitchFamily="2" charset="0"/>
                  <a:cs typeface="Arial" panose="020B0604020202020204" pitchFamily="34" charset="0"/>
                  <a:sym typeface="Hilda Light" panose="00000400000000000000" pitchFamily="50" charset="0"/>
                  <a:hlinkClick r:id="rId3"/>
                </a:rPr>
                <a:t>RFC7252</a:t>
              </a:r>
              <a:r>
                <a:rPr lang="en-US" sz="2000" b="1">
                  <a:solidFill>
                    <a:srgbClr val="181818"/>
                  </a:solidFill>
                  <a:latin typeface="Ericsson Hilda" pitchFamily="2" charset="0"/>
                  <a:cs typeface="Arial" panose="020B0604020202020204" pitchFamily="34" charset="0"/>
                  <a:sym typeface="Hilda Light" panose="00000400000000000000" pitchFamily="50" charset="0"/>
                </a:rPr>
                <a:t>)</a:t>
              </a: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Ericsson Hilda" pitchFamily="2" charset="0"/>
                <a:cs typeface="Arial" panose="020B0604020202020204" pitchFamily="34" charset="0"/>
                <a:sym typeface="Hilda Light" panose="00000400000000000000" pitchFamily="50" charset="0"/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F329653-6CA2-BA11-0295-95A025362D39}"/>
                </a:ext>
              </a:extLst>
            </p:cNvPr>
            <p:cNvCxnSpPr/>
            <p:nvPr/>
          </p:nvCxnSpPr>
          <p:spPr bwMode="auto">
            <a:xfrm>
              <a:off x="479424" y="1709056"/>
              <a:ext cx="11232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91FA4318-1A04-92D6-4CAC-E144372F32E7}"/>
              </a:ext>
            </a:extLst>
          </p:cNvPr>
          <p:cNvSpPr txBox="1"/>
          <p:nvPr/>
        </p:nvSpPr>
        <p:spPr bwMode="auto">
          <a:xfrm>
            <a:off x="538440" y="2024158"/>
            <a:ext cx="3369326" cy="1995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000" tIns="36000" rIns="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sz="1600" kern="1000" spc="-30">
                <a:solidFill>
                  <a:srgbClr val="181818"/>
                </a:solidFill>
                <a:latin typeface="Ericsson Hilda Light" pitchFamily="2" charset="0"/>
              </a:rPr>
              <a:t>– An application-layer, web transfer protocol like HTTP but for constrained devices (8KBRAM,16-bitCPU, …).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sz="1600" kern="1000" spc="-30">
                <a:solidFill>
                  <a:srgbClr val="181818"/>
                </a:solidFill>
                <a:latin typeface="Ericsson Hilda Light" pitchFamily="2" charset="0"/>
              </a:rPr>
              <a:t>– Defines a set of method requests and responses, multicast use, a reliability mechanism, native support for intermediary proxies, and the caching &amp; validation models and a URI scheme.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3EA70A-6976-B1C1-F920-3BF8E907E09F}"/>
              </a:ext>
            </a:extLst>
          </p:cNvPr>
          <p:cNvSpPr/>
          <p:nvPr/>
        </p:nvSpPr>
        <p:spPr>
          <a:xfrm>
            <a:off x="422694" y="4477109"/>
            <a:ext cx="750498" cy="5520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I" sz="1100">
                <a:latin typeface="Courier New" panose="02070309020205020404" pitchFamily="49" charset="0"/>
                <a:cs typeface="Courier New" panose="02070309020205020404" pitchFamily="49" charset="0"/>
              </a:rPr>
              <a:t>client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E5E1C1-AD13-56DE-1106-BFE3DF97E027}"/>
              </a:ext>
            </a:extLst>
          </p:cNvPr>
          <p:cNvSpPr/>
          <p:nvPr/>
        </p:nvSpPr>
        <p:spPr>
          <a:xfrm>
            <a:off x="2849951" y="4474233"/>
            <a:ext cx="750498" cy="5520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I" sz="1100">
                <a:latin typeface="Courier New" panose="02070309020205020404" pitchFamily="49" charset="0"/>
                <a:cs typeface="Courier New" panose="02070309020205020404" pitchFamily="49" charset="0"/>
              </a:rPr>
              <a:t>server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56B099B-5818-2034-EE4F-567390961A00}"/>
              </a:ext>
            </a:extLst>
          </p:cNvPr>
          <p:cNvCxnSpPr/>
          <p:nvPr/>
        </p:nvCxnSpPr>
        <p:spPr>
          <a:xfrm>
            <a:off x="1242204" y="4677857"/>
            <a:ext cx="15268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170B361-A92A-BE88-75D2-8A887094EAB0}"/>
              </a:ext>
            </a:extLst>
          </p:cNvPr>
          <p:cNvCxnSpPr>
            <a:cxnSpLocks/>
          </p:cNvCxnSpPr>
          <p:nvPr/>
        </p:nvCxnSpPr>
        <p:spPr>
          <a:xfrm flipH="1">
            <a:off x="1242204" y="4896928"/>
            <a:ext cx="15142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C4E726D-FEAB-184D-D575-6BC913A9C08D}"/>
              </a:ext>
            </a:extLst>
          </p:cNvPr>
          <p:cNvSpPr txBox="1"/>
          <p:nvPr/>
        </p:nvSpPr>
        <p:spPr>
          <a:xfrm>
            <a:off x="1372282" y="4436756"/>
            <a:ext cx="14202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000">
                <a:latin typeface="Courier New" panose="02070309020205020404" pitchFamily="49" charset="0"/>
                <a:cs typeface="Courier New" panose="02070309020205020404" pitchFamily="49" charset="0"/>
              </a:rPr>
              <a:t>GET temperature</a:t>
            </a:r>
            <a:endParaRPr lang="en-FI" sz="10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2D4B01-F04C-23C7-B2AF-D62DDFBF79F4}"/>
              </a:ext>
            </a:extLst>
          </p:cNvPr>
          <p:cNvSpPr txBox="1"/>
          <p:nvPr/>
        </p:nvSpPr>
        <p:spPr>
          <a:xfrm>
            <a:off x="1655518" y="4919048"/>
            <a:ext cx="8889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000">
                <a:latin typeface="Courier New" panose="02070309020205020404" pitchFamily="49" charset="0"/>
                <a:cs typeface="Courier New" panose="02070309020205020404" pitchFamily="49" charset="0"/>
              </a:rPr>
              <a:t>25 C</a:t>
            </a:r>
            <a:endParaRPr lang="en-FI" sz="10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CC968B-4D7A-DCE0-5A16-B9099E009052}"/>
              </a:ext>
            </a:extLst>
          </p:cNvPr>
          <p:cNvSpPr txBox="1"/>
          <p:nvPr/>
        </p:nvSpPr>
        <p:spPr>
          <a:xfrm>
            <a:off x="2790059" y="4212177"/>
            <a:ext cx="111770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000">
                <a:latin typeface="Courier New" panose="02070309020205020404" pitchFamily="49" charset="0"/>
                <a:cs typeface="Courier New" panose="02070309020205020404" pitchFamily="49" charset="0"/>
              </a:rPr>
              <a:t>IoT Device</a:t>
            </a:r>
            <a:endParaRPr lang="en-FI" sz="100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AD2BA29-B687-AB10-1C16-A5E0AA8130BD}"/>
              </a:ext>
            </a:extLst>
          </p:cNvPr>
          <p:cNvGrpSpPr/>
          <p:nvPr/>
        </p:nvGrpSpPr>
        <p:grpSpPr>
          <a:xfrm>
            <a:off x="4434465" y="1631521"/>
            <a:ext cx="3062009" cy="318564"/>
            <a:chOff x="479423" y="1457208"/>
            <a:chExt cx="11232001" cy="2518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80B8C73-7758-8237-9B09-25C9E3FA0250}"/>
                </a:ext>
              </a:extLst>
            </p:cNvPr>
            <p:cNvSpPr/>
            <p:nvPr/>
          </p:nvSpPr>
          <p:spPr bwMode="auto">
            <a:xfrm>
              <a:off x="479423" y="1457208"/>
              <a:ext cx="11231999" cy="2459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dist="12700" dir="5400000" sx="99500" sy="99500" algn="t" rotWithShape="0">
                <a:schemeClr val="tx1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b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>
                  <a:solidFill>
                    <a:srgbClr val="181818"/>
                  </a:solidFill>
                  <a:latin typeface="Ericsson Hilda" pitchFamily="2" charset="0"/>
                  <a:cs typeface="Arial" panose="020B0604020202020204" pitchFamily="34" charset="0"/>
                  <a:sym typeface="Hilda Light" panose="00000400000000000000" pitchFamily="50" charset="0"/>
                </a:rPr>
                <a:t>CoAP Observe (</a:t>
              </a:r>
              <a:r>
                <a:rPr lang="en-US" sz="2000" b="1">
                  <a:solidFill>
                    <a:srgbClr val="181818"/>
                  </a:solidFill>
                  <a:latin typeface="Ericsson Hilda" pitchFamily="2" charset="0"/>
                  <a:cs typeface="Arial" panose="020B0604020202020204" pitchFamily="34" charset="0"/>
                  <a:sym typeface="Hilda Light" panose="00000400000000000000" pitchFamily="50" charset="0"/>
                  <a:hlinkClick r:id="rId4"/>
                </a:rPr>
                <a:t>RFC7641</a:t>
              </a:r>
              <a:r>
                <a:rPr lang="en-US" sz="2000" b="1">
                  <a:solidFill>
                    <a:srgbClr val="181818"/>
                  </a:solidFill>
                  <a:latin typeface="Ericsson Hilda" pitchFamily="2" charset="0"/>
                  <a:cs typeface="Arial" panose="020B0604020202020204" pitchFamily="34" charset="0"/>
                  <a:sym typeface="Hilda Light" panose="00000400000000000000" pitchFamily="50" charset="0"/>
                </a:rPr>
                <a:t>)</a:t>
              </a: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Ericsson Hilda" pitchFamily="2" charset="0"/>
                <a:cs typeface="Arial" panose="020B0604020202020204" pitchFamily="34" charset="0"/>
                <a:sym typeface="Hilda Light" panose="00000400000000000000" pitchFamily="50" charset="0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9861767-B342-BD76-44C9-0903692E08DE}"/>
                </a:ext>
              </a:extLst>
            </p:cNvPr>
            <p:cNvCxnSpPr/>
            <p:nvPr/>
          </p:nvCxnSpPr>
          <p:spPr bwMode="auto">
            <a:xfrm>
              <a:off x="479424" y="1709056"/>
              <a:ext cx="11232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7E222BFD-8486-0B70-4515-F952093C9106}"/>
              </a:ext>
            </a:extLst>
          </p:cNvPr>
          <p:cNvSpPr txBox="1"/>
          <p:nvPr/>
        </p:nvSpPr>
        <p:spPr bwMode="auto">
          <a:xfrm>
            <a:off x="4434464" y="2024158"/>
            <a:ext cx="3369326" cy="1995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000" tIns="36000" rIns="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sz="1600" kern="1000" spc="-30">
                <a:solidFill>
                  <a:srgbClr val="181818"/>
                </a:solidFill>
                <a:latin typeface="Ericsson Hilda Light" pitchFamily="2" charset="0"/>
              </a:rPr>
              <a:t>– A CoAP extension that enables an observation pattern over REST (subscribe to a data representation)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sz="1600" kern="1000" spc="-30">
                <a:solidFill>
                  <a:srgbClr val="181818"/>
                </a:solidFill>
                <a:latin typeface="Ericsson Hilda Light" pitchFamily="2" charset="0"/>
              </a:rPr>
              <a:t>– An observer client receives automatic notifications as the resource representation is updated over time.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sz="1600" kern="1000" spc="-30">
                <a:solidFill>
                  <a:srgbClr val="181818"/>
                </a:solidFill>
                <a:latin typeface="Ericsson Hilda Light" pitchFamily="2" charset="0"/>
              </a:rPr>
              <a:t>– D2D akin to webhooks over HTTP.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15AD4A8-B446-961B-6F9A-F4A7545FE319}"/>
              </a:ext>
            </a:extLst>
          </p:cNvPr>
          <p:cNvSpPr/>
          <p:nvPr/>
        </p:nvSpPr>
        <p:spPr>
          <a:xfrm>
            <a:off x="4318718" y="4477109"/>
            <a:ext cx="750498" cy="5520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I" sz="1100">
                <a:latin typeface="Courier New" panose="02070309020205020404" pitchFamily="49" charset="0"/>
                <a:cs typeface="Courier New" panose="02070309020205020404" pitchFamily="49" charset="0"/>
              </a:rPr>
              <a:t>client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16D70CF-D492-B59B-7C7D-402E4D5A6996}"/>
              </a:ext>
            </a:extLst>
          </p:cNvPr>
          <p:cNvSpPr/>
          <p:nvPr/>
        </p:nvSpPr>
        <p:spPr>
          <a:xfrm>
            <a:off x="6745975" y="4474233"/>
            <a:ext cx="750498" cy="5520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I" sz="1100">
                <a:latin typeface="Courier New" panose="02070309020205020404" pitchFamily="49" charset="0"/>
                <a:cs typeface="Courier New" panose="02070309020205020404" pitchFamily="49" charset="0"/>
              </a:rPr>
              <a:t>server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158E5C6-D303-1B04-93BE-E74820081C11}"/>
              </a:ext>
            </a:extLst>
          </p:cNvPr>
          <p:cNvCxnSpPr/>
          <p:nvPr/>
        </p:nvCxnSpPr>
        <p:spPr>
          <a:xfrm>
            <a:off x="5146817" y="4461764"/>
            <a:ext cx="15268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C4F9D69-F8EA-5C26-926E-C8FC0C41AA1C}"/>
              </a:ext>
            </a:extLst>
          </p:cNvPr>
          <p:cNvCxnSpPr>
            <a:cxnSpLocks/>
          </p:cNvCxnSpPr>
          <p:nvPr/>
        </p:nvCxnSpPr>
        <p:spPr>
          <a:xfrm flipH="1">
            <a:off x="5137605" y="4670337"/>
            <a:ext cx="15142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A2CB3425-43CC-AE38-A8FD-C8C4802D3861}"/>
              </a:ext>
            </a:extLst>
          </p:cNvPr>
          <p:cNvSpPr txBox="1"/>
          <p:nvPr/>
        </p:nvSpPr>
        <p:spPr>
          <a:xfrm>
            <a:off x="5126637" y="4253213"/>
            <a:ext cx="192665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900">
                <a:latin typeface="Courier New" panose="02070309020205020404" pitchFamily="49" charset="0"/>
                <a:cs typeface="Courier New" panose="02070309020205020404" pitchFamily="49" charset="0"/>
              </a:rPr>
              <a:t>Observe temperature</a:t>
            </a:r>
            <a:endParaRPr lang="en-FI" sz="9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0A66490-EA6F-2BE5-797A-51FF82271A1E}"/>
              </a:ext>
            </a:extLst>
          </p:cNvPr>
          <p:cNvSpPr txBox="1"/>
          <p:nvPr/>
        </p:nvSpPr>
        <p:spPr>
          <a:xfrm>
            <a:off x="5615669" y="4491672"/>
            <a:ext cx="8889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000">
                <a:latin typeface="Courier New" panose="02070309020205020404" pitchFamily="49" charset="0"/>
                <a:cs typeface="Courier New" panose="02070309020205020404" pitchFamily="49" charset="0"/>
              </a:rPr>
              <a:t>25 C</a:t>
            </a:r>
            <a:endParaRPr lang="en-FI" sz="100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4769FFB-E182-A54E-8CC1-4653179826A4}"/>
              </a:ext>
            </a:extLst>
          </p:cNvPr>
          <p:cNvSpPr txBox="1"/>
          <p:nvPr/>
        </p:nvSpPr>
        <p:spPr>
          <a:xfrm>
            <a:off x="6686083" y="4212177"/>
            <a:ext cx="111770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000">
                <a:latin typeface="Courier New" panose="02070309020205020404" pitchFamily="49" charset="0"/>
                <a:cs typeface="Courier New" panose="02070309020205020404" pitchFamily="49" charset="0"/>
              </a:rPr>
              <a:t>IoT Device</a:t>
            </a:r>
            <a:endParaRPr lang="en-FI" sz="100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A53885A-4FCF-FDC5-884F-467297095E2E}"/>
              </a:ext>
            </a:extLst>
          </p:cNvPr>
          <p:cNvCxnSpPr>
            <a:cxnSpLocks/>
          </p:cNvCxnSpPr>
          <p:nvPr/>
        </p:nvCxnSpPr>
        <p:spPr>
          <a:xfrm flipH="1">
            <a:off x="5137604" y="4871280"/>
            <a:ext cx="15142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88A90E82-2837-177E-B57B-95971CAE8964}"/>
              </a:ext>
            </a:extLst>
          </p:cNvPr>
          <p:cNvSpPr txBox="1"/>
          <p:nvPr/>
        </p:nvSpPr>
        <p:spPr>
          <a:xfrm>
            <a:off x="5615667" y="4700244"/>
            <a:ext cx="8889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000">
                <a:latin typeface="Courier New" panose="02070309020205020404" pitchFamily="49" charset="0"/>
                <a:cs typeface="Courier New" panose="02070309020205020404" pitchFamily="49" charset="0"/>
              </a:rPr>
              <a:t>21 C</a:t>
            </a:r>
            <a:endParaRPr lang="en-FI" sz="100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EE0C716-7738-1E2F-7116-C2CD05B6ED32}"/>
              </a:ext>
            </a:extLst>
          </p:cNvPr>
          <p:cNvCxnSpPr>
            <a:cxnSpLocks/>
          </p:cNvCxnSpPr>
          <p:nvPr/>
        </p:nvCxnSpPr>
        <p:spPr>
          <a:xfrm flipH="1">
            <a:off x="5137604" y="5067964"/>
            <a:ext cx="15142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7C0BC0F8-3575-5906-6A47-53771A9D7353}"/>
              </a:ext>
            </a:extLst>
          </p:cNvPr>
          <p:cNvSpPr txBox="1"/>
          <p:nvPr/>
        </p:nvSpPr>
        <p:spPr>
          <a:xfrm>
            <a:off x="5615667" y="4896928"/>
            <a:ext cx="8889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000">
                <a:latin typeface="Courier New" panose="02070309020205020404" pitchFamily="49" charset="0"/>
                <a:cs typeface="Courier New" panose="02070309020205020404" pitchFamily="49" charset="0"/>
              </a:rPr>
              <a:t>23 C</a:t>
            </a:r>
            <a:endParaRPr lang="en-FI" sz="100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02EB8F8-A45A-2039-9F66-CBD57001ED18}"/>
              </a:ext>
            </a:extLst>
          </p:cNvPr>
          <p:cNvGrpSpPr/>
          <p:nvPr/>
        </p:nvGrpSpPr>
        <p:grpSpPr>
          <a:xfrm>
            <a:off x="8123978" y="1631521"/>
            <a:ext cx="3464216" cy="318564"/>
            <a:chOff x="479423" y="1457208"/>
            <a:chExt cx="11232001" cy="251848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82641A1-B601-3B6B-AA71-387C86BF0E67}"/>
                </a:ext>
              </a:extLst>
            </p:cNvPr>
            <p:cNvSpPr/>
            <p:nvPr/>
          </p:nvSpPr>
          <p:spPr bwMode="auto">
            <a:xfrm>
              <a:off x="479423" y="1457208"/>
              <a:ext cx="11231999" cy="2459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dist="12700" dir="5400000" sx="99500" sy="99500" algn="t" rotWithShape="0">
                <a:schemeClr val="tx1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b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>
                  <a:solidFill>
                    <a:srgbClr val="181818"/>
                  </a:solidFill>
                  <a:latin typeface="Ericsson Hilda" pitchFamily="2" charset="0"/>
                  <a:cs typeface="Arial" panose="020B0604020202020204" pitchFamily="34" charset="0"/>
                  <a:sym typeface="Hilda Light" panose="00000400000000000000" pitchFamily="50" charset="0"/>
                </a:rPr>
                <a:t>CoRE Link Format (</a:t>
              </a:r>
              <a:r>
                <a:rPr lang="en-US" sz="2000" b="1">
                  <a:solidFill>
                    <a:srgbClr val="181818"/>
                  </a:solidFill>
                  <a:latin typeface="Ericsson Hilda" pitchFamily="2" charset="0"/>
                  <a:cs typeface="Arial" panose="020B0604020202020204" pitchFamily="34" charset="0"/>
                  <a:sym typeface="Hilda Light" panose="00000400000000000000" pitchFamily="50" charset="0"/>
                  <a:hlinkClick r:id="rId5"/>
                </a:rPr>
                <a:t>RFC6690</a:t>
              </a:r>
              <a:r>
                <a:rPr lang="en-US" sz="2000" b="1">
                  <a:solidFill>
                    <a:srgbClr val="181818"/>
                  </a:solidFill>
                  <a:latin typeface="Ericsson Hilda" pitchFamily="2" charset="0"/>
                  <a:cs typeface="Arial" panose="020B0604020202020204" pitchFamily="34" charset="0"/>
                  <a:sym typeface="Hilda Light" panose="00000400000000000000" pitchFamily="50" charset="0"/>
                </a:rPr>
                <a:t>)</a:t>
              </a: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Ericsson Hilda" pitchFamily="2" charset="0"/>
                <a:cs typeface="Arial" panose="020B0604020202020204" pitchFamily="34" charset="0"/>
                <a:sym typeface="Hilda Light" panose="00000400000000000000" pitchFamily="50" charset="0"/>
              </a:endParaRP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E5930FA-6729-C49A-7809-CB61A131AA43}"/>
                </a:ext>
              </a:extLst>
            </p:cNvPr>
            <p:cNvCxnSpPr/>
            <p:nvPr/>
          </p:nvCxnSpPr>
          <p:spPr bwMode="auto">
            <a:xfrm>
              <a:off x="479424" y="1709056"/>
              <a:ext cx="11232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DB02D780-ADB7-3031-B9EE-4D0265944FEC}"/>
              </a:ext>
            </a:extLst>
          </p:cNvPr>
          <p:cNvSpPr txBox="1"/>
          <p:nvPr/>
        </p:nvSpPr>
        <p:spPr bwMode="auto">
          <a:xfrm>
            <a:off x="8123977" y="2024158"/>
            <a:ext cx="3369326" cy="1995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000" tIns="36000" rIns="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sz="1600" kern="1000" spc="-30">
                <a:solidFill>
                  <a:srgbClr val="181818"/>
                </a:solidFill>
                <a:latin typeface="Ericsson Hilda Light" pitchFamily="2" charset="0"/>
              </a:rPr>
              <a:t>– Extends HTTP’s web linking for IoT specific uses.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sz="1600" kern="1000" spc="-30">
                <a:solidFill>
                  <a:srgbClr val="181818"/>
                </a:solidFill>
                <a:latin typeface="Ericsson Hilda Light" pitchFamily="2" charset="0"/>
              </a:rPr>
              <a:t>– Provides new resource attributes, a new well-known URI, relation types and creates a parameter registry in IANA to be used by other SDOs.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D517082-52AD-FCDD-AD45-0764A9A1512E}"/>
              </a:ext>
            </a:extLst>
          </p:cNvPr>
          <p:cNvSpPr/>
          <p:nvPr/>
        </p:nvSpPr>
        <p:spPr>
          <a:xfrm>
            <a:off x="8104371" y="4441777"/>
            <a:ext cx="750498" cy="5520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I" sz="1100">
                <a:latin typeface="Courier New" panose="02070309020205020404" pitchFamily="49" charset="0"/>
                <a:cs typeface="Courier New" panose="02070309020205020404" pitchFamily="49" charset="0"/>
              </a:rPr>
              <a:t>client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A59F925-6A35-E87B-6D4C-2CC0C3F5EEDD}"/>
              </a:ext>
            </a:extLst>
          </p:cNvPr>
          <p:cNvSpPr/>
          <p:nvPr/>
        </p:nvSpPr>
        <p:spPr>
          <a:xfrm>
            <a:off x="10531628" y="4438901"/>
            <a:ext cx="750498" cy="5520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I" sz="1100">
                <a:latin typeface="Courier New" panose="02070309020205020404" pitchFamily="49" charset="0"/>
                <a:cs typeface="Courier New" panose="02070309020205020404" pitchFamily="49" charset="0"/>
              </a:rPr>
              <a:t>server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142C06E-79EB-C761-0632-294FE0B7001F}"/>
              </a:ext>
            </a:extLst>
          </p:cNvPr>
          <p:cNvCxnSpPr/>
          <p:nvPr/>
        </p:nvCxnSpPr>
        <p:spPr>
          <a:xfrm>
            <a:off x="8923881" y="4642525"/>
            <a:ext cx="15268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94F2D77-A700-2D07-D22A-175072413F60}"/>
              </a:ext>
            </a:extLst>
          </p:cNvPr>
          <p:cNvCxnSpPr>
            <a:cxnSpLocks/>
          </p:cNvCxnSpPr>
          <p:nvPr/>
        </p:nvCxnSpPr>
        <p:spPr>
          <a:xfrm flipH="1">
            <a:off x="8923881" y="4861596"/>
            <a:ext cx="15142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E227E88D-9F06-37AC-C0EB-49B8A832B7DD}"/>
              </a:ext>
            </a:extLst>
          </p:cNvPr>
          <p:cNvSpPr txBox="1"/>
          <p:nvPr/>
        </p:nvSpPr>
        <p:spPr>
          <a:xfrm>
            <a:off x="8880494" y="4161378"/>
            <a:ext cx="21189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>
                <a:latin typeface="Courier New" panose="02070309020205020404" pitchFamily="49" charset="0"/>
                <a:cs typeface="Courier New" panose="02070309020205020404" pitchFamily="49" charset="0"/>
              </a:rPr>
              <a:t>GET /.well-known/</a:t>
            </a:r>
            <a:r>
              <a:rPr lang="en-GB" sz="1000" err="1">
                <a:latin typeface="Courier New" panose="02070309020205020404" pitchFamily="49" charset="0"/>
                <a:cs typeface="Courier New" panose="02070309020205020404" pitchFamily="49" charset="0"/>
              </a:rPr>
              <a:t>core?rt</a:t>
            </a:r>
            <a:r>
              <a:rPr lang="en-GB" sz="100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1000" err="1">
                <a:latin typeface="Courier New" panose="02070309020205020404" pitchFamily="49" charset="0"/>
                <a:cs typeface="Courier New" panose="02070309020205020404" pitchFamily="49" charset="0"/>
              </a:rPr>
              <a:t>fota</a:t>
            </a:r>
            <a:endParaRPr lang="en-FI" sz="100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838C987-8EEC-1673-BEF8-B96E4263D5C9}"/>
              </a:ext>
            </a:extLst>
          </p:cNvPr>
          <p:cNvSpPr txBox="1"/>
          <p:nvPr/>
        </p:nvSpPr>
        <p:spPr>
          <a:xfrm>
            <a:off x="8963527" y="4883716"/>
            <a:ext cx="161149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>
                <a:latin typeface="Courier New" panose="02070309020205020404" pitchFamily="49" charset="0"/>
                <a:cs typeface="Courier New" panose="02070309020205020404" pitchFamily="49" charset="0"/>
              </a:rPr>
              <a:t>2.05 Content &lt;/firmware/v2.1&gt;;rt=”</a:t>
            </a:r>
            <a:r>
              <a:rPr lang="en-GB" sz="1000" err="1">
                <a:latin typeface="Courier New" panose="02070309020205020404" pitchFamily="49" charset="0"/>
                <a:cs typeface="Courier New" panose="02070309020205020404" pitchFamily="49" charset="0"/>
              </a:rPr>
              <a:t>fota</a:t>
            </a:r>
            <a:r>
              <a:rPr lang="en-GB" sz="100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  <a:r>
              <a:rPr lang="en-GB" sz="1000" err="1">
                <a:latin typeface="Courier New" panose="02070309020205020404" pitchFamily="49" charset="0"/>
                <a:cs typeface="Courier New" panose="02070309020205020404" pitchFamily="49" charset="0"/>
              </a:rPr>
              <a:t>sz</a:t>
            </a:r>
            <a:r>
              <a:rPr lang="en-GB" sz="1000">
                <a:latin typeface="Courier New" panose="02070309020205020404" pitchFamily="49" charset="0"/>
                <a:cs typeface="Courier New" panose="02070309020205020404" pitchFamily="49" charset="0"/>
              </a:rPr>
              <a:t>=262144</a:t>
            </a:r>
            <a:endParaRPr lang="en-FI" sz="100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B300EBD-A1DE-6061-0A0E-16E8CDF20028}"/>
              </a:ext>
            </a:extLst>
          </p:cNvPr>
          <p:cNvSpPr txBox="1"/>
          <p:nvPr/>
        </p:nvSpPr>
        <p:spPr>
          <a:xfrm>
            <a:off x="10471736" y="4176845"/>
            <a:ext cx="111770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000">
                <a:latin typeface="Courier New" panose="02070309020205020404" pitchFamily="49" charset="0"/>
                <a:cs typeface="Courier New" panose="02070309020205020404" pitchFamily="49" charset="0"/>
              </a:rPr>
              <a:t>IoT Device</a:t>
            </a:r>
            <a:endParaRPr lang="en-FI" sz="1000"/>
          </a:p>
        </p:txBody>
      </p:sp>
    </p:spTree>
    <p:extLst>
      <p:ext uri="{BB962C8B-B14F-4D97-AF65-F5344CB8AC3E}">
        <p14:creationId xmlns:p14="http://schemas.microsoft.com/office/powerpoint/2010/main" val="3492302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36DB8-1DD4-43C1-AE09-31397DC58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41" y="312367"/>
            <a:ext cx="10743628" cy="846795"/>
          </a:xfrm>
        </p:spPr>
        <p:txBody>
          <a:bodyPr>
            <a:normAutofit/>
          </a:bodyPr>
          <a:lstStyle/>
          <a:p>
            <a:r>
              <a:rPr lang="en-US"/>
              <a:t>CoAP Fundamentals II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78FADA-9566-30E9-AF8C-D16CD608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FI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3CAAA28-F559-354F-AB37-87EC387942A5}" type="slidenum">
              <a:rPr lang="en-FI" smtClean="0"/>
              <a:pPr/>
              <a:t>4</a:t>
            </a:fld>
            <a:endParaRPr lang="en-FI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7DBEF70-00A9-038D-1F44-BF10DA167C11}"/>
              </a:ext>
            </a:extLst>
          </p:cNvPr>
          <p:cNvGrpSpPr/>
          <p:nvPr/>
        </p:nvGrpSpPr>
        <p:grpSpPr>
          <a:xfrm>
            <a:off x="8284236" y="1631521"/>
            <a:ext cx="3062009" cy="318564"/>
            <a:chOff x="479423" y="1457208"/>
            <a:chExt cx="11232001" cy="25184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4656EA8-66AE-D089-E607-42AC4125ED82}"/>
                </a:ext>
              </a:extLst>
            </p:cNvPr>
            <p:cNvSpPr/>
            <p:nvPr/>
          </p:nvSpPr>
          <p:spPr bwMode="auto">
            <a:xfrm>
              <a:off x="479423" y="1457208"/>
              <a:ext cx="11231999" cy="2459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dist="12700" dir="5400000" sx="99500" sy="99500" algn="t" rotWithShape="0">
                <a:schemeClr val="tx1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b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>
                  <a:solidFill>
                    <a:srgbClr val="181818"/>
                  </a:solidFill>
                  <a:latin typeface="Ericsson Hilda"/>
                  <a:cs typeface="Arial" panose="020B0604020202020204" pitchFamily="34" charset="0"/>
                  <a:sym typeface="Hilda Light" panose="00000400000000000000" pitchFamily="50" charset="0"/>
                </a:rPr>
                <a:t>CoAP Serializations</a:t>
              </a: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Ericsson Hilda"/>
                <a:cs typeface="Arial" panose="020B0604020202020204" pitchFamily="34" charset="0"/>
                <a:sym typeface="Hilda Light" panose="00000400000000000000" pitchFamily="50" charset="0"/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9436618-9B6E-C173-A327-65BD515C11F0}"/>
                </a:ext>
              </a:extLst>
            </p:cNvPr>
            <p:cNvCxnSpPr/>
            <p:nvPr/>
          </p:nvCxnSpPr>
          <p:spPr bwMode="auto">
            <a:xfrm>
              <a:off x="479424" y="1709056"/>
              <a:ext cx="11232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16520B2-2A99-3E89-6059-B7463BAE9541}"/>
              </a:ext>
            </a:extLst>
          </p:cNvPr>
          <p:cNvSpPr txBox="1"/>
          <p:nvPr/>
        </p:nvSpPr>
        <p:spPr bwMode="auto">
          <a:xfrm>
            <a:off x="8284235" y="2024159"/>
            <a:ext cx="3299462" cy="1456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000" tIns="36000" rIns="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sz="1600" kern="1000" spc="-30">
                <a:solidFill>
                  <a:srgbClr val="181818"/>
                </a:solidFill>
                <a:latin typeface="Ericsson Hilda"/>
              </a:rPr>
              <a:t>– SenML  serializations for the data based on JSON</a:t>
            </a:r>
            <a:br>
              <a:rPr lang="en-US" sz="1600" kern="1000" spc="-30">
                <a:solidFill>
                  <a:srgbClr val="181818"/>
                </a:solidFill>
                <a:latin typeface="Ericsson Hilda"/>
              </a:rPr>
            </a:br>
            <a:r>
              <a:rPr lang="en-US" sz="1600" kern="1000" spc="-30">
                <a:solidFill>
                  <a:srgbClr val="181818"/>
                </a:solidFill>
                <a:latin typeface="Ericsson Hilda"/>
              </a:rPr>
              <a:t>– CBOR , a concise data format.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04B9BF-1726-BA7C-E9CF-04F81E8A1622}"/>
              </a:ext>
            </a:extLst>
          </p:cNvPr>
          <p:cNvSpPr/>
          <p:nvPr/>
        </p:nvSpPr>
        <p:spPr>
          <a:xfrm>
            <a:off x="8192862" y="3431876"/>
            <a:ext cx="750498" cy="5520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FI" sz="1100">
                <a:latin typeface="Courier New" panose="02070309020205020404" pitchFamily="49" charset="0"/>
                <a:cs typeface="Courier New" panose="02070309020205020404" pitchFamily="49" charset="0"/>
              </a:rPr>
              <a:t>oAP</a:t>
            </a:r>
            <a:r>
              <a:rPr lang="en-FI" sz="900">
                <a:latin typeface="Courier New" panose="02070309020205020404" pitchFamily="49" charset="0"/>
                <a:cs typeface="Courier New" panose="02070309020205020404" pitchFamily="49" charset="0"/>
              </a:rPr>
              <a:t> endpoint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796BB4F-3AA9-4CA0-2A66-1A7FC9E12DA2}"/>
              </a:ext>
            </a:extLst>
          </p:cNvPr>
          <p:cNvSpPr/>
          <p:nvPr/>
        </p:nvSpPr>
        <p:spPr>
          <a:xfrm>
            <a:off x="10620119" y="3429000"/>
            <a:ext cx="750498" cy="5520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I" sz="1100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7DF5AE6-7194-636E-225D-F6D8CD1FDF8B}"/>
              </a:ext>
            </a:extLst>
          </p:cNvPr>
          <p:cNvCxnSpPr/>
          <p:nvPr/>
        </p:nvCxnSpPr>
        <p:spPr>
          <a:xfrm>
            <a:off x="9033352" y="3559799"/>
            <a:ext cx="15268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D60A8E5-6B1E-57FD-4AE9-DD6E17A9DD81}"/>
              </a:ext>
            </a:extLst>
          </p:cNvPr>
          <p:cNvSpPr txBox="1"/>
          <p:nvPr/>
        </p:nvSpPr>
        <p:spPr>
          <a:xfrm>
            <a:off x="9310539" y="3190467"/>
            <a:ext cx="10675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900">
                <a:latin typeface="Courier New" panose="02070309020205020404" pitchFamily="49" charset="0"/>
                <a:cs typeface="Courier New" panose="02070309020205020404" pitchFamily="49" charset="0"/>
              </a:rPr>
              <a:t>GET /temperature</a:t>
            </a:r>
            <a:endParaRPr lang="en-FI" sz="9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BD558F-FF78-0596-E0A4-489F02CC1130}"/>
              </a:ext>
            </a:extLst>
          </p:cNvPr>
          <p:cNvSpPr txBox="1"/>
          <p:nvPr/>
        </p:nvSpPr>
        <p:spPr>
          <a:xfrm>
            <a:off x="8999588" y="3929759"/>
            <a:ext cx="184309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&lt;Here is a response with a structure and also compressed.&gt;</a:t>
            </a:r>
            <a:endParaRPr lang="en-FI" sz="9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58AB76-55AA-F886-FE6F-EE3895A7D68A}"/>
              </a:ext>
            </a:extLst>
          </p:cNvPr>
          <p:cNvSpPr txBox="1"/>
          <p:nvPr/>
        </p:nvSpPr>
        <p:spPr>
          <a:xfrm>
            <a:off x="10560227" y="3166944"/>
            <a:ext cx="111770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000">
                <a:latin typeface="Courier New" panose="02070309020205020404" pitchFamily="49" charset="0"/>
                <a:cs typeface="Courier New" panose="02070309020205020404" pitchFamily="49" charset="0"/>
              </a:rPr>
              <a:t>IoT Device</a:t>
            </a:r>
            <a:endParaRPr lang="en-FI" sz="100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A082E06-D11A-184F-45A5-4B4CCE72832D}"/>
              </a:ext>
            </a:extLst>
          </p:cNvPr>
          <p:cNvCxnSpPr>
            <a:cxnSpLocks/>
          </p:cNvCxnSpPr>
          <p:nvPr/>
        </p:nvCxnSpPr>
        <p:spPr>
          <a:xfrm flipH="1">
            <a:off x="9045933" y="3818517"/>
            <a:ext cx="15142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AD2BA29-B687-AB10-1C16-A5E0AA8130BD}"/>
              </a:ext>
            </a:extLst>
          </p:cNvPr>
          <p:cNvGrpSpPr/>
          <p:nvPr/>
        </p:nvGrpSpPr>
        <p:grpSpPr>
          <a:xfrm>
            <a:off x="4434465" y="1631521"/>
            <a:ext cx="3062009" cy="318564"/>
            <a:chOff x="479423" y="1457208"/>
            <a:chExt cx="11232001" cy="2518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80B8C73-7758-8237-9B09-25C9E3FA0250}"/>
                </a:ext>
              </a:extLst>
            </p:cNvPr>
            <p:cNvSpPr/>
            <p:nvPr/>
          </p:nvSpPr>
          <p:spPr bwMode="auto">
            <a:xfrm>
              <a:off x="479423" y="1457208"/>
              <a:ext cx="11231999" cy="2459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dist="12700" dir="5400000" sx="99500" sy="99500" algn="t" rotWithShape="0">
                <a:schemeClr val="tx1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b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>
                  <a:solidFill>
                    <a:srgbClr val="181818"/>
                  </a:solidFill>
                  <a:latin typeface="Ericsson Hilda"/>
                  <a:cs typeface="Arial" panose="020B0604020202020204" pitchFamily="34" charset="0"/>
                  <a:sym typeface="Hilda Light" panose="00000400000000000000" pitchFamily="50" charset="0"/>
                </a:rPr>
                <a:t>OSCORE (</a:t>
              </a:r>
              <a:r>
                <a:rPr lang="en-US" sz="2000" b="1">
                  <a:solidFill>
                    <a:srgbClr val="181818"/>
                  </a:solidFill>
                  <a:latin typeface="Ericsson Hilda"/>
                  <a:cs typeface="Arial" panose="020B0604020202020204" pitchFamily="34" charset="0"/>
                  <a:sym typeface="Hilda Light" panose="00000400000000000000" pitchFamily="50" charset="0"/>
                  <a:hlinkClick r:id="rId3"/>
                </a:rPr>
                <a:t>RFC8613</a:t>
              </a:r>
              <a:r>
                <a:rPr lang="en-US" sz="2000" b="1">
                  <a:solidFill>
                    <a:srgbClr val="181818"/>
                  </a:solidFill>
                  <a:latin typeface="Ericsson Hilda"/>
                  <a:cs typeface="Arial" panose="020B0604020202020204" pitchFamily="34" charset="0"/>
                  <a:sym typeface="Hilda Light" panose="00000400000000000000" pitchFamily="50" charset="0"/>
                </a:rPr>
                <a:t>)</a:t>
              </a: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Ericsson Hilda"/>
                <a:cs typeface="Arial" panose="020B0604020202020204" pitchFamily="34" charset="0"/>
                <a:sym typeface="Hilda Light" panose="00000400000000000000" pitchFamily="50" charset="0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9861767-B342-BD76-44C9-0903692E08DE}"/>
                </a:ext>
              </a:extLst>
            </p:cNvPr>
            <p:cNvCxnSpPr/>
            <p:nvPr/>
          </p:nvCxnSpPr>
          <p:spPr bwMode="auto">
            <a:xfrm>
              <a:off x="479424" y="1709056"/>
              <a:ext cx="11232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7E222BFD-8486-0B70-4515-F952093C9106}"/>
              </a:ext>
            </a:extLst>
          </p:cNvPr>
          <p:cNvSpPr txBox="1"/>
          <p:nvPr/>
        </p:nvSpPr>
        <p:spPr bwMode="auto">
          <a:xfrm>
            <a:off x="4434464" y="2024158"/>
            <a:ext cx="3369326" cy="1995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000" tIns="36000" rIns="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sz="1600" kern="1000" spc="-30">
                <a:solidFill>
                  <a:srgbClr val="181818"/>
                </a:solidFill>
                <a:latin typeface="Ericsson Hilda"/>
              </a:rPr>
              <a:t>– Application-layer protection of CoAP messages based on symmetric cryptography.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sz="1600" kern="1000" spc="-30">
                <a:solidFill>
                  <a:srgbClr val="181818"/>
                </a:solidFill>
                <a:latin typeface="Ericsson Hilda"/>
              </a:rPr>
              <a:t>– Offers an alternative -or additional- protection to that of lower layers of security (TLS, IPSEC, </a:t>
            </a:r>
            <a:r>
              <a:rPr lang="en-US" sz="1600" kern="1000" spc="-30" err="1">
                <a:solidFill>
                  <a:srgbClr val="181818"/>
                </a:solidFill>
                <a:latin typeface="Ericsson Hilda"/>
              </a:rPr>
              <a:t>etc</a:t>
            </a:r>
            <a:r>
              <a:rPr lang="en-US" sz="1600" kern="1000" spc="-30">
                <a:solidFill>
                  <a:srgbClr val="181818"/>
                </a:solidFill>
                <a:latin typeface="Ericsson Hilda"/>
              </a:rPr>
              <a:t>).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sz="1600" kern="1000" spc="-30">
                <a:solidFill>
                  <a:srgbClr val="181818"/>
                </a:solidFill>
                <a:latin typeface="Ericsson Hilda"/>
              </a:rPr>
              <a:t>–  Transport agnostic (it works wherever CoAP works). 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sz="1600" kern="1000" spc="-30">
                <a:solidFill>
                  <a:srgbClr val="181818"/>
                </a:solidFill>
                <a:latin typeface="Ericsson Hilda"/>
              </a:rPr>
              <a:t>–  End-to-end rather than hop-by-hop.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F567DC8-DCCE-914B-4947-9F926FEDC98D}"/>
              </a:ext>
            </a:extLst>
          </p:cNvPr>
          <p:cNvGrpSpPr/>
          <p:nvPr/>
        </p:nvGrpSpPr>
        <p:grpSpPr>
          <a:xfrm>
            <a:off x="584310" y="1631521"/>
            <a:ext cx="3516700" cy="318564"/>
            <a:chOff x="479423" y="1457208"/>
            <a:chExt cx="11232001" cy="25184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EDC577B-6240-C75A-BA68-4EC6EA3194F4}"/>
                </a:ext>
              </a:extLst>
            </p:cNvPr>
            <p:cNvSpPr/>
            <p:nvPr/>
          </p:nvSpPr>
          <p:spPr bwMode="auto">
            <a:xfrm>
              <a:off x="479423" y="1457208"/>
              <a:ext cx="11231999" cy="2459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dist="12700" dir="5400000" sx="99500" sy="99500" algn="t" rotWithShape="0">
                <a:schemeClr val="tx1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b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>
                  <a:solidFill>
                    <a:srgbClr val="181818"/>
                  </a:solidFill>
                  <a:latin typeface="Ericsson Hilda"/>
                  <a:cs typeface="Arial" panose="020B0604020202020204" pitchFamily="34" charset="0"/>
                  <a:sym typeface="Hilda Light" panose="00000400000000000000" pitchFamily="50" charset="0"/>
                </a:rPr>
                <a:t>Resource Directory (</a:t>
              </a:r>
              <a:r>
                <a:rPr lang="en-US" sz="2000" b="1">
                  <a:solidFill>
                    <a:srgbClr val="181818"/>
                  </a:solidFill>
                  <a:latin typeface="Ericsson Hilda"/>
                  <a:cs typeface="Arial" panose="020B0604020202020204" pitchFamily="34" charset="0"/>
                  <a:sym typeface="Hilda Light" panose="00000400000000000000" pitchFamily="50" charset="0"/>
                  <a:hlinkClick r:id="rId4"/>
                </a:rPr>
                <a:t>RFC9176</a:t>
              </a:r>
              <a:r>
                <a:rPr lang="en-US" sz="2000" b="1">
                  <a:solidFill>
                    <a:srgbClr val="181818"/>
                  </a:solidFill>
                  <a:latin typeface="Ericsson Hilda"/>
                  <a:cs typeface="Arial" panose="020B0604020202020204" pitchFamily="34" charset="0"/>
                  <a:sym typeface="Hilda Light" panose="00000400000000000000" pitchFamily="50" charset="0"/>
                </a:rPr>
                <a:t>)</a:t>
              </a: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Ericsson Hilda"/>
                <a:cs typeface="Arial" panose="020B0604020202020204" pitchFamily="34" charset="0"/>
                <a:sym typeface="Hilda Light" panose="00000400000000000000" pitchFamily="50" charset="0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36A037E-DBE2-EC85-4DDF-726113C2E220}"/>
                </a:ext>
              </a:extLst>
            </p:cNvPr>
            <p:cNvCxnSpPr/>
            <p:nvPr/>
          </p:nvCxnSpPr>
          <p:spPr bwMode="auto">
            <a:xfrm>
              <a:off x="479424" y="1709056"/>
              <a:ext cx="11232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C7650E0-C77B-FCB1-0127-089C3624B136}"/>
              </a:ext>
            </a:extLst>
          </p:cNvPr>
          <p:cNvSpPr txBox="1"/>
          <p:nvPr/>
        </p:nvSpPr>
        <p:spPr bwMode="auto">
          <a:xfrm>
            <a:off x="584309" y="2024159"/>
            <a:ext cx="3299462" cy="1456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000" tIns="36000" rIns="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sz="1600" kern="1000" spc="-30">
                <a:solidFill>
                  <a:srgbClr val="181818"/>
                </a:solidFill>
                <a:latin typeface="Ericsson Hilda"/>
              </a:rPr>
              <a:t>– A directory service for storing and retrieving links to endpoints and their resources. 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sz="1600" kern="1000" spc="-30">
                <a:solidFill>
                  <a:srgbClr val="181818"/>
                </a:solidFill>
                <a:latin typeface="Ericsson Hilda"/>
              </a:rPr>
              <a:t>- Extends CoAP web-linking to remove the discovery dependency on a constrained device.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B28EB1-13B3-7A9C-10C0-A2FB2C59BA69}"/>
              </a:ext>
            </a:extLst>
          </p:cNvPr>
          <p:cNvSpPr/>
          <p:nvPr/>
        </p:nvSpPr>
        <p:spPr>
          <a:xfrm>
            <a:off x="463854" y="4492944"/>
            <a:ext cx="750498" cy="5520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FI" sz="1100">
                <a:latin typeface="Courier New" panose="02070309020205020404" pitchFamily="49" charset="0"/>
                <a:cs typeface="Courier New" panose="02070309020205020404" pitchFamily="49" charset="0"/>
              </a:rPr>
              <a:t>oAP</a:t>
            </a:r>
            <a:r>
              <a:rPr lang="en-FI" sz="900">
                <a:latin typeface="Courier New" panose="02070309020205020404" pitchFamily="49" charset="0"/>
                <a:cs typeface="Courier New" panose="02070309020205020404" pitchFamily="49" charset="0"/>
              </a:rPr>
              <a:t> endpoint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280E99-B6F9-BA64-9CCD-B92E66C17D76}"/>
              </a:ext>
            </a:extLst>
          </p:cNvPr>
          <p:cNvSpPr/>
          <p:nvPr/>
        </p:nvSpPr>
        <p:spPr>
          <a:xfrm>
            <a:off x="2891111" y="4490068"/>
            <a:ext cx="750498" cy="5520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I" sz="1100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E961D0D-3F5D-C5BC-CDD9-6A2147FB9B77}"/>
              </a:ext>
            </a:extLst>
          </p:cNvPr>
          <p:cNvCxnSpPr/>
          <p:nvPr/>
        </p:nvCxnSpPr>
        <p:spPr>
          <a:xfrm>
            <a:off x="1286447" y="4441777"/>
            <a:ext cx="15268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D90C612-CD7E-698D-0A15-6D91EFD85E99}"/>
              </a:ext>
            </a:extLst>
          </p:cNvPr>
          <p:cNvCxnSpPr>
            <a:cxnSpLocks/>
          </p:cNvCxnSpPr>
          <p:nvPr/>
        </p:nvCxnSpPr>
        <p:spPr>
          <a:xfrm flipH="1">
            <a:off x="1279612" y="4704343"/>
            <a:ext cx="15142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339CD49-95A2-9308-3A58-EC5F184C5FB2}"/>
              </a:ext>
            </a:extLst>
          </p:cNvPr>
          <p:cNvSpPr txBox="1"/>
          <p:nvPr/>
        </p:nvSpPr>
        <p:spPr>
          <a:xfrm>
            <a:off x="1571881" y="4227011"/>
            <a:ext cx="106756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900">
                <a:latin typeface="Courier New" panose="02070309020205020404" pitchFamily="49" charset="0"/>
                <a:cs typeface="Courier New" panose="02070309020205020404" pitchFamily="49" charset="0"/>
              </a:rPr>
              <a:t>register</a:t>
            </a:r>
            <a:endParaRPr lang="en-FI" sz="9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D572B4-C5E7-4212-507C-E49F24666F16}"/>
              </a:ext>
            </a:extLst>
          </p:cNvPr>
          <p:cNvSpPr txBox="1"/>
          <p:nvPr/>
        </p:nvSpPr>
        <p:spPr>
          <a:xfrm>
            <a:off x="1170955" y="4481404"/>
            <a:ext cx="18430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You are here</a:t>
            </a:r>
            <a:r>
              <a:rPr lang="en-FI" sz="900">
                <a:latin typeface="Courier New" panose="02070309020205020404" pitchFamily="49" charset="0"/>
                <a:cs typeface="Courier New" panose="02070309020205020404" pitchFamily="49" charset="0"/>
              </a:rPr>
              <a:t> /rd/xyz</a:t>
            </a:r>
            <a:endParaRPr lang="en-FI" sz="9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317136-5949-FDBF-50B7-F0479601A229}"/>
              </a:ext>
            </a:extLst>
          </p:cNvPr>
          <p:cNvSpPr txBox="1"/>
          <p:nvPr/>
        </p:nvSpPr>
        <p:spPr>
          <a:xfrm>
            <a:off x="2831219" y="4228012"/>
            <a:ext cx="111770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000">
                <a:latin typeface="Courier New" panose="02070309020205020404" pitchFamily="49" charset="0"/>
                <a:cs typeface="Courier New" panose="02070309020205020404" pitchFamily="49" charset="0"/>
              </a:rPr>
              <a:t>IoT Device</a:t>
            </a:r>
            <a:endParaRPr lang="en-FI" sz="100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FE84086-ADEF-EA01-25E0-AEDA668D82A5}"/>
              </a:ext>
            </a:extLst>
          </p:cNvPr>
          <p:cNvCxnSpPr/>
          <p:nvPr/>
        </p:nvCxnSpPr>
        <p:spPr>
          <a:xfrm>
            <a:off x="1287120" y="4910945"/>
            <a:ext cx="15268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BBE267A-4F23-CE3F-E623-E8DB2539E0DC}"/>
              </a:ext>
            </a:extLst>
          </p:cNvPr>
          <p:cNvCxnSpPr>
            <a:cxnSpLocks/>
          </p:cNvCxnSpPr>
          <p:nvPr/>
        </p:nvCxnSpPr>
        <p:spPr>
          <a:xfrm flipH="1">
            <a:off x="1279612" y="5196248"/>
            <a:ext cx="15142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478DB89-0267-3B24-2E60-D35D44DC85D9}"/>
              </a:ext>
            </a:extLst>
          </p:cNvPr>
          <p:cNvSpPr txBox="1"/>
          <p:nvPr/>
        </p:nvSpPr>
        <p:spPr>
          <a:xfrm>
            <a:off x="1572554" y="4696179"/>
            <a:ext cx="106756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900">
                <a:latin typeface="Courier New" panose="02070309020205020404" pitchFamily="49" charset="0"/>
                <a:cs typeface="Courier New" panose="02070309020205020404" pitchFamily="49" charset="0"/>
              </a:rPr>
              <a:t>lookup</a:t>
            </a:r>
            <a:endParaRPr lang="en-FI" sz="9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77373A-24DC-43BD-DC43-3ECA9AE50F5C}"/>
              </a:ext>
            </a:extLst>
          </p:cNvPr>
          <p:cNvSpPr txBox="1"/>
          <p:nvPr/>
        </p:nvSpPr>
        <p:spPr>
          <a:xfrm>
            <a:off x="1170955" y="4962674"/>
            <a:ext cx="195885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Here is some endpoints</a:t>
            </a:r>
            <a:endParaRPr lang="en-FI" sz="9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F61386D-9FF4-8A97-9940-C2C27F15F8CC}"/>
              </a:ext>
            </a:extLst>
          </p:cNvPr>
          <p:cNvSpPr/>
          <p:nvPr/>
        </p:nvSpPr>
        <p:spPr>
          <a:xfrm>
            <a:off x="4318718" y="4730947"/>
            <a:ext cx="750498" cy="5520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I" sz="1100">
                <a:latin typeface="Courier New" panose="02070309020205020404" pitchFamily="49" charset="0"/>
                <a:cs typeface="Courier New" panose="02070309020205020404" pitchFamily="49" charset="0"/>
              </a:rPr>
              <a:t>client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2DC26AE-EE54-BEBE-F0E2-E7856CBF8F67}"/>
              </a:ext>
            </a:extLst>
          </p:cNvPr>
          <p:cNvSpPr/>
          <p:nvPr/>
        </p:nvSpPr>
        <p:spPr>
          <a:xfrm>
            <a:off x="6745975" y="4728071"/>
            <a:ext cx="750498" cy="5520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I" sz="1100">
                <a:latin typeface="Courier New" panose="02070309020205020404" pitchFamily="49" charset="0"/>
                <a:cs typeface="Courier New" panose="02070309020205020404" pitchFamily="49" charset="0"/>
              </a:rPr>
              <a:t>server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A5E6202-0351-4924-0EB4-B49E7B4EC05B}"/>
              </a:ext>
            </a:extLst>
          </p:cNvPr>
          <p:cNvCxnSpPr/>
          <p:nvPr/>
        </p:nvCxnSpPr>
        <p:spPr>
          <a:xfrm>
            <a:off x="5138228" y="4931695"/>
            <a:ext cx="15268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EF0FDBE-017E-FD9C-2CAE-B999D1112B95}"/>
              </a:ext>
            </a:extLst>
          </p:cNvPr>
          <p:cNvCxnSpPr>
            <a:cxnSpLocks/>
          </p:cNvCxnSpPr>
          <p:nvPr/>
        </p:nvCxnSpPr>
        <p:spPr>
          <a:xfrm flipH="1">
            <a:off x="5138228" y="5150766"/>
            <a:ext cx="15142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39A56354-D547-DDAA-D686-4ECAA8FD17B7}"/>
              </a:ext>
            </a:extLst>
          </p:cNvPr>
          <p:cNvSpPr txBox="1"/>
          <p:nvPr/>
        </p:nvSpPr>
        <p:spPr>
          <a:xfrm>
            <a:off x="5268306" y="4690594"/>
            <a:ext cx="14202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000">
                <a:latin typeface="Courier New" panose="02070309020205020404" pitchFamily="49" charset="0"/>
                <a:cs typeface="Courier New" panose="02070309020205020404" pitchFamily="49" charset="0"/>
              </a:rPr>
              <a:t>OSCORE request</a:t>
            </a:r>
            <a:endParaRPr lang="en-FI" sz="100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B9E9891-40BA-9D9F-E860-17AC856BF446}"/>
              </a:ext>
            </a:extLst>
          </p:cNvPr>
          <p:cNvSpPr txBox="1"/>
          <p:nvPr/>
        </p:nvSpPr>
        <p:spPr>
          <a:xfrm>
            <a:off x="5197162" y="5189642"/>
            <a:ext cx="16595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000">
                <a:latin typeface="Courier New" panose="02070309020205020404" pitchFamily="49" charset="0"/>
                <a:cs typeface="Courier New" panose="02070309020205020404" pitchFamily="49" charset="0"/>
              </a:rPr>
              <a:t>OSCORE response 2.04 (changed)</a:t>
            </a:r>
            <a:endParaRPr lang="en-FI" sz="100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02515A4-A0B1-5796-17F3-A2B783BFC112}"/>
              </a:ext>
            </a:extLst>
          </p:cNvPr>
          <p:cNvSpPr txBox="1"/>
          <p:nvPr/>
        </p:nvSpPr>
        <p:spPr>
          <a:xfrm>
            <a:off x="6686083" y="4466015"/>
            <a:ext cx="111770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000">
                <a:latin typeface="Courier New" panose="02070309020205020404" pitchFamily="49" charset="0"/>
                <a:cs typeface="Courier New" panose="02070309020205020404" pitchFamily="49" charset="0"/>
              </a:rPr>
              <a:t>IoT Device</a:t>
            </a:r>
            <a:endParaRPr lang="en-FI" sz="1000"/>
          </a:p>
        </p:txBody>
      </p:sp>
    </p:spTree>
    <p:extLst>
      <p:ext uri="{BB962C8B-B14F-4D97-AF65-F5344CB8AC3E}">
        <p14:creationId xmlns:p14="http://schemas.microsoft.com/office/powerpoint/2010/main" val="815524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5B9B059-9FDD-A3B2-FE6D-6B11D7D8A88D}"/>
              </a:ext>
            </a:extLst>
          </p:cNvPr>
          <p:cNvSpPr/>
          <p:nvPr/>
        </p:nvSpPr>
        <p:spPr>
          <a:xfrm>
            <a:off x="5320284" y="2758354"/>
            <a:ext cx="2093976" cy="843035"/>
          </a:xfrm>
          <a:prstGeom prst="rect">
            <a:avLst/>
          </a:prstGeom>
          <a:solidFill>
            <a:schemeClr val="accent6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FI" sz="1600">
                <a:latin typeface="Ericsson Hilda Light" pitchFamily="2" charset="0"/>
                <a:ea typeface="Hack Nerd Font" panose="020B0609030202020204" pitchFamily="49" charset="0"/>
                <a:cs typeface="Hack Nerd Font" panose="020B0609030202020204" pitchFamily="49" charset="0"/>
              </a:rPr>
              <a:t>OSCORE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C7B0C3-BBA0-C6FB-59E8-9433E95DC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FI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3CAAA28-F559-354F-AB37-87EC387942A5}" type="slidenum">
              <a:rPr lang="en-FI" smtClean="0"/>
              <a:pPr/>
              <a:t>5</a:t>
            </a:fld>
            <a:endParaRPr lang="en-FI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18FBE06-1E70-0948-8B64-3AE5951C5FF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4901" y="5510597"/>
            <a:ext cx="1195649" cy="6307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854B6E9-CCB8-9D34-7969-F9FA4C44C147}"/>
              </a:ext>
            </a:extLst>
          </p:cNvPr>
          <p:cNvSpPr/>
          <p:nvPr/>
        </p:nvSpPr>
        <p:spPr>
          <a:xfrm>
            <a:off x="1795275" y="3255701"/>
            <a:ext cx="5148070" cy="463322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2000">
                <a:latin typeface="Ericsson Hilda Light" pitchFamily="2" charset="0"/>
                <a:ea typeface="Hack Nerd Font" panose="020B0609030202020204" pitchFamily="49" charset="0"/>
                <a:cs typeface="Hack Nerd Font" panose="020B0609030202020204" pitchFamily="49" charset="0"/>
              </a:rPr>
              <a:t>CoAP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BE351A-B9A9-A3A6-7306-7B2C5AC49039}"/>
              </a:ext>
            </a:extLst>
          </p:cNvPr>
          <p:cNvSpPr/>
          <p:nvPr/>
        </p:nvSpPr>
        <p:spPr>
          <a:xfrm>
            <a:off x="2170176" y="3720261"/>
            <a:ext cx="2340864" cy="508498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FI" sz="1600">
                <a:latin typeface="Ericsson Hilda Light" pitchFamily="2" charset="0"/>
                <a:ea typeface="Hack Nerd Font" panose="020B0609030202020204" pitchFamily="49" charset="0"/>
                <a:cs typeface="Hack Nerd Font" panose="020B0609030202020204" pitchFamily="49" charset="0"/>
              </a:rPr>
              <a:t>UDP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DBA8-F714-2149-A02C-989872423790}"/>
              </a:ext>
            </a:extLst>
          </p:cNvPr>
          <p:cNvSpPr/>
          <p:nvPr/>
        </p:nvSpPr>
        <p:spPr>
          <a:xfrm>
            <a:off x="3221736" y="3720260"/>
            <a:ext cx="1289304" cy="281457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1600">
                <a:latin typeface="Ericsson Hilda Light" pitchFamily="2" charset="0"/>
                <a:ea typeface="Hack Nerd Font" panose="020B0609030202020204" pitchFamily="49" charset="0"/>
                <a:cs typeface="Hack Nerd Font" panose="020B0609030202020204" pitchFamily="49" charset="0"/>
              </a:rPr>
              <a:t>DTLS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0EB609-5DB4-18FC-0367-2DFA4CF190CC}"/>
              </a:ext>
            </a:extLst>
          </p:cNvPr>
          <p:cNvSpPr/>
          <p:nvPr/>
        </p:nvSpPr>
        <p:spPr>
          <a:xfrm>
            <a:off x="4511040" y="3720261"/>
            <a:ext cx="2432304" cy="508497"/>
          </a:xfrm>
          <a:prstGeom prst="rect">
            <a:avLst/>
          </a:prstGeom>
          <a:solidFill>
            <a:srgbClr val="008AC3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FI" sz="1600">
                <a:latin typeface="Ericsson Hilda Light" pitchFamily="2" charset="0"/>
                <a:ea typeface="Hack Nerd Font" panose="020B0609030202020204" pitchFamily="49" charset="0"/>
                <a:cs typeface="Hack Nerd Font" panose="020B0609030202020204" pitchFamily="49" charset="0"/>
              </a:rPr>
              <a:t>TCP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5D289D-4D06-5834-24AE-623CDF245E8D}"/>
              </a:ext>
            </a:extLst>
          </p:cNvPr>
          <p:cNvSpPr/>
          <p:nvPr/>
        </p:nvSpPr>
        <p:spPr>
          <a:xfrm>
            <a:off x="5654040" y="3720259"/>
            <a:ext cx="1289304" cy="281457"/>
          </a:xfrm>
          <a:prstGeom prst="rect">
            <a:avLst/>
          </a:prstGeom>
          <a:solidFill>
            <a:srgbClr val="008AC3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1600">
                <a:latin typeface="Ericsson Hilda Light" pitchFamily="2" charset="0"/>
                <a:ea typeface="Hack Nerd Font" panose="020B0609030202020204" pitchFamily="49" charset="0"/>
                <a:cs typeface="Hack Nerd Font" panose="020B0609030202020204" pitchFamily="49" charset="0"/>
              </a:rPr>
              <a:t>TLS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88332A-E8B8-F1D5-29D6-C036C437AB6F}"/>
              </a:ext>
            </a:extLst>
          </p:cNvPr>
          <p:cNvSpPr/>
          <p:nvPr/>
        </p:nvSpPr>
        <p:spPr>
          <a:xfrm>
            <a:off x="1795275" y="2758357"/>
            <a:ext cx="1429510" cy="497344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1600">
                <a:latin typeface="Ericsson Hilda Light" pitchFamily="2" charset="0"/>
                <a:ea typeface="Hack Nerd Font" panose="020B0609030202020204" pitchFamily="49" charset="0"/>
                <a:cs typeface="Hack Nerd Font" panose="020B0609030202020204" pitchFamily="49" charset="0"/>
              </a:rPr>
              <a:t>Links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B0FAB2-1A33-4DAA-F064-F9EDCDE1D8B0}"/>
              </a:ext>
            </a:extLst>
          </p:cNvPr>
          <p:cNvSpPr/>
          <p:nvPr/>
        </p:nvSpPr>
        <p:spPr>
          <a:xfrm>
            <a:off x="3221736" y="2758356"/>
            <a:ext cx="2093976" cy="497344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FI" sz="1600">
                <a:latin typeface="Ericsson Hilda Light" pitchFamily="2" charset="0"/>
                <a:ea typeface="Hack Nerd Font" panose="020B0609030202020204" pitchFamily="49" charset="0"/>
                <a:cs typeface="Hack Nerd Font" panose="020B0609030202020204" pitchFamily="49" charset="0"/>
              </a:rPr>
              <a:t>CBOR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7B2024-071D-5A53-BCFE-F49B751F3470}"/>
              </a:ext>
            </a:extLst>
          </p:cNvPr>
          <p:cNvSpPr/>
          <p:nvPr/>
        </p:nvSpPr>
        <p:spPr>
          <a:xfrm>
            <a:off x="3224784" y="2769281"/>
            <a:ext cx="1289304" cy="281457"/>
          </a:xfrm>
          <a:prstGeom prst="rect">
            <a:avLst/>
          </a:prstGeom>
          <a:solidFill>
            <a:srgbClr val="008AC3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1600">
                <a:latin typeface="Ericsson Hilda Light" pitchFamily="2" charset="0"/>
                <a:ea typeface="Hack Nerd Font" panose="020B0609030202020204" pitchFamily="49" charset="0"/>
                <a:cs typeface="Hack Nerd Font" panose="020B0609030202020204" pitchFamily="49" charset="0"/>
              </a:rPr>
              <a:t>SenML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27DEA0-ECEC-E832-ACB3-8088E34297D7}"/>
              </a:ext>
            </a:extLst>
          </p:cNvPr>
          <p:cNvSpPr/>
          <p:nvPr/>
        </p:nvSpPr>
        <p:spPr>
          <a:xfrm>
            <a:off x="2170176" y="4228758"/>
            <a:ext cx="3247674" cy="508498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1600">
                <a:latin typeface="Ericsson Hilda Light" pitchFamily="2" charset="0"/>
                <a:ea typeface="Hack Nerd Font" panose="020B0609030202020204" pitchFamily="49" charset="0"/>
                <a:cs typeface="Hack Nerd Font" panose="020B0609030202020204" pitchFamily="49" charset="0"/>
              </a:rPr>
              <a:t>IPv6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509CFA-73B4-81B3-AA01-A1CB248B5AA5}"/>
              </a:ext>
            </a:extLst>
          </p:cNvPr>
          <p:cNvSpPr/>
          <p:nvPr/>
        </p:nvSpPr>
        <p:spPr>
          <a:xfrm>
            <a:off x="5417850" y="4228758"/>
            <a:ext cx="1525494" cy="508498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1600">
                <a:latin typeface="Ericsson Hilda Light" pitchFamily="2" charset="0"/>
                <a:ea typeface="Hack Nerd Font" panose="020B0609030202020204" pitchFamily="49" charset="0"/>
                <a:cs typeface="Hack Nerd Font" panose="020B0609030202020204" pitchFamily="49" charset="0"/>
              </a:rPr>
              <a:t>IPv6 / v4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330708-5521-FF77-3E51-C80A50ABF7BA}"/>
              </a:ext>
            </a:extLst>
          </p:cNvPr>
          <p:cNvSpPr/>
          <p:nvPr/>
        </p:nvSpPr>
        <p:spPr>
          <a:xfrm rot="16200000">
            <a:off x="5147601" y="5008740"/>
            <a:ext cx="1048996" cy="508498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1600">
                <a:latin typeface="Ericsson Hilda Light" pitchFamily="2" charset="0"/>
                <a:ea typeface="Hack Nerd Font" panose="020B0609030202020204" pitchFamily="49" charset="0"/>
                <a:cs typeface="Hack Nerd Font" panose="020B0609030202020204" pitchFamily="49" charset="0"/>
              </a:rPr>
              <a:t>Wired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6CA4E7-D74A-E8DE-79BD-81B1AE2905CF}"/>
              </a:ext>
            </a:extLst>
          </p:cNvPr>
          <p:cNvSpPr/>
          <p:nvPr/>
        </p:nvSpPr>
        <p:spPr>
          <a:xfrm rot="16200000">
            <a:off x="5656099" y="5008738"/>
            <a:ext cx="1048996" cy="508498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1600">
                <a:latin typeface="Ericsson Hilda Light" pitchFamily="2" charset="0"/>
                <a:ea typeface="Hack Nerd Font" panose="020B0609030202020204" pitchFamily="49" charset="0"/>
                <a:cs typeface="Hack Nerd Font" panose="020B0609030202020204" pitchFamily="49" charset="0"/>
              </a:rPr>
              <a:t>Wifi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92F3E50-3E21-CFBD-D2D8-CD6B942258B8}"/>
              </a:ext>
            </a:extLst>
          </p:cNvPr>
          <p:cNvSpPr/>
          <p:nvPr/>
        </p:nvSpPr>
        <p:spPr>
          <a:xfrm rot="16200000">
            <a:off x="6164597" y="5007505"/>
            <a:ext cx="1048996" cy="508498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1600">
                <a:latin typeface="Ericsson Hilda Light" pitchFamily="2" charset="0"/>
                <a:ea typeface="Hack Nerd Font" panose="020B0609030202020204" pitchFamily="49" charset="0"/>
                <a:cs typeface="Hack Nerd Font" panose="020B0609030202020204" pitchFamily="49" charset="0"/>
              </a:rPr>
              <a:t>Cellular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EC4979-4AD0-AC58-BEB2-A9194AB91D72}"/>
              </a:ext>
            </a:extLst>
          </p:cNvPr>
          <p:cNvSpPr/>
          <p:nvPr/>
        </p:nvSpPr>
        <p:spPr>
          <a:xfrm rot="16200000">
            <a:off x="4639103" y="5007505"/>
            <a:ext cx="1048996" cy="508498"/>
          </a:xfrm>
          <a:prstGeom prst="rect">
            <a:avLst/>
          </a:prstGeom>
          <a:solidFill>
            <a:srgbClr val="008AC3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1600">
                <a:latin typeface="Ericsson Hilda Light" pitchFamily="2" charset="0"/>
                <a:ea typeface="Hack Nerd Font" panose="020B0609030202020204" pitchFamily="49" charset="0"/>
                <a:cs typeface="Hack Nerd Font" panose="020B0609030202020204" pitchFamily="49" charset="0"/>
              </a:rPr>
              <a:t>LoRa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DCF1B48-A8A6-8A0C-6C4D-2B23766DD10B}"/>
              </a:ext>
            </a:extLst>
          </p:cNvPr>
          <p:cNvSpPr/>
          <p:nvPr/>
        </p:nvSpPr>
        <p:spPr>
          <a:xfrm>
            <a:off x="2170176" y="4736019"/>
            <a:ext cx="2739176" cy="540499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1600">
                <a:latin typeface="Ericsson Hilda Light" pitchFamily="2" charset="0"/>
                <a:ea typeface="Hack Nerd Font" panose="020B0609030202020204" pitchFamily="49" charset="0"/>
                <a:cs typeface="Hack Nerd Font" panose="020B0609030202020204" pitchFamily="49" charset="0"/>
              </a:rPr>
              <a:t>6lo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42A0202-8A84-35D9-EC75-6AFA1B2A56EF}"/>
              </a:ext>
            </a:extLst>
          </p:cNvPr>
          <p:cNvSpPr/>
          <p:nvPr/>
        </p:nvSpPr>
        <p:spPr>
          <a:xfrm>
            <a:off x="2170176" y="5277754"/>
            <a:ext cx="961109" cy="508498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1600">
                <a:latin typeface="Ericsson Hilda Light" pitchFamily="2" charset="0"/>
                <a:ea typeface="Hack Nerd Font" panose="020B0609030202020204" pitchFamily="49" charset="0"/>
                <a:cs typeface="Hack Nerd Font" panose="020B0609030202020204" pitchFamily="49" charset="0"/>
              </a:rPr>
              <a:t>802.15.4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5CE039-8EA2-8BC9-0C80-2C4AB2BA9757}"/>
              </a:ext>
            </a:extLst>
          </p:cNvPr>
          <p:cNvSpPr/>
          <p:nvPr/>
        </p:nvSpPr>
        <p:spPr>
          <a:xfrm rot="16200000">
            <a:off x="4162656" y="-1060770"/>
            <a:ext cx="1152262" cy="587046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FI" sz="1200">
                <a:latin typeface="Ericsson Hilda Light" pitchFamily="2" charset="0"/>
                <a:ea typeface="Hack Nerd Font" panose="020B0609030202020204" pitchFamily="49" charset="0"/>
                <a:cs typeface="Hack Nerd Font" panose="020B0609030202020204" pitchFamily="49" charset="0"/>
              </a:rPr>
              <a:t>Custom </a:t>
            </a:r>
          </a:p>
          <a:p>
            <a:pPr algn="ctr"/>
            <a:r>
              <a:rPr lang="en-FI" sz="1200">
                <a:latin typeface="Ericsson Hilda Light" pitchFamily="2" charset="0"/>
                <a:ea typeface="Hack Nerd Font" panose="020B0609030202020204" pitchFamily="49" charset="0"/>
                <a:cs typeface="Hack Nerd Font" panose="020B0609030202020204" pitchFamily="49" charset="0"/>
              </a:rPr>
              <a:t>Apps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D1234EF-4880-508A-6527-065202968788}"/>
              </a:ext>
            </a:extLst>
          </p:cNvPr>
          <p:cNvSpPr/>
          <p:nvPr/>
        </p:nvSpPr>
        <p:spPr>
          <a:xfrm rot="16200000">
            <a:off x="1875628" y="1741637"/>
            <a:ext cx="1048996" cy="364206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1200">
                <a:latin typeface="Ericsson Hilda Light" pitchFamily="2" charset="0"/>
                <a:ea typeface="Hack Nerd Font" panose="020B0609030202020204" pitchFamily="49" charset="0"/>
                <a:cs typeface="Hack Nerd Font" panose="020B0609030202020204" pitchFamily="49" charset="0"/>
              </a:rPr>
              <a:t>discovery</a:t>
            </a:r>
            <a:endParaRPr lang="en-FI" sz="1600">
              <a:latin typeface="Ericsson Hilda Light" pitchFamily="2" charset="0"/>
              <a:ea typeface="Hack Nerd Font" panose="020B0609030202020204" pitchFamily="49" charset="0"/>
              <a:cs typeface="Hack Nerd Font" panose="020B0609030202020204" pitchFamily="49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58BE33B-989E-D0D2-A1E8-9EA89D93C6AD}"/>
              </a:ext>
            </a:extLst>
          </p:cNvPr>
          <p:cNvSpPr/>
          <p:nvPr/>
        </p:nvSpPr>
        <p:spPr>
          <a:xfrm rot="16200000">
            <a:off x="2247412" y="1738140"/>
            <a:ext cx="1042005" cy="364206"/>
          </a:xfrm>
          <a:prstGeom prst="rect">
            <a:avLst/>
          </a:prstGeom>
          <a:solidFill>
            <a:schemeClr val="accent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1100">
                <a:latin typeface="Ericsson Hilda Light" pitchFamily="2" charset="0"/>
                <a:ea typeface="Hack Nerd Font" panose="020B0609030202020204" pitchFamily="49" charset="0"/>
                <a:cs typeface="Hack Nerd Font" panose="020B0609030202020204" pitchFamily="49" charset="0"/>
              </a:rPr>
              <a:t>interfaces</a:t>
            </a:r>
            <a:endParaRPr lang="en-FI" sz="1400">
              <a:latin typeface="Ericsson Hilda Light" pitchFamily="2" charset="0"/>
              <a:ea typeface="Hack Nerd Font" panose="020B0609030202020204" pitchFamily="49" charset="0"/>
              <a:cs typeface="Hack Nerd Font" panose="020B0609030202020204" pitchFamily="49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C26F8EB-BA92-BC9C-F2A4-B737A84AD2B5}"/>
              </a:ext>
            </a:extLst>
          </p:cNvPr>
          <p:cNvSpPr/>
          <p:nvPr/>
        </p:nvSpPr>
        <p:spPr>
          <a:xfrm rot="16200000">
            <a:off x="2605366" y="1741637"/>
            <a:ext cx="1048996" cy="364206"/>
          </a:xfrm>
          <a:prstGeom prst="rect">
            <a:avLst/>
          </a:prstGeom>
          <a:solidFill>
            <a:schemeClr val="accent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1200">
                <a:latin typeface="Ericsson Hilda Light" pitchFamily="2" charset="0"/>
                <a:ea typeface="Hack Nerd Font" panose="020B0609030202020204" pitchFamily="49" charset="0"/>
                <a:cs typeface="Hack Nerd Font" panose="020B0609030202020204" pitchFamily="49" charset="0"/>
              </a:rPr>
              <a:t>Pubsub</a:t>
            </a:r>
            <a:endParaRPr lang="en-FI" sz="1600">
              <a:latin typeface="Ericsson Hilda Light" pitchFamily="2" charset="0"/>
              <a:ea typeface="Hack Nerd Font" panose="020B0609030202020204" pitchFamily="49" charset="0"/>
              <a:cs typeface="Hack Nerd Font" panose="020B0609030202020204" pitchFamily="49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F715D17-0E19-D41C-2A08-5E4A5A50662E}"/>
              </a:ext>
            </a:extLst>
          </p:cNvPr>
          <p:cNvSpPr/>
          <p:nvPr/>
        </p:nvSpPr>
        <p:spPr>
          <a:xfrm rot="16200000">
            <a:off x="2966813" y="1748078"/>
            <a:ext cx="1048998" cy="364206"/>
          </a:xfrm>
          <a:prstGeom prst="rect">
            <a:avLst/>
          </a:prstGeom>
          <a:solidFill>
            <a:srgbClr val="90C027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1200">
                <a:latin typeface="Ericsson Hilda Light" pitchFamily="2" charset="0"/>
                <a:ea typeface="Hack Nerd Font" panose="020B0609030202020204" pitchFamily="49" charset="0"/>
                <a:cs typeface="Hack Nerd Font" panose="020B0609030202020204" pitchFamily="49" charset="0"/>
              </a:rPr>
              <a:t>CoREConf</a:t>
            </a:r>
            <a:endParaRPr lang="en-FI" sz="1600">
              <a:latin typeface="Ericsson Hilda Light" pitchFamily="2" charset="0"/>
              <a:ea typeface="Hack Nerd Font" panose="020B0609030202020204" pitchFamily="49" charset="0"/>
              <a:cs typeface="Hack Nerd Font" panose="020B0609030202020204" pitchFamily="49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34C9317-BBBF-2B93-E71A-A3F84C7BA49B}"/>
              </a:ext>
            </a:extLst>
          </p:cNvPr>
          <p:cNvSpPr/>
          <p:nvPr/>
        </p:nvSpPr>
        <p:spPr>
          <a:xfrm rot="16200000">
            <a:off x="3522010" y="1550647"/>
            <a:ext cx="1048996" cy="746185"/>
          </a:xfrm>
          <a:prstGeom prst="rect">
            <a:avLst/>
          </a:prstGeom>
          <a:solidFill>
            <a:srgbClr val="90C027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FI" sz="1200">
                <a:latin typeface="Ericsson Hilda Light" pitchFamily="2" charset="0"/>
                <a:ea typeface="Hack Nerd Font" panose="020B0609030202020204" pitchFamily="49" charset="0"/>
                <a:cs typeface="Hack Nerd Font" panose="020B0609030202020204" pitchFamily="49" charset="0"/>
              </a:rPr>
              <a:t>Resource Directory</a:t>
            </a:r>
            <a:endParaRPr lang="en-FI" sz="1600">
              <a:latin typeface="Ericsson Hilda Light" pitchFamily="2" charset="0"/>
              <a:ea typeface="Hack Nerd Font" panose="020B0609030202020204" pitchFamily="49" charset="0"/>
              <a:cs typeface="Hack Nerd Font" panose="020B0609030202020204" pitchFamily="49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E5468E7-4BFF-0600-D93B-18D3DC06D523}"/>
              </a:ext>
            </a:extLst>
          </p:cNvPr>
          <p:cNvSpPr/>
          <p:nvPr/>
        </p:nvSpPr>
        <p:spPr>
          <a:xfrm rot="16200000">
            <a:off x="4030596" y="1566846"/>
            <a:ext cx="797850" cy="455646"/>
          </a:xfrm>
          <a:prstGeom prst="rect">
            <a:avLst/>
          </a:prstGeom>
          <a:solidFill>
            <a:srgbClr val="008AC3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1200">
                <a:latin typeface="Ericsson Hilda Light" pitchFamily="2" charset="0"/>
                <a:ea typeface="Hack Nerd Font" panose="020B0609030202020204" pitchFamily="49" charset="0"/>
                <a:cs typeface="Hack Nerd Font" panose="020B0609030202020204" pitchFamily="49" charset="0"/>
              </a:rPr>
              <a:t>LwM2M</a:t>
            </a:r>
            <a:endParaRPr lang="en-FI" sz="1600">
              <a:latin typeface="Ericsson Hilda Light" pitchFamily="2" charset="0"/>
              <a:ea typeface="Hack Nerd Font" panose="020B0609030202020204" pitchFamily="49" charset="0"/>
              <a:cs typeface="Hack Nerd Font" panose="020B0609030202020204" pitchFamily="49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D669688-797B-BB01-8871-8B669C690B4A}"/>
              </a:ext>
            </a:extLst>
          </p:cNvPr>
          <p:cNvSpPr/>
          <p:nvPr/>
        </p:nvSpPr>
        <p:spPr>
          <a:xfrm rot="16200000">
            <a:off x="4573879" y="1961630"/>
            <a:ext cx="1470561" cy="364206"/>
          </a:xfrm>
          <a:prstGeom prst="rect">
            <a:avLst/>
          </a:prstGeom>
          <a:solidFill>
            <a:srgbClr val="90C027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1200">
                <a:latin typeface="Ericsson Hilda Light" pitchFamily="2" charset="0"/>
                <a:ea typeface="Hack Nerd Font" panose="020B0609030202020204" pitchFamily="49" charset="0"/>
                <a:cs typeface="Hack Nerd Font" panose="020B0609030202020204" pitchFamily="49" charset="0"/>
              </a:rPr>
              <a:t>EDHOC</a:t>
            </a:r>
            <a:endParaRPr lang="en-FI" sz="1600">
              <a:latin typeface="Ericsson Hilda Light" pitchFamily="2" charset="0"/>
              <a:ea typeface="Hack Nerd Font" panose="020B0609030202020204" pitchFamily="49" charset="0"/>
              <a:cs typeface="Hack Nerd Font" panose="020B0609030202020204" pitchFamily="49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5A2886E-186A-F272-5B74-8470C6A5E876}"/>
              </a:ext>
            </a:extLst>
          </p:cNvPr>
          <p:cNvSpPr/>
          <p:nvPr/>
        </p:nvSpPr>
        <p:spPr>
          <a:xfrm rot="16200000">
            <a:off x="5524437" y="1749890"/>
            <a:ext cx="1048996" cy="364206"/>
          </a:xfrm>
          <a:prstGeom prst="rect">
            <a:avLst/>
          </a:prstGeom>
          <a:solidFill>
            <a:srgbClr val="90C027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1200">
                <a:latin typeface="Ericsson Hilda Light" pitchFamily="2" charset="0"/>
                <a:ea typeface="Hack Nerd Font" panose="020B0609030202020204" pitchFamily="49" charset="0"/>
                <a:cs typeface="Hack Nerd Font" panose="020B0609030202020204" pitchFamily="49" charset="0"/>
              </a:rPr>
              <a:t>ACE</a:t>
            </a:r>
            <a:endParaRPr lang="en-FI" sz="1600">
              <a:latin typeface="Ericsson Hilda Light" pitchFamily="2" charset="0"/>
              <a:ea typeface="Hack Nerd Font" panose="020B0609030202020204" pitchFamily="49" charset="0"/>
              <a:cs typeface="Hack Nerd Font" panose="020B0609030202020204" pitchFamily="49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3DE454F-C905-7534-FDF0-E301225EB8E3}"/>
              </a:ext>
            </a:extLst>
          </p:cNvPr>
          <p:cNvSpPr/>
          <p:nvPr/>
        </p:nvSpPr>
        <p:spPr>
          <a:xfrm rot="16200000">
            <a:off x="5888643" y="1758015"/>
            <a:ext cx="1048996" cy="364206"/>
          </a:xfrm>
          <a:prstGeom prst="rect">
            <a:avLst/>
          </a:prstGeom>
          <a:solidFill>
            <a:schemeClr val="accent6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1200">
                <a:latin typeface="Ericsson Hilda Light" pitchFamily="2" charset="0"/>
                <a:ea typeface="Hack Nerd Font" panose="020B0609030202020204" pitchFamily="49" charset="0"/>
                <a:cs typeface="Hack Nerd Font" panose="020B0609030202020204" pitchFamily="49" charset="0"/>
              </a:rPr>
              <a:t>SUIT</a:t>
            </a:r>
            <a:endParaRPr lang="en-FI" sz="1600">
              <a:latin typeface="Ericsson Hilda Light" pitchFamily="2" charset="0"/>
              <a:ea typeface="Hack Nerd Font" panose="020B0609030202020204" pitchFamily="49" charset="0"/>
              <a:cs typeface="Hack Nerd Font" panose="020B0609030202020204" pitchFamily="49" charset="0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F8E8CF19-EC19-5A98-BFA1-C5722590FA51}"/>
              </a:ext>
            </a:extLst>
          </p:cNvPr>
          <p:cNvSpPr/>
          <p:nvPr/>
        </p:nvSpPr>
        <p:spPr>
          <a:xfrm>
            <a:off x="8995816" y="1298328"/>
            <a:ext cx="364206" cy="4487923"/>
          </a:xfrm>
          <a:prstGeom prst="roundRect">
            <a:avLst>
              <a:gd name="adj" fmla="val 22381"/>
            </a:avLst>
          </a:prstGeom>
          <a:gradFill flip="none" rotWithShape="1">
            <a:gsLst>
              <a:gs pos="0">
                <a:schemeClr val="accent2"/>
              </a:gs>
              <a:gs pos="53000">
                <a:schemeClr val="accent6"/>
              </a:gs>
              <a:gs pos="9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>
              <a:latin typeface="Ericsson Hilda Light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53EC25-9213-0C2D-E648-FE9093928CDF}"/>
              </a:ext>
            </a:extLst>
          </p:cNvPr>
          <p:cNvSpPr txBox="1"/>
          <p:nvPr/>
        </p:nvSpPr>
        <p:spPr>
          <a:xfrm>
            <a:off x="8266632" y="1222107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>
                <a:latin typeface="Ericsson Hilda Light" pitchFamily="2" charset="0"/>
              </a:rPr>
              <a:t>WG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6CFA54-532B-6A8C-DA2D-48D35F05488D}"/>
              </a:ext>
            </a:extLst>
          </p:cNvPr>
          <p:cNvSpPr txBox="1"/>
          <p:nvPr/>
        </p:nvSpPr>
        <p:spPr>
          <a:xfrm>
            <a:off x="8191484" y="1539756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>
                <a:latin typeface="Ericsson Hilda Light" pitchFamily="2" charset="0"/>
              </a:rPr>
              <a:t>IETF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43FF8F2-EA9A-C8E3-756E-E87296C8877F}"/>
              </a:ext>
            </a:extLst>
          </p:cNvPr>
          <p:cNvSpPr txBox="1"/>
          <p:nvPr/>
        </p:nvSpPr>
        <p:spPr>
          <a:xfrm>
            <a:off x="8102965" y="1923467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>
                <a:latin typeface="Ericsson Hilda Light" pitchFamily="2" charset="0"/>
              </a:rPr>
              <a:t>2023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CE1B8B0-8AD8-25CF-6F07-F05A82EA328D}"/>
              </a:ext>
            </a:extLst>
          </p:cNvPr>
          <p:cNvSpPr txBox="1"/>
          <p:nvPr/>
        </p:nvSpPr>
        <p:spPr>
          <a:xfrm>
            <a:off x="8111334" y="5418148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>
                <a:latin typeface="Ericsson Hilda Light" pitchFamily="2" charset="0"/>
              </a:rPr>
              <a:t>2014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E2C5AD9-3584-D32E-D73D-93E187D8E343}"/>
              </a:ext>
            </a:extLst>
          </p:cNvPr>
          <p:cNvSpPr txBox="1"/>
          <p:nvPr/>
        </p:nvSpPr>
        <p:spPr>
          <a:xfrm>
            <a:off x="8086698" y="3605176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>
                <a:latin typeface="Ericsson Hilda Light" pitchFamily="2" charset="0"/>
              </a:rPr>
              <a:t>2018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50ED748-D7F4-4D78-B403-08EE884CAEA9}"/>
              </a:ext>
            </a:extLst>
          </p:cNvPr>
          <p:cNvCxnSpPr/>
          <p:nvPr/>
        </p:nvCxnSpPr>
        <p:spPr>
          <a:xfrm>
            <a:off x="8111334" y="2300603"/>
            <a:ext cx="884482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5457791-002C-B073-DBB2-7BA7BF976A83}"/>
              </a:ext>
            </a:extLst>
          </p:cNvPr>
          <p:cNvCxnSpPr/>
          <p:nvPr/>
        </p:nvCxnSpPr>
        <p:spPr>
          <a:xfrm>
            <a:off x="8091002" y="3974509"/>
            <a:ext cx="884482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18AA8EA-060D-64EF-955F-6A97F948B5FE}"/>
              </a:ext>
            </a:extLst>
          </p:cNvPr>
          <p:cNvCxnSpPr/>
          <p:nvPr/>
        </p:nvCxnSpPr>
        <p:spPr>
          <a:xfrm>
            <a:off x="8140675" y="5801859"/>
            <a:ext cx="884482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298838FA-5609-0168-2292-D02339D8C64E}"/>
              </a:ext>
            </a:extLst>
          </p:cNvPr>
          <p:cNvSpPr/>
          <p:nvPr/>
        </p:nvSpPr>
        <p:spPr>
          <a:xfrm rot="16200000">
            <a:off x="958719" y="4556588"/>
            <a:ext cx="2066217" cy="393107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1600">
                <a:latin typeface="Ericsson Hilda Light" pitchFamily="2" charset="0"/>
                <a:ea typeface="Hack Nerd Font" panose="020B0609030202020204" pitchFamily="49" charset="0"/>
                <a:cs typeface="Hack Nerd Font" panose="020B0609030202020204" pitchFamily="49" charset="0"/>
              </a:rPr>
              <a:t>Cellular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3BEDF56-737A-ACF6-2061-CE0345828945}"/>
              </a:ext>
            </a:extLst>
          </p:cNvPr>
          <p:cNvSpPr/>
          <p:nvPr/>
        </p:nvSpPr>
        <p:spPr>
          <a:xfrm>
            <a:off x="3131285" y="5278194"/>
            <a:ext cx="835163" cy="508498"/>
          </a:xfrm>
          <a:prstGeom prst="rect">
            <a:avLst/>
          </a:prstGeom>
          <a:solidFill>
            <a:srgbClr val="008AC3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1600">
                <a:latin typeface="Ericsson Hilda Light" pitchFamily="2" charset="0"/>
                <a:ea typeface="Hack Nerd Font" panose="020B0609030202020204" pitchFamily="49" charset="0"/>
                <a:cs typeface="Hack Nerd Font" panose="020B0609030202020204" pitchFamily="49" charset="0"/>
              </a:rPr>
              <a:t> BLE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1753F40-6D60-E61B-B71B-9612275E32B4}"/>
              </a:ext>
            </a:extLst>
          </p:cNvPr>
          <p:cNvSpPr/>
          <p:nvPr/>
        </p:nvSpPr>
        <p:spPr>
          <a:xfrm>
            <a:off x="3966448" y="5275280"/>
            <a:ext cx="943620" cy="50849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1600">
                <a:latin typeface="Ericsson Hilda Light" pitchFamily="2" charset="0"/>
                <a:ea typeface="Hack Nerd Font" panose="020B0609030202020204" pitchFamily="49" charset="0"/>
                <a:cs typeface="Hack Nerd Font" panose="020B0609030202020204" pitchFamily="49" charset="0"/>
              </a:rPr>
              <a:t>NFC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F078CB-31E5-4712-2B0A-71E4985F56AD}"/>
              </a:ext>
            </a:extLst>
          </p:cNvPr>
          <p:cNvSpPr/>
          <p:nvPr/>
        </p:nvSpPr>
        <p:spPr>
          <a:xfrm rot="16200000">
            <a:off x="4943767" y="1961822"/>
            <a:ext cx="1470561" cy="364206"/>
          </a:xfrm>
          <a:prstGeom prst="rect">
            <a:avLst/>
          </a:prstGeom>
          <a:solidFill>
            <a:srgbClr val="90C027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1200">
                <a:latin typeface="Ericsson Hilda Light" pitchFamily="2" charset="0"/>
                <a:ea typeface="Hack Nerd Font" panose="020B0609030202020204" pitchFamily="49" charset="0"/>
                <a:cs typeface="Hack Nerd Font" panose="020B0609030202020204" pitchFamily="49" charset="0"/>
              </a:rPr>
              <a:t>COSE</a:t>
            </a:r>
            <a:endParaRPr lang="en-FI" sz="1600">
              <a:latin typeface="Ericsson Hilda Light" pitchFamily="2" charset="0"/>
              <a:ea typeface="Hack Nerd Font" panose="020B0609030202020204" pitchFamily="49" charset="0"/>
              <a:cs typeface="Hack Nerd Font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2510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36DB8-1DD4-43C1-AE09-31397DC58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41" y="312367"/>
            <a:ext cx="10743628" cy="846795"/>
          </a:xfrm>
        </p:spPr>
        <p:txBody>
          <a:bodyPr>
            <a:normAutofit/>
          </a:bodyPr>
          <a:lstStyle/>
          <a:p>
            <a:r>
              <a:rPr lang="en-US">
                <a:latin typeface="Ericsson Hilda" pitchFamily="2" charset="0"/>
              </a:rPr>
              <a:t>Where is CoAP present today </a:t>
            </a:r>
            <a:r>
              <a:rPr lang="en-US" sz="2800" i="1">
                <a:solidFill>
                  <a:srgbClr val="181818"/>
                </a:solidFill>
                <a:latin typeface="Ericsson Hilda" pitchFamily="2" charset="0"/>
                <a:cs typeface="Arial" panose="020B0604020202020204" pitchFamily="34" charset="0"/>
                <a:sym typeface="Hilda Light" panose="00000400000000000000" pitchFamily="50" charset="0"/>
              </a:rPr>
              <a:t>(that I know of)</a:t>
            </a:r>
            <a:endParaRPr lang="en-US" i="1">
              <a:latin typeface="Ericsson Hilda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78FADA-9566-30E9-AF8C-D16CD608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FI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3CAAA28-F559-354F-AB37-87EC387942A5}" type="slidenum">
              <a:rPr lang="en-FI" smtClean="0"/>
              <a:pPr/>
              <a:t>6</a:t>
            </a:fld>
            <a:endParaRPr lang="en-FI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7650E0-C77B-FCB1-0127-089C3624B136}"/>
              </a:ext>
            </a:extLst>
          </p:cNvPr>
          <p:cNvSpPr txBox="1"/>
          <p:nvPr/>
        </p:nvSpPr>
        <p:spPr bwMode="auto">
          <a:xfrm>
            <a:off x="538439" y="1868883"/>
            <a:ext cx="3733900" cy="1728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000" tIns="36000" rIns="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kern="1000" spc="-30">
                <a:solidFill>
                  <a:srgbClr val="181818"/>
                </a:solidFill>
                <a:latin typeface="Ericsson Hilda Light" pitchFamily="2" charset="0"/>
              </a:rPr>
              <a:t>- </a:t>
            </a:r>
            <a:r>
              <a:rPr lang="en-US" sz="1800">
                <a:solidFill>
                  <a:srgbClr val="181818"/>
                </a:solidFill>
                <a:latin typeface="Ericsson Hilda Light" pitchFamily="2" charset="0"/>
                <a:cs typeface="Arial" panose="020B0604020202020204" pitchFamily="34" charset="0"/>
                <a:sym typeface="Hilda Light" panose="00000400000000000000" pitchFamily="50" charset="0"/>
                <a:hlinkClick r:id="rId3"/>
              </a:rPr>
              <a:t>coap.space/impls</a:t>
            </a:r>
            <a:br>
              <a:rPr lang="en-US" kern="1000" spc="-30">
                <a:solidFill>
                  <a:srgbClr val="181818"/>
                </a:solidFill>
                <a:latin typeface="Ericsson Hilda Light" pitchFamily="2" charset="0"/>
              </a:rPr>
            </a:br>
            <a:r>
              <a:rPr lang="en-US" kern="1000" spc="-30">
                <a:solidFill>
                  <a:srgbClr val="181818"/>
                </a:solidFill>
                <a:latin typeface="Ericsson Hilda Light" pitchFamily="2" charset="0"/>
              </a:rPr>
              <a:t>- 20+ Open-Source implementations available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kern="1000" spc="-30">
                <a:solidFill>
                  <a:srgbClr val="181818"/>
                </a:solidFill>
                <a:latin typeface="Ericsson Hilda Light" pitchFamily="2" charset="0"/>
              </a:rPr>
              <a:t>- dozens of languages and platforms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endParaRPr lang="en-US" kern="1000" spc="-30">
              <a:solidFill>
                <a:srgbClr val="181818"/>
              </a:solidFill>
              <a:latin typeface="Ericsson Hilda Light" pitchFamily="2" charset="0"/>
            </a:endParaRP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endParaRPr lang="en-US" kern="1000" spc="-30">
              <a:solidFill>
                <a:srgbClr val="181818"/>
              </a:solidFill>
              <a:latin typeface="Ericsson Hilda Light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1A5616-B7F2-A891-6652-CB618B1159FD}"/>
              </a:ext>
            </a:extLst>
          </p:cNvPr>
          <p:cNvSpPr txBox="1"/>
          <p:nvPr/>
        </p:nvSpPr>
        <p:spPr bwMode="auto">
          <a:xfrm>
            <a:off x="599944" y="3983941"/>
            <a:ext cx="3299462" cy="1456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000" tIns="36000" rIns="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kern="1000" spc="-30">
                <a:solidFill>
                  <a:srgbClr val="181818"/>
                </a:solidFill>
                <a:latin typeface="Ericsson Hilda Light" pitchFamily="2" charset="0"/>
              </a:rPr>
              <a:t>- </a:t>
            </a:r>
            <a:r>
              <a:rPr lang="en-US" err="1">
                <a:solidFill>
                  <a:srgbClr val="181818"/>
                </a:solidFill>
                <a:latin typeface="Ericsson Hilda Light" pitchFamily="2" charset="0"/>
                <a:cs typeface="Arial" panose="020B0604020202020204" pitchFamily="34" charset="0"/>
                <a:sym typeface="Hilda Light" panose="00000400000000000000" pitchFamily="50" charset="0"/>
                <a:hlinkClick r:id="rId4"/>
              </a:rPr>
              <a:t>coap.space</a:t>
            </a:r>
            <a:r>
              <a:rPr lang="en-US">
                <a:solidFill>
                  <a:srgbClr val="181818"/>
                </a:solidFill>
                <a:latin typeface="Ericsson Hilda Light" pitchFamily="2" charset="0"/>
                <a:cs typeface="Arial" panose="020B0604020202020204" pitchFamily="34" charset="0"/>
                <a:sym typeface="Hilda Light" panose="00000400000000000000" pitchFamily="50" charset="0"/>
                <a:hlinkClick r:id="rId4"/>
              </a:rPr>
              <a:t>/tools</a:t>
            </a:r>
            <a:br>
              <a:rPr lang="en-US" kern="1000" spc="-30">
                <a:solidFill>
                  <a:srgbClr val="181818"/>
                </a:solidFill>
                <a:latin typeface="Ericsson Hilda Light" pitchFamily="2" charset="0"/>
              </a:rPr>
            </a:br>
            <a:r>
              <a:rPr lang="en-US" kern="1000" spc="-30">
                <a:solidFill>
                  <a:srgbClr val="181818"/>
                </a:solidFill>
                <a:latin typeface="Ericsson Hilda Light" pitchFamily="2" charset="0"/>
              </a:rPr>
              <a:t>- Run CoAP interop tests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kern="1000" spc="-30">
                <a:solidFill>
                  <a:srgbClr val="181818"/>
                </a:solidFill>
                <a:latin typeface="Ericsson Hilda Light" pitchFamily="2" charset="0"/>
              </a:rPr>
              <a:t>- Wireshark Dissector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kern="1000" spc="-30">
                <a:solidFill>
                  <a:srgbClr val="181818"/>
                </a:solidFill>
                <a:latin typeface="Ericsson Hilda Light" pitchFamily="2" charset="0"/>
              </a:rPr>
              <a:t>- Tutorials, ABNF, Cheat Sheet…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endParaRPr lang="en-US" kern="1000" spc="-30">
              <a:solidFill>
                <a:srgbClr val="181818"/>
              </a:solidFill>
              <a:latin typeface="Ericsson Hilda Light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DFFCFA-CCC8-7B4E-3274-B0866DBFAA3E}"/>
              </a:ext>
            </a:extLst>
          </p:cNvPr>
          <p:cNvSpPr/>
          <p:nvPr/>
        </p:nvSpPr>
        <p:spPr bwMode="auto">
          <a:xfrm>
            <a:off x="663955" y="3551664"/>
            <a:ext cx="3289871" cy="31110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12700" dir="5400000" sx="99500" sy="99500" algn="t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>
                <a:solidFill>
                  <a:srgbClr val="181818"/>
                </a:solidFill>
                <a:latin typeface="Ericsson Hilda"/>
                <a:cs typeface="Arial" panose="020B0604020202020204" pitchFamily="34" charset="0"/>
                <a:sym typeface="Hilda Light" panose="00000400000000000000" pitchFamily="50" charset="0"/>
              </a:rPr>
              <a:t>Tools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Ericsson Hilda"/>
              <a:cs typeface="Arial" panose="020B0604020202020204" pitchFamily="34" charset="0"/>
              <a:sym typeface="Hilda Light" panose="00000400000000000000" pitchFamily="50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22869D-0D3A-DF8C-3A44-26B2972AB9BE}"/>
              </a:ext>
            </a:extLst>
          </p:cNvPr>
          <p:cNvSpPr/>
          <p:nvPr/>
        </p:nvSpPr>
        <p:spPr bwMode="auto">
          <a:xfrm>
            <a:off x="610770" y="1436604"/>
            <a:ext cx="3343056" cy="31851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12700" dir="5400000" sx="99500" sy="99500" algn="t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>
                <a:solidFill>
                  <a:srgbClr val="181818"/>
                </a:solidFill>
                <a:latin typeface="Ericsson Hilda"/>
                <a:cs typeface="Arial" panose="020B0604020202020204" pitchFamily="34" charset="0"/>
                <a:sym typeface="Hilda Light" panose="00000400000000000000" pitchFamily="50" charset="0"/>
              </a:rPr>
              <a:t>Implementations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Ericsson Hilda"/>
              <a:cs typeface="Arial" panose="020B0604020202020204" pitchFamily="34" charset="0"/>
              <a:sym typeface="Hilda Light" panose="00000400000000000000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8962A6-627E-EF0D-1F88-AF598A7A9407}"/>
              </a:ext>
            </a:extLst>
          </p:cNvPr>
          <p:cNvSpPr txBox="1"/>
          <p:nvPr/>
        </p:nvSpPr>
        <p:spPr bwMode="auto">
          <a:xfrm>
            <a:off x="4731617" y="1877498"/>
            <a:ext cx="2847200" cy="3078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000" tIns="36000" rIns="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>
                <a:latin typeface="Ericsson Hilda Light" pitchFamily="2" charset="0"/>
              </a:rPr>
              <a:t>- </a:t>
            </a:r>
            <a:r>
              <a:rPr lang="en-US" err="1">
                <a:latin typeface="Ericsson Hilda Light" pitchFamily="2" charset="0"/>
              </a:rPr>
              <a:t>FreeRTOS</a:t>
            </a:r>
            <a:endParaRPr lang="en-US">
              <a:latin typeface="Ericsson Hilda Light" pitchFamily="2" charset="0"/>
            </a:endParaRP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>
                <a:latin typeface="Ericsson Hilda Light" pitchFamily="2" charset="0"/>
              </a:rPr>
              <a:t>- RIOT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>
                <a:latin typeface="Ericsson Hilda Light" pitchFamily="2" charset="0"/>
              </a:rPr>
              <a:t>- </a:t>
            </a:r>
            <a:r>
              <a:rPr lang="en-US" err="1">
                <a:latin typeface="Ericsson Hilda Light" pitchFamily="2" charset="0"/>
              </a:rPr>
              <a:t>Mbed</a:t>
            </a:r>
            <a:endParaRPr lang="en-US">
              <a:latin typeface="Ericsson Hilda Light" pitchFamily="2" charset="0"/>
            </a:endParaRP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>
                <a:latin typeface="Ericsson Hilda Light" pitchFamily="2" charset="0"/>
              </a:rPr>
              <a:t>- </a:t>
            </a:r>
            <a:r>
              <a:rPr lang="en-US" err="1">
                <a:latin typeface="Ericsson Hilda Light" pitchFamily="2" charset="0"/>
              </a:rPr>
              <a:t>Oniro</a:t>
            </a:r>
            <a:endParaRPr lang="en-US">
              <a:latin typeface="Ericsson Hilda Light" pitchFamily="2" charset="0"/>
            </a:endParaRP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>
                <a:latin typeface="Ericsson Hilda Light" pitchFamily="2" charset="0"/>
              </a:rPr>
              <a:t>- </a:t>
            </a:r>
            <a:r>
              <a:rPr lang="en-US" err="1">
                <a:latin typeface="Ericsson Hilda Light" pitchFamily="2" charset="0"/>
              </a:rPr>
              <a:t>TinyOS</a:t>
            </a:r>
            <a:endParaRPr lang="en-US">
              <a:latin typeface="Ericsson Hilda Light" pitchFamily="2" charset="0"/>
            </a:endParaRP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>
                <a:latin typeface="Ericsson Hilda Light" pitchFamily="2" charset="0"/>
              </a:rPr>
              <a:t>-  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3B19D8-C26D-68DA-939F-5B06B4C1F198}"/>
              </a:ext>
            </a:extLst>
          </p:cNvPr>
          <p:cNvSpPr/>
          <p:nvPr/>
        </p:nvSpPr>
        <p:spPr bwMode="auto">
          <a:xfrm>
            <a:off x="4741209" y="1452632"/>
            <a:ext cx="2491763" cy="31110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12700" dir="5400000" sx="99500" sy="99500" algn="t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>
                <a:solidFill>
                  <a:srgbClr val="181818"/>
                </a:solidFill>
                <a:latin typeface="Ericsson Hilda"/>
                <a:cs typeface="Arial" panose="020B0604020202020204" pitchFamily="34" charset="0"/>
                <a:sym typeface="Hilda Light" panose="00000400000000000000" pitchFamily="50" charset="0"/>
              </a:rPr>
              <a:t>IoT Op Systems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Ericsson Hilda"/>
              <a:cs typeface="Arial" panose="020B0604020202020204" pitchFamily="34" charset="0"/>
              <a:sym typeface="Hilda Light" panose="00000400000000000000" pitchFamily="50" charset="0"/>
            </a:endParaRPr>
          </a:p>
        </p:txBody>
      </p:sp>
      <p:pic>
        <p:nvPicPr>
          <p:cNvPr id="15" name="Picture 14" descr="A screenshot of a phone&#10;&#10;Description automatically generated">
            <a:extLst>
              <a:ext uri="{FF2B5EF4-FFF2-40B4-BE49-F238E27FC236}">
                <a16:creationId xmlns:a16="http://schemas.microsoft.com/office/drawing/2014/main" id="{C0FFFCB3-E2EA-73B2-D5C0-62CBE548DE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575" y="1052195"/>
            <a:ext cx="2150750" cy="5411122"/>
          </a:xfrm>
          <a:prstGeom prst="rect">
            <a:avLst/>
          </a:prstGeom>
        </p:spPr>
      </p:pic>
      <p:sp>
        <p:nvSpPr>
          <p:cNvPr id="17" name="Left Brace 16">
            <a:extLst>
              <a:ext uri="{FF2B5EF4-FFF2-40B4-BE49-F238E27FC236}">
                <a16:creationId xmlns:a16="http://schemas.microsoft.com/office/drawing/2014/main" id="{54D2A483-1614-D9DF-48F2-813491A0AF42}"/>
              </a:ext>
            </a:extLst>
          </p:cNvPr>
          <p:cNvSpPr/>
          <p:nvPr/>
        </p:nvSpPr>
        <p:spPr>
          <a:xfrm>
            <a:off x="6844867" y="1052195"/>
            <a:ext cx="1279707" cy="5411122"/>
          </a:xfrm>
          <a:prstGeom prst="leftBrace">
            <a:avLst>
              <a:gd name="adj1" fmla="val 40077"/>
              <a:gd name="adj2" fmla="val 24208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D8315C8-6584-DE0C-275E-D9E84255B9A8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5563402" y="2362119"/>
            <a:ext cx="1281465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3081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36DB8-1DD4-43C1-AE09-31397DC58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41" y="312367"/>
            <a:ext cx="10743628" cy="846795"/>
          </a:xfrm>
        </p:spPr>
        <p:txBody>
          <a:bodyPr>
            <a:normAutofit/>
          </a:bodyPr>
          <a:lstStyle/>
          <a:p>
            <a:r>
              <a:rPr lang="en-US">
                <a:latin typeface="Ericsson Hilda" pitchFamily="2" charset="0"/>
              </a:rPr>
              <a:t>Where is CoAP present today </a:t>
            </a:r>
            <a:r>
              <a:rPr lang="en-US" sz="2800" i="1">
                <a:solidFill>
                  <a:srgbClr val="181818"/>
                </a:solidFill>
                <a:latin typeface="Ericsson Hilda" pitchFamily="2" charset="0"/>
                <a:cs typeface="Arial" panose="020B0604020202020204" pitchFamily="34" charset="0"/>
                <a:sym typeface="Hilda Light" panose="00000400000000000000" pitchFamily="50" charset="0"/>
              </a:rPr>
              <a:t>(that I know of)</a:t>
            </a:r>
            <a:endParaRPr lang="en-US" i="1">
              <a:latin typeface="Ericsson Hilda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78FADA-9566-30E9-AF8C-D16CD608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FI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3CAAA28-F559-354F-AB37-87EC387942A5}" type="slidenum">
              <a:rPr lang="en-FI" smtClean="0"/>
              <a:pPr/>
              <a:t>7</a:t>
            </a:fld>
            <a:endParaRPr lang="en-FI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7650E0-C77B-FCB1-0127-089C3624B136}"/>
              </a:ext>
            </a:extLst>
          </p:cNvPr>
          <p:cNvSpPr txBox="1"/>
          <p:nvPr/>
        </p:nvSpPr>
        <p:spPr bwMode="auto">
          <a:xfrm>
            <a:off x="538439" y="1868883"/>
            <a:ext cx="3733900" cy="1728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000" tIns="36000" rIns="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kern="1000" spc="-30">
                <a:solidFill>
                  <a:srgbClr val="181818"/>
                </a:solidFill>
                <a:latin typeface="Ericsson Hilda Light" pitchFamily="2" charset="0"/>
              </a:rPr>
              <a:t>- </a:t>
            </a:r>
            <a:r>
              <a:rPr lang="en-US" sz="1800">
                <a:solidFill>
                  <a:srgbClr val="181818"/>
                </a:solidFill>
                <a:latin typeface="Ericsson Hilda Light" pitchFamily="2" charset="0"/>
                <a:cs typeface="Arial" panose="020B0604020202020204" pitchFamily="34" charset="0"/>
                <a:sym typeface="Hilda Light" panose="00000400000000000000" pitchFamily="50" charset="0"/>
                <a:hlinkClick r:id="rId3"/>
              </a:rPr>
              <a:t>coap.space/impls</a:t>
            </a:r>
            <a:br>
              <a:rPr lang="en-US" kern="1000" spc="-30">
                <a:solidFill>
                  <a:srgbClr val="181818"/>
                </a:solidFill>
                <a:latin typeface="Ericsson Hilda Light" pitchFamily="2" charset="0"/>
              </a:rPr>
            </a:br>
            <a:r>
              <a:rPr lang="en-US" kern="1000" spc="-30">
                <a:solidFill>
                  <a:srgbClr val="181818"/>
                </a:solidFill>
                <a:latin typeface="Ericsson Hilda Light" pitchFamily="2" charset="0"/>
              </a:rPr>
              <a:t>- 20+ Open-Source implementations available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kern="1000" spc="-30">
                <a:solidFill>
                  <a:srgbClr val="181818"/>
                </a:solidFill>
                <a:latin typeface="Ericsson Hilda Light" pitchFamily="2" charset="0"/>
              </a:rPr>
              <a:t>- dozens of languages and platforms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endParaRPr lang="en-US" kern="1000" spc="-30">
              <a:solidFill>
                <a:srgbClr val="181818"/>
              </a:solidFill>
              <a:latin typeface="Ericsson Hilda Light" pitchFamily="2" charset="0"/>
            </a:endParaRP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endParaRPr lang="en-US" kern="1000" spc="-30">
              <a:solidFill>
                <a:srgbClr val="181818"/>
              </a:solidFill>
              <a:latin typeface="Ericsson Hilda Light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1A5616-B7F2-A891-6652-CB618B1159FD}"/>
              </a:ext>
            </a:extLst>
          </p:cNvPr>
          <p:cNvSpPr txBox="1"/>
          <p:nvPr/>
        </p:nvSpPr>
        <p:spPr bwMode="auto">
          <a:xfrm>
            <a:off x="599944" y="3983941"/>
            <a:ext cx="3299462" cy="1456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000" tIns="36000" rIns="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kern="1000" spc="-30">
                <a:solidFill>
                  <a:srgbClr val="181818"/>
                </a:solidFill>
                <a:latin typeface="Ericsson Hilda Light" pitchFamily="2" charset="0"/>
              </a:rPr>
              <a:t>- </a:t>
            </a:r>
            <a:r>
              <a:rPr lang="en-US" err="1">
                <a:solidFill>
                  <a:srgbClr val="181818"/>
                </a:solidFill>
                <a:latin typeface="Ericsson Hilda Light" pitchFamily="2" charset="0"/>
                <a:cs typeface="Arial" panose="020B0604020202020204" pitchFamily="34" charset="0"/>
                <a:sym typeface="Hilda Light" panose="00000400000000000000" pitchFamily="50" charset="0"/>
                <a:hlinkClick r:id="rId4"/>
              </a:rPr>
              <a:t>coap.space</a:t>
            </a:r>
            <a:r>
              <a:rPr lang="en-US">
                <a:solidFill>
                  <a:srgbClr val="181818"/>
                </a:solidFill>
                <a:latin typeface="Ericsson Hilda Light" pitchFamily="2" charset="0"/>
                <a:cs typeface="Arial" panose="020B0604020202020204" pitchFamily="34" charset="0"/>
                <a:sym typeface="Hilda Light" panose="00000400000000000000" pitchFamily="50" charset="0"/>
                <a:hlinkClick r:id="rId4"/>
              </a:rPr>
              <a:t>/tools</a:t>
            </a:r>
            <a:br>
              <a:rPr lang="en-US" kern="1000" spc="-30">
                <a:solidFill>
                  <a:srgbClr val="181818"/>
                </a:solidFill>
                <a:latin typeface="Ericsson Hilda Light" pitchFamily="2" charset="0"/>
              </a:rPr>
            </a:br>
            <a:r>
              <a:rPr lang="en-US" kern="1000" spc="-30">
                <a:solidFill>
                  <a:srgbClr val="181818"/>
                </a:solidFill>
                <a:latin typeface="Ericsson Hilda Light" pitchFamily="2" charset="0"/>
              </a:rPr>
              <a:t>- Run CoAP interop tests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kern="1000" spc="-30">
                <a:solidFill>
                  <a:srgbClr val="181818"/>
                </a:solidFill>
                <a:latin typeface="Ericsson Hilda Light" pitchFamily="2" charset="0"/>
              </a:rPr>
              <a:t>- Wireshark Dissector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kern="1000" spc="-30">
                <a:solidFill>
                  <a:srgbClr val="181818"/>
                </a:solidFill>
                <a:latin typeface="Ericsson Hilda Light" pitchFamily="2" charset="0"/>
              </a:rPr>
              <a:t>- Tutorials, ABNF, Cheat Sheet…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endParaRPr lang="en-US" kern="1000" spc="-30">
              <a:solidFill>
                <a:srgbClr val="181818"/>
              </a:solidFill>
              <a:latin typeface="Ericsson Hilda Light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DFFCFA-CCC8-7B4E-3274-B0866DBFAA3E}"/>
              </a:ext>
            </a:extLst>
          </p:cNvPr>
          <p:cNvSpPr/>
          <p:nvPr/>
        </p:nvSpPr>
        <p:spPr bwMode="auto">
          <a:xfrm>
            <a:off x="663955" y="3551664"/>
            <a:ext cx="3289871" cy="31110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12700" dir="5400000" sx="99500" sy="99500" algn="t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>
                <a:solidFill>
                  <a:srgbClr val="181818"/>
                </a:solidFill>
                <a:latin typeface="Ericsson Hilda"/>
                <a:cs typeface="Arial" panose="020B0604020202020204" pitchFamily="34" charset="0"/>
                <a:sym typeface="Hilda Light" panose="00000400000000000000" pitchFamily="50" charset="0"/>
              </a:rPr>
              <a:t>Tools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Ericsson Hilda"/>
              <a:cs typeface="Arial" panose="020B0604020202020204" pitchFamily="34" charset="0"/>
              <a:sym typeface="Hilda Light" panose="00000400000000000000" pitchFamily="50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22869D-0D3A-DF8C-3A44-26B2972AB9BE}"/>
              </a:ext>
            </a:extLst>
          </p:cNvPr>
          <p:cNvSpPr/>
          <p:nvPr/>
        </p:nvSpPr>
        <p:spPr bwMode="auto">
          <a:xfrm>
            <a:off x="610770" y="1436604"/>
            <a:ext cx="3343056" cy="31851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12700" dir="5400000" sx="99500" sy="99500" algn="t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>
                <a:solidFill>
                  <a:srgbClr val="181818"/>
                </a:solidFill>
                <a:latin typeface="Ericsson Hilda"/>
                <a:cs typeface="Arial" panose="020B0604020202020204" pitchFamily="34" charset="0"/>
                <a:sym typeface="Hilda Light" panose="00000400000000000000" pitchFamily="50" charset="0"/>
              </a:rPr>
              <a:t>Implementations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Ericsson Hilda"/>
              <a:cs typeface="Arial" panose="020B0604020202020204" pitchFamily="34" charset="0"/>
              <a:sym typeface="Hilda Light" panose="00000400000000000000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8962A6-627E-EF0D-1F88-AF598A7A9407}"/>
              </a:ext>
            </a:extLst>
          </p:cNvPr>
          <p:cNvSpPr txBox="1"/>
          <p:nvPr/>
        </p:nvSpPr>
        <p:spPr bwMode="auto">
          <a:xfrm>
            <a:off x="4731617" y="1877498"/>
            <a:ext cx="2847200" cy="3078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000" tIns="36000" rIns="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>
                <a:latin typeface="Ericsson Hilda Light" pitchFamily="2" charset="0"/>
              </a:rPr>
              <a:t>- </a:t>
            </a:r>
            <a:r>
              <a:rPr lang="en-US" err="1">
                <a:latin typeface="Ericsson Hilda Light" pitchFamily="2" charset="0"/>
              </a:rPr>
              <a:t>FreeRTOS</a:t>
            </a:r>
            <a:endParaRPr lang="en-US">
              <a:latin typeface="Ericsson Hilda Light" pitchFamily="2" charset="0"/>
            </a:endParaRP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>
                <a:latin typeface="Ericsson Hilda Light" pitchFamily="2" charset="0"/>
              </a:rPr>
              <a:t>- RIOT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>
                <a:latin typeface="Ericsson Hilda Light" pitchFamily="2" charset="0"/>
              </a:rPr>
              <a:t>- </a:t>
            </a:r>
            <a:r>
              <a:rPr lang="en-US" err="1">
                <a:latin typeface="Ericsson Hilda Light" pitchFamily="2" charset="0"/>
              </a:rPr>
              <a:t>Mbed</a:t>
            </a:r>
            <a:endParaRPr lang="en-US">
              <a:latin typeface="Ericsson Hilda Light" pitchFamily="2" charset="0"/>
            </a:endParaRP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>
                <a:latin typeface="Ericsson Hilda Light" pitchFamily="2" charset="0"/>
              </a:rPr>
              <a:t>- </a:t>
            </a:r>
            <a:r>
              <a:rPr lang="en-US" err="1">
                <a:latin typeface="Ericsson Hilda Light" pitchFamily="2" charset="0"/>
              </a:rPr>
              <a:t>Oniro</a:t>
            </a:r>
            <a:endParaRPr lang="en-US">
              <a:latin typeface="Ericsson Hilda Light" pitchFamily="2" charset="0"/>
            </a:endParaRP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>
                <a:latin typeface="Ericsson Hilda Light" pitchFamily="2" charset="0"/>
              </a:rPr>
              <a:t>- </a:t>
            </a:r>
            <a:r>
              <a:rPr lang="en-US" err="1">
                <a:latin typeface="Ericsson Hilda Light" pitchFamily="2" charset="0"/>
              </a:rPr>
              <a:t>TinyOS</a:t>
            </a:r>
            <a:r>
              <a:rPr lang="en-US">
                <a:latin typeface="Ericsson Hilda Light" pitchFamily="2" charset="0"/>
              </a:rPr>
              <a:t>	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>
                <a:latin typeface="Ericsson Hilda Light" pitchFamily="2" charset="0"/>
              </a:rPr>
              <a:t>- 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3B19D8-C26D-68DA-939F-5B06B4C1F198}"/>
              </a:ext>
            </a:extLst>
          </p:cNvPr>
          <p:cNvSpPr/>
          <p:nvPr/>
        </p:nvSpPr>
        <p:spPr bwMode="auto">
          <a:xfrm>
            <a:off x="4741209" y="1452632"/>
            <a:ext cx="2491763" cy="31110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12700" dir="5400000" sx="99500" sy="99500" algn="t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>
                <a:solidFill>
                  <a:srgbClr val="181818"/>
                </a:solidFill>
                <a:latin typeface="Ericsson Hilda"/>
                <a:cs typeface="Arial" panose="020B0604020202020204" pitchFamily="34" charset="0"/>
                <a:sym typeface="Hilda Light" panose="00000400000000000000" pitchFamily="50" charset="0"/>
              </a:rPr>
              <a:t>IoT Op Systems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Ericsson Hilda"/>
              <a:cs typeface="Arial" panose="020B0604020202020204" pitchFamily="34" charset="0"/>
              <a:sym typeface="Hilda Light" panose="00000400000000000000" pitchFamily="50" charset="0"/>
            </a:endParaRPr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54D2A483-1614-D9DF-48F2-813491A0AF42}"/>
              </a:ext>
            </a:extLst>
          </p:cNvPr>
          <p:cNvSpPr/>
          <p:nvPr/>
        </p:nvSpPr>
        <p:spPr>
          <a:xfrm>
            <a:off x="6844867" y="1052195"/>
            <a:ext cx="1279707" cy="5411122"/>
          </a:xfrm>
          <a:prstGeom prst="leftBrace">
            <a:avLst>
              <a:gd name="adj1" fmla="val 40077"/>
              <a:gd name="adj2" fmla="val 30967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D8315C8-6584-DE0C-275E-D9E84255B9A8}"/>
              </a:ext>
            </a:extLst>
          </p:cNvPr>
          <p:cNvCxnSpPr>
            <a:cxnSpLocks/>
          </p:cNvCxnSpPr>
          <p:nvPr/>
        </p:nvCxnSpPr>
        <p:spPr>
          <a:xfrm>
            <a:off x="5563402" y="2727360"/>
            <a:ext cx="1281465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3" name="Picture 22" descr="A screenshot of a phone&#10;&#10;Description automatically generated">
            <a:extLst>
              <a:ext uri="{FF2B5EF4-FFF2-40B4-BE49-F238E27FC236}">
                <a16:creationId xmlns:a16="http://schemas.microsoft.com/office/drawing/2014/main" id="{B1A6A38C-A339-E613-63EA-35417677CA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574" y="1277498"/>
            <a:ext cx="2269954" cy="506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108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36DB8-1DD4-43C1-AE09-31397DC58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41" y="312367"/>
            <a:ext cx="10743628" cy="846795"/>
          </a:xfrm>
        </p:spPr>
        <p:txBody>
          <a:bodyPr>
            <a:normAutofit/>
          </a:bodyPr>
          <a:lstStyle/>
          <a:p>
            <a:r>
              <a:rPr lang="en-US"/>
              <a:t>Where is CoAP present today </a:t>
            </a:r>
            <a:r>
              <a:rPr lang="en-US" sz="2800" i="1">
                <a:solidFill>
                  <a:srgbClr val="181818"/>
                </a:solidFill>
                <a:latin typeface="Ericsson Hilda"/>
                <a:cs typeface="Arial" panose="020B0604020202020204" pitchFamily="34" charset="0"/>
                <a:sym typeface="Hilda Light" panose="00000400000000000000" pitchFamily="50" charset="0"/>
              </a:rPr>
              <a:t>(that I know of)</a:t>
            </a:r>
            <a:endParaRPr lang="en-US" i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78FADA-9566-30E9-AF8C-D16CD608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FI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3CAAA28-F559-354F-AB37-87EC387942A5}" type="slidenum">
              <a:rPr lang="en-FI" smtClean="0"/>
              <a:pPr/>
              <a:t>8</a:t>
            </a:fld>
            <a:endParaRPr lang="en-FI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2FB6861-EA5B-63F2-D82F-17530FE891C4}"/>
              </a:ext>
            </a:extLst>
          </p:cNvPr>
          <p:cNvSpPr txBox="1"/>
          <p:nvPr/>
        </p:nvSpPr>
        <p:spPr bwMode="auto">
          <a:xfrm>
            <a:off x="819906" y="4781368"/>
            <a:ext cx="3299462" cy="187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000" tIns="36000" rIns="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285750" indent="-285750" algn="l">
              <a:buFont typeface="System Font Regular"/>
              <a:buChar char="-"/>
            </a:pPr>
            <a:r>
              <a:rPr lang="en-GB" sz="1600">
                <a:solidFill>
                  <a:srgbClr val="333333"/>
                </a:solidFill>
                <a:effectLst/>
                <a:latin typeface="Ericsson Hilda Light" pitchFamily="2" charset="0"/>
              </a:rPr>
              <a:t>Qualcomm</a:t>
            </a:r>
          </a:p>
          <a:p>
            <a:pPr marL="285750" indent="-285750" algn="l">
              <a:buFont typeface="System Font Regular"/>
              <a:buChar char="-"/>
            </a:pPr>
            <a:r>
              <a:rPr lang="en-GB" sz="1600">
                <a:solidFill>
                  <a:srgbClr val="333333"/>
                </a:solidFill>
                <a:effectLst/>
                <a:latin typeface="Ericsson Hilda Light" pitchFamily="2" charset="0"/>
              </a:rPr>
              <a:t>ARM</a:t>
            </a:r>
          </a:p>
          <a:p>
            <a:pPr marL="285750" indent="-285750" algn="l">
              <a:buFont typeface="System Font Regular"/>
              <a:buChar char="-"/>
            </a:pPr>
            <a:r>
              <a:rPr lang="en-GB" sz="1600">
                <a:solidFill>
                  <a:srgbClr val="333333"/>
                </a:solidFill>
                <a:effectLst/>
                <a:latin typeface="Ericsson Hilda Light" pitchFamily="2" charset="0"/>
              </a:rPr>
              <a:t>NXP (</a:t>
            </a:r>
            <a:r>
              <a:rPr lang="en-GB" sz="1600" u="none" strike="noStrike">
                <a:solidFill>
                  <a:srgbClr val="337AB7"/>
                </a:solidFill>
                <a:effectLst/>
                <a:latin typeface="Ericsson Hilda Light" pitchFamily="2" charset="0"/>
                <a:hlinkClick r:id="rId3"/>
              </a:rPr>
              <a:t>link</a:t>
            </a:r>
            <a:r>
              <a:rPr lang="en-GB" sz="1600">
                <a:solidFill>
                  <a:srgbClr val="333333"/>
                </a:solidFill>
                <a:effectLst/>
                <a:latin typeface="Ericsson Hilda Light" pitchFamily="2" charset="0"/>
              </a:rPr>
              <a:t>)</a:t>
            </a:r>
          </a:p>
          <a:p>
            <a:pPr marL="285750" indent="-285750" algn="l">
              <a:buFont typeface="System Font Regular"/>
              <a:buChar char="-"/>
            </a:pPr>
            <a:r>
              <a:rPr lang="en-GB" sz="1600">
                <a:solidFill>
                  <a:srgbClr val="333333"/>
                </a:solidFill>
                <a:effectLst/>
                <a:latin typeface="Ericsson Hilda Light" pitchFamily="2" charset="0"/>
              </a:rPr>
              <a:t>Nordic Semiconductor (</a:t>
            </a:r>
            <a:r>
              <a:rPr lang="en-GB" sz="1600" u="none" strike="noStrike">
                <a:solidFill>
                  <a:srgbClr val="337AB7"/>
                </a:solidFill>
                <a:effectLst/>
                <a:latin typeface="Ericsson Hilda Light" pitchFamily="2" charset="0"/>
                <a:hlinkClick r:id="rId4"/>
              </a:rPr>
              <a:t>link</a:t>
            </a:r>
            <a:r>
              <a:rPr lang="en-GB" sz="1600">
                <a:solidFill>
                  <a:srgbClr val="333333"/>
                </a:solidFill>
                <a:effectLst/>
                <a:latin typeface="Ericsson Hilda Light" pitchFamily="2" charset="0"/>
              </a:rPr>
              <a:t>)</a:t>
            </a:r>
          </a:p>
          <a:p>
            <a:pPr marL="285750" indent="-285750" algn="l">
              <a:buFont typeface="System Font Regular"/>
              <a:buChar char="-"/>
            </a:pPr>
            <a:r>
              <a:rPr lang="en-GB" sz="1600">
                <a:solidFill>
                  <a:srgbClr val="333333"/>
                </a:solidFill>
                <a:effectLst/>
                <a:latin typeface="Ericsson Hilda Light" pitchFamily="2" charset="0"/>
              </a:rPr>
              <a:t>ST Micro STM32Cube</a:t>
            </a:r>
          </a:p>
          <a:p>
            <a:pPr marL="285750" indent="-285750" algn="l">
              <a:buFont typeface="System Font Regular"/>
              <a:buChar char="-"/>
            </a:pPr>
            <a:r>
              <a:rPr lang="en-GB" sz="1600">
                <a:solidFill>
                  <a:srgbClr val="333333"/>
                </a:solidFill>
                <a:effectLst/>
                <a:latin typeface="Ericsson Hilda Light" pitchFamily="2" charset="0"/>
              </a:rPr>
              <a:t>Quectel (</a:t>
            </a:r>
            <a:r>
              <a:rPr lang="en-GB" sz="1600" u="none" strike="noStrike">
                <a:solidFill>
                  <a:srgbClr val="337AB7"/>
                </a:solidFill>
                <a:effectLst/>
                <a:latin typeface="Ericsson Hilda Light" pitchFamily="2" charset="0"/>
                <a:hlinkClick r:id="rId5"/>
              </a:rPr>
              <a:t>link</a:t>
            </a:r>
            <a:r>
              <a:rPr lang="en-GB" sz="1600">
                <a:solidFill>
                  <a:srgbClr val="333333"/>
                </a:solidFill>
                <a:effectLst/>
                <a:latin typeface="Ericsson Hilda Light" pitchFamily="2" charset="0"/>
              </a:rPr>
              <a:t>)</a:t>
            </a:r>
          </a:p>
          <a:p>
            <a:pPr marL="285750" indent="-285750" algn="l">
              <a:buFont typeface="System Font Regular"/>
              <a:buChar char="-"/>
            </a:pPr>
            <a:r>
              <a:rPr lang="en-GB" sz="1600">
                <a:solidFill>
                  <a:srgbClr val="333333"/>
                </a:solidFill>
                <a:effectLst/>
                <a:latin typeface="Ericsson Hilda Light" pitchFamily="2" charset="0"/>
              </a:rPr>
              <a:t>Sierra Wireless (</a:t>
            </a:r>
            <a:r>
              <a:rPr lang="en-GB" sz="1600" u="none" strike="noStrike">
                <a:solidFill>
                  <a:srgbClr val="337AB7"/>
                </a:solidFill>
                <a:effectLst/>
                <a:latin typeface="Ericsson Hilda Light" pitchFamily="2" charset="0"/>
                <a:hlinkClick r:id="rId6"/>
              </a:rPr>
              <a:t>link</a:t>
            </a:r>
            <a:r>
              <a:rPr lang="en-GB" sz="1600">
                <a:solidFill>
                  <a:srgbClr val="333333"/>
                </a:solidFill>
                <a:effectLst/>
                <a:latin typeface="Ericsson Hilda Light" pitchFamily="2" charset="0"/>
              </a:rPr>
              <a:t>)</a:t>
            </a:r>
          </a:p>
          <a:p>
            <a:pPr marL="285750" indent="-285750" algn="l">
              <a:buFont typeface="System Font Regular"/>
              <a:buChar char="-"/>
            </a:pPr>
            <a:r>
              <a:rPr lang="en-GB" sz="1600">
                <a:solidFill>
                  <a:srgbClr val="333333"/>
                </a:solidFill>
                <a:effectLst/>
                <a:latin typeface="Ericsson Hilda Light" pitchFamily="2" charset="0"/>
              </a:rPr>
              <a:t>…</a:t>
            </a:r>
          </a:p>
        </p:txBody>
      </p:sp>
      <p:sp>
        <p:nvSpPr>
          <p:cNvPr id="70" name="TextBox 69">
            <a:hlinkClick r:id="rId7"/>
            <a:extLst>
              <a:ext uri="{FF2B5EF4-FFF2-40B4-BE49-F238E27FC236}">
                <a16:creationId xmlns:a16="http://schemas.microsoft.com/office/drawing/2014/main" id="{36620466-7E2B-6C2C-81C0-B40B3377509D}"/>
              </a:ext>
            </a:extLst>
          </p:cNvPr>
          <p:cNvSpPr txBox="1"/>
          <p:nvPr/>
        </p:nvSpPr>
        <p:spPr bwMode="auto">
          <a:xfrm>
            <a:off x="4829443" y="1775327"/>
            <a:ext cx="3299462" cy="4536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000" tIns="36000" rIns="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285750" indent="-285750" algn="l">
              <a:buFont typeface="System Font Regular"/>
              <a:buChar char="-"/>
            </a:pP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Siemens Buildings</a:t>
            </a:r>
          </a:p>
          <a:p>
            <a:pPr marL="285750" indent="-285750" algn="l">
              <a:buFont typeface="System Font Regular"/>
              <a:buChar char="-"/>
            </a:pP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Arm Pelion (device management)</a:t>
            </a:r>
          </a:p>
          <a:p>
            <a:pPr marL="285750" indent="-285750" algn="l">
              <a:buFont typeface="System Font Regular"/>
              <a:buChar char="-"/>
            </a:pP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Various IoT Gateways (</a:t>
            </a:r>
            <a:r>
              <a:rPr lang="en-US" sz="2000" err="1">
                <a:latin typeface="Ericsson Hilda Light" pitchFamily="2" charset="0"/>
              </a:rPr>
              <a:t>openhab</a:t>
            </a:r>
            <a:r>
              <a:rPr lang="en-US" sz="2000">
                <a:latin typeface="Ericsson Hilda Light" pitchFamily="2" charset="0"/>
              </a:rPr>
              <a:t>…) </a:t>
            </a:r>
          </a:p>
          <a:p>
            <a:pPr marL="285750" indent="-285750" algn="l">
              <a:buFont typeface="System Font Regular"/>
              <a:buChar char="-"/>
            </a:pPr>
            <a:r>
              <a:rPr lang="en-US" sz="2000">
                <a:latin typeface="Ericsson Hilda Light" pitchFamily="2" charset="0"/>
              </a:rPr>
              <a:t>Various </a:t>
            </a:r>
            <a:r>
              <a:rPr lang="en-US" sz="2000" err="1">
                <a:latin typeface="Ericsson Hilda Light" pitchFamily="2" charset="0"/>
              </a:rPr>
              <a:t>LoRA</a:t>
            </a:r>
            <a:r>
              <a:rPr lang="en-US" sz="2000">
                <a:latin typeface="Ericsson Hilda Light" pitchFamily="2" charset="0"/>
              </a:rPr>
              <a:t> modules (</a:t>
            </a:r>
            <a:r>
              <a:rPr lang="en-US" sz="2000">
                <a:latin typeface="Ericsson Hilda Light" pitchFamily="2" charset="0"/>
                <a:hlinkClick r:id="rId8"/>
              </a:rPr>
              <a:t>link</a:t>
            </a:r>
            <a:r>
              <a:rPr lang="en-US" sz="2000">
                <a:latin typeface="Ericsson Hilda Light" pitchFamily="2" charset="0"/>
              </a:rPr>
              <a:t>)</a:t>
            </a:r>
          </a:p>
          <a:p>
            <a:pPr marL="285750" indent="-285750" algn="l">
              <a:buFont typeface="System Font Regular"/>
              <a:buChar char="-"/>
            </a:pP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Qualcomm Snapdragon Wear (</a:t>
            </a:r>
            <a:r>
              <a:rPr lang="en-GB" sz="2000" u="none" strike="noStrike">
                <a:solidFill>
                  <a:srgbClr val="337AB7"/>
                </a:solidFill>
                <a:effectLst/>
                <a:latin typeface="Ericsson Hilda Light" pitchFamily="2" charset="0"/>
                <a:hlinkClick r:id="rId9"/>
              </a:rPr>
              <a:t>link</a:t>
            </a: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)</a:t>
            </a:r>
          </a:p>
          <a:p>
            <a:pPr marL="285750" indent="-285750" algn="l">
              <a:buFont typeface="System Font Regular"/>
              <a:buChar char="-"/>
            </a:pPr>
            <a:r>
              <a:rPr lang="en-GB" sz="2000" err="1">
                <a:solidFill>
                  <a:srgbClr val="333333"/>
                </a:solidFill>
                <a:effectLst/>
                <a:latin typeface="Ericsson Hilda Light" pitchFamily="2" charset="0"/>
              </a:rPr>
              <a:t>AVSystems</a:t>
            </a: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 </a:t>
            </a:r>
            <a:r>
              <a:rPr lang="en-GB" sz="2000" err="1">
                <a:solidFill>
                  <a:srgbClr val="333333"/>
                </a:solidFill>
                <a:effectLst/>
                <a:latin typeface="Ericsson Hilda Light" pitchFamily="2" charset="0"/>
              </a:rPr>
              <a:t>Anjay</a:t>
            </a:r>
            <a:endParaRPr lang="en-GB" sz="2000">
              <a:solidFill>
                <a:srgbClr val="333333"/>
              </a:solidFill>
              <a:effectLst/>
              <a:latin typeface="Ericsson Hilda Light" pitchFamily="2" charset="0"/>
            </a:endParaRPr>
          </a:p>
          <a:p>
            <a:pPr marL="285750" indent="-285750" algn="l">
              <a:buFont typeface="System Font Regular"/>
              <a:buChar char="-"/>
            </a:pPr>
            <a:r>
              <a:rPr lang="en-GB" sz="2000" err="1">
                <a:solidFill>
                  <a:srgbClr val="333333"/>
                </a:solidFill>
                <a:effectLst/>
                <a:latin typeface="Ericsson Hilda Light" pitchFamily="2" charset="0"/>
              </a:rPr>
              <a:t>Assa</a:t>
            </a: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 Abloy (</a:t>
            </a:r>
            <a:r>
              <a:rPr lang="en-GB" sz="2000" u="none" strike="noStrike">
                <a:solidFill>
                  <a:srgbClr val="337AB7"/>
                </a:solidFill>
                <a:effectLst/>
                <a:latin typeface="Ericsson Hilda Light" pitchFamily="2" charset="0"/>
                <a:hlinkClick r:id="rId10"/>
              </a:rPr>
              <a:t>link</a:t>
            </a: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)</a:t>
            </a:r>
          </a:p>
          <a:p>
            <a:pPr marL="285750" indent="-285750" algn="l">
              <a:buFont typeface="System Font Regular"/>
              <a:buChar char="-"/>
            </a:pPr>
            <a:r>
              <a:rPr lang="en-GB" sz="2000" err="1">
                <a:solidFill>
                  <a:srgbClr val="333333"/>
                </a:solidFill>
                <a:effectLst/>
                <a:latin typeface="Ericsson Hilda Light" pitchFamily="2" charset="0"/>
              </a:rPr>
              <a:t>Neoway</a:t>
            </a: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 N27 (</a:t>
            </a:r>
            <a:r>
              <a:rPr lang="en-GB" sz="2000" u="none" strike="noStrike">
                <a:solidFill>
                  <a:srgbClr val="337AB7"/>
                </a:solidFill>
                <a:effectLst/>
                <a:latin typeface="Ericsson Hilda Light" pitchFamily="2" charset="0"/>
                <a:hlinkClick r:id="rId11"/>
              </a:rPr>
              <a:t>link</a:t>
            </a: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)</a:t>
            </a:r>
          </a:p>
          <a:p>
            <a:pPr marL="285750" indent="-285750" algn="l">
              <a:buFont typeface="System Font Regular"/>
              <a:buChar char="-"/>
            </a:pPr>
            <a:r>
              <a:rPr lang="en-GB" sz="2000" err="1">
                <a:solidFill>
                  <a:srgbClr val="333333"/>
                </a:solidFill>
                <a:effectLst/>
                <a:latin typeface="Ericsson Hilda Light" pitchFamily="2" charset="0"/>
              </a:rPr>
              <a:t>nRFC</a:t>
            </a: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 Cloud (</a:t>
            </a:r>
            <a:r>
              <a:rPr lang="en-GB" sz="2000" u="none" strike="noStrike">
                <a:solidFill>
                  <a:srgbClr val="337AB7"/>
                </a:solidFill>
                <a:effectLst/>
                <a:latin typeface="Ericsson Hilda Light" pitchFamily="2" charset="0"/>
                <a:hlinkClick r:id="rId7"/>
              </a:rPr>
              <a:t>link</a:t>
            </a: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)</a:t>
            </a:r>
          </a:p>
          <a:p>
            <a:pPr marL="285750" indent="-285750" algn="l">
              <a:buFont typeface="System Font Regular"/>
              <a:buChar char="-"/>
            </a:pPr>
            <a:r>
              <a:rPr lang="en-GB" sz="2000" err="1">
                <a:solidFill>
                  <a:srgbClr val="333333"/>
                </a:solidFill>
                <a:effectLst/>
                <a:latin typeface="Ericsson Hilda Light" pitchFamily="2" charset="0"/>
              </a:rPr>
              <a:t>Golioth</a:t>
            </a: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 (</a:t>
            </a:r>
            <a:r>
              <a:rPr lang="en-GB" sz="2000" u="none" strike="noStrike">
                <a:solidFill>
                  <a:srgbClr val="337AB7"/>
                </a:solidFill>
                <a:effectLst/>
                <a:latin typeface="Ericsson Hilda Light" pitchFamily="2" charset="0"/>
                <a:hlinkClick r:id="rId12"/>
              </a:rPr>
              <a:t>link</a:t>
            </a: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)</a:t>
            </a:r>
          </a:p>
          <a:p>
            <a:pPr marL="285750" indent="-285750" algn="l">
              <a:buFont typeface="System Font Regular"/>
              <a:buChar char="-"/>
            </a:pP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EMQX (</a:t>
            </a:r>
            <a:r>
              <a:rPr lang="en-GB" sz="2000" u="none" strike="noStrike">
                <a:solidFill>
                  <a:srgbClr val="337AB7"/>
                </a:solidFill>
                <a:effectLst/>
                <a:latin typeface="Ericsson Hilda Light" pitchFamily="2" charset="0"/>
                <a:hlinkClick r:id="rId13"/>
              </a:rPr>
              <a:t>link</a:t>
            </a: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)</a:t>
            </a:r>
          </a:p>
          <a:p>
            <a:pPr marL="285750" indent="-285750" algn="l">
              <a:buFont typeface="System Font Regular"/>
              <a:buChar char="-"/>
            </a:pP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…</a:t>
            </a:r>
          </a:p>
          <a:p>
            <a:pPr marL="285750" indent="-285750" algn="l">
              <a:buFont typeface="System Font Regular"/>
              <a:buChar char="-"/>
            </a:pPr>
            <a:endParaRPr lang="en-GB" sz="2000">
              <a:solidFill>
                <a:srgbClr val="333333"/>
              </a:solidFill>
              <a:effectLst/>
              <a:latin typeface="Ericsson Hilda Light" pitchFamily="2" charset="0"/>
            </a:endParaRPr>
          </a:p>
          <a:p>
            <a:br>
              <a:rPr lang="en-GB" sz="2000">
                <a:latin typeface="Ericsson Hilda Light" pitchFamily="2" charset="0"/>
              </a:rPr>
            </a:br>
            <a:endParaRPr lang="en-US" kern="1000" spc="-30">
              <a:solidFill>
                <a:srgbClr val="181818"/>
              </a:solidFill>
              <a:latin typeface="Ericsson Hilda Light" pitchFamily="2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1910D5F-9D80-D1EC-8092-26D26BD31E75}"/>
              </a:ext>
            </a:extLst>
          </p:cNvPr>
          <p:cNvSpPr txBox="1"/>
          <p:nvPr/>
        </p:nvSpPr>
        <p:spPr bwMode="auto">
          <a:xfrm>
            <a:off x="883917" y="1775328"/>
            <a:ext cx="3299462" cy="742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000" tIns="36000" rIns="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300"/>
              </a:spcBef>
              <a:spcAft>
                <a:spcPct val="0"/>
              </a:spcAft>
              <a:buFont typeface="System Font Regular"/>
              <a:buChar char="-"/>
              <a:defRPr/>
            </a:pPr>
            <a:r>
              <a:rPr lang="en-US" sz="1600" kern="1000" spc="-30">
                <a:solidFill>
                  <a:srgbClr val="181818"/>
                </a:solidFill>
                <a:latin typeface="Ericsson Hilda Light" pitchFamily="2" charset="0"/>
              </a:rPr>
              <a:t>OCF</a:t>
            </a:r>
          </a:p>
          <a:p>
            <a:pPr marL="285750" indent="-285750" fontAlgn="base">
              <a:spcBef>
                <a:spcPts val="300"/>
              </a:spcBef>
              <a:spcAft>
                <a:spcPct val="0"/>
              </a:spcAft>
              <a:buFont typeface="System Font Regular"/>
              <a:buChar char="-"/>
              <a:defRPr/>
            </a:pPr>
            <a:r>
              <a:rPr lang="en-US" sz="1600" kern="1000" spc="-30">
                <a:solidFill>
                  <a:srgbClr val="181818"/>
                </a:solidFill>
                <a:latin typeface="Ericsson Hilda Light" pitchFamily="2" charset="0"/>
              </a:rPr>
              <a:t>Zigbee (CSA) </a:t>
            </a:r>
          </a:p>
          <a:p>
            <a:pPr marL="285750" indent="-285750" fontAlgn="base">
              <a:spcBef>
                <a:spcPts val="300"/>
              </a:spcBef>
              <a:spcAft>
                <a:spcPct val="0"/>
              </a:spcAft>
              <a:buFont typeface="System Font Regular"/>
              <a:buChar char="-"/>
              <a:defRPr/>
            </a:pPr>
            <a:r>
              <a:rPr lang="en-US" sz="1600" kern="1000" spc="-30">
                <a:solidFill>
                  <a:srgbClr val="181818"/>
                </a:solidFill>
                <a:latin typeface="Ericsson Hilda Light" pitchFamily="2" charset="0"/>
              </a:rPr>
              <a:t>KNX</a:t>
            </a:r>
          </a:p>
          <a:p>
            <a:pPr marL="285750" indent="-285750" fontAlgn="base">
              <a:spcBef>
                <a:spcPts val="300"/>
              </a:spcBef>
              <a:spcAft>
                <a:spcPct val="0"/>
              </a:spcAft>
              <a:buFont typeface="System Font Regular"/>
              <a:buChar char="-"/>
              <a:defRPr/>
            </a:pPr>
            <a:r>
              <a:rPr lang="en-US" sz="1600" kern="1000" spc="-30">
                <a:solidFill>
                  <a:srgbClr val="181818"/>
                </a:solidFill>
                <a:latin typeface="Ericsson Hilda Light" pitchFamily="2" charset="0"/>
              </a:rPr>
              <a:t>OMA LwM2M</a:t>
            </a:r>
          </a:p>
          <a:p>
            <a:pPr marL="285750" indent="-285750" fontAlgn="base">
              <a:spcBef>
                <a:spcPts val="300"/>
              </a:spcBef>
              <a:spcAft>
                <a:spcPct val="0"/>
              </a:spcAft>
              <a:buFont typeface="System Font Regular"/>
              <a:buChar char="-"/>
              <a:defRPr/>
            </a:pPr>
            <a:r>
              <a:rPr lang="en-US" sz="1600" kern="1000" spc="-30">
                <a:solidFill>
                  <a:srgbClr val="181818"/>
                </a:solidFill>
                <a:latin typeface="Ericsson Hilda Light" pitchFamily="2" charset="0"/>
              </a:rPr>
              <a:t>Open Thread</a:t>
            </a:r>
          </a:p>
          <a:p>
            <a:pPr marL="285750" indent="-285750" fontAlgn="base">
              <a:spcBef>
                <a:spcPts val="300"/>
              </a:spcBef>
              <a:spcAft>
                <a:spcPct val="0"/>
              </a:spcAft>
              <a:buFont typeface="System Font Regular"/>
              <a:buChar char="-"/>
              <a:defRPr/>
            </a:pPr>
            <a:r>
              <a:rPr lang="en-US" sz="1600" kern="1000" spc="-30" err="1">
                <a:solidFill>
                  <a:srgbClr val="181818"/>
                </a:solidFill>
                <a:latin typeface="Ericsson Hilda Light" pitchFamily="2" charset="0"/>
              </a:rPr>
              <a:t>GlobalPlatform</a:t>
            </a:r>
            <a:endParaRPr lang="en-US" sz="1600" kern="1000" spc="-30">
              <a:solidFill>
                <a:srgbClr val="181818"/>
              </a:solidFill>
              <a:latin typeface="Ericsson Hilda Light" pitchFamily="2" charset="0"/>
            </a:endParaRPr>
          </a:p>
          <a:p>
            <a:pPr marL="285750" indent="-285750" fontAlgn="base">
              <a:spcBef>
                <a:spcPts val="300"/>
              </a:spcBef>
              <a:spcAft>
                <a:spcPct val="0"/>
              </a:spcAft>
              <a:buFont typeface="System Font Regular"/>
              <a:buChar char="-"/>
              <a:defRPr/>
            </a:pPr>
            <a:r>
              <a:rPr lang="en-US" sz="1600" kern="1000" spc="-30">
                <a:solidFill>
                  <a:srgbClr val="181818"/>
                </a:solidFill>
                <a:latin typeface="Ericsson Hilda Light" pitchFamily="2" charset="0"/>
              </a:rPr>
              <a:t>3GPP</a:t>
            </a:r>
          </a:p>
          <a:p>
            <a:pPr marL="285750" indent="-285750" fontAlgn="base">
              <a:spcBef>
                <a:spcPts val="300"/>
              </a:spcBef>
              <a:spcAft>
                <a:spcPct val="0"/>
              </a:spcAft>
              <a:buFont typeface="System Font Regular"/>
              <a:buChar char="-"/>
              <a:defRPr/>
            </a:pPr>
            <a:r>
              <a:rPr lang="en-US" sz="1600" kern="1000" spc="-30" err="1">
                <a:solidFill>
                  <a:srgbClr val="181818"/>
                </a:solidFill>
                <a:latin typeface="Ericsson Hilda Light" pitchFamily="2" charset="0"/>
              </a:rPr>
              <a:t>TinyMesh</a:t>
            </a:r>
            <a:endParaRPr lang="en-US" sz="1600" kern="1000" spc="-30">
              <a:solidFill>
                <a:srgbClr val="181818"/>
              </a:solidFill>
              <a:latin typeface="Ericsson Hilda Light" pitchFamily="2" charset="0"/>
            </a:endParaRPr>
          </a:p>
          <a:p>
            <a:pPr marL="285750" indent="-285750" fontAlgn="base">
              <a:spcBef>
                <a:spcPts val="300"/>
              </a:spcBef>
              <a:spcAft>
                <a:spcPct val="0"/>
              </a:spcAft>
              <a:buFont typeface="System Font Regular"/>
              <a:buChar char="-"/>
              <a:defRPr/>
            </a:pPr>
            <a:r>
              <a:rPr lang="en-US" sz="1600" kern="1000" spc="-30">
                <a:solidFill>
                  <a:srgbClr val="181818"/>
                </a:solidFill>
                <a:latin typeface="Ericsson Hilda Light" pitchFamily="2" charset="0"/>
              </a:rPr>
              <a:t>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1C39CF-4E76-F724-C416-CABA424217C8}"/>
              </a:ext>
            </a:extLst>
          </p:cNvPr>
          <p:cNvSpPr/>
          <p:nvPr/>
        </p:nvSpPr>
        <p:spPr bwMode="auto">
          <a:xfrm>
            <a:off x="4893454" y="1343052"/>
            <a:ext cx="6570234" cy="31110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12700" dir="5400000" sx="99500" sy="99500" algn="t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/>
          <a:lstStyle/>
          <a:p>
            <a:pPr marR="0" lvl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b="1">
                <a:solidFill>
                  <a:srgbClr val="181818"/>
                </a:solidFill>
                <a:latin typeface="Ericsson Hilda Light" pitchFamily="2" charset="0"/>
                <a:cs typeface="Arial" panose="020B0604020202020204" pitchFamily="34" charset="0"/>
                <a:sym typeface="Hilda Light" panose="00000400000000000000" pitchFamily="50" charset="0"/>
              </a:rPr>
              <a:t>Products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Ericsson Hilda Light" pitchFamily="2" charset="0"/>
              <a:cs typeface="Arial" panose="020B0604020202020204" pitchFamily="34" charset="0"/>
              <a:sym typeface="Hilda Light" panose="00000400000000000000" pitchFamily="50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B6B885-0A21-2273-7DD3-853C91AA3D83}"/>
              </a:ext>
            </a:extLst>
          </p:cNvPr>
          <p:cNvSpPr/>
          <p:nvPr/>
        </p:nvSpPr>
        <p:spPr bwMode="auto">
          <a:xfrm>
            <a:off x="883917" y="4349092"/>
            <a:ext cx="3289871" cy="31110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12700" dir="5400000" sx="99500" sy="99500" algn="t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/>
          <a:lstStyle/>
          <a:p>
            <a:pPr marR="0" lvl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b="1">
                <a:solidFill>
                  <a:srgbClr val="181818"/>
                </a:solidFill>
                <a:latin typeface="Ericsson Hilda Light" pitchFamily="2" charset="0"/>
                <a:cs typeface="Arial" panose="020B0604020202020204" pitchFamily="34" charset="0"/>
                <a:sym typeface="Hilda Light" panose="00000400000000000000" pitchFamily="50" charset="0"/>
              </a:rPr>
              <a:t>Network Modules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Ericsson Hilda Light" pitchFamily="2" charset="0"/>
              <a:cs typeface="Arial" panose="020B0604020202020204" pitchFamily="34" charset="0"/>
              <a:sym typeface="Hilda Light" panose="00000400000000000000" pitchFamily="50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42CE24-35BA-BF13-83A8-C311C11A3176}"/>
              </a:ext>
            </a:extLst>
          </p:cNvPr>
          <p:cNvSpPr/>
          <p:nvPr/>
        </p:nvSpPr>
        <p:spPr bwMode="auto">
          <a:xfrm>
            <a:off x="947929" y="1343052"/>
            <a:ext cx="2380488" cy="31110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12700" dir="5400000" sx="99500" sy="99500" algn="t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/>
          <a:lstStyle/>
          <a:p>
            <a:pPr marR="0" lvl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b="1">
                <a:solidFill>
                  <a:srgbClr val="181818"/>
                </a:solidFill>
                <a:latin typeface="Ericsson Hilda Light" pitchFamily="2" charset="0"/>
                <a:cs typeface="Arial" panose="020B0604020202020204" pitchFamily="34" charset="0"/>
                <a:sym typeface="Hilda Light" panose="00000400000000000000" pitchFamily="50" charset="0"/>
              </a:rPr>
              <a:t>SDOs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Ericsson Hilda Light" pitchFamily="2" charset="0"/>
              <a:cs typeface="Arial" panose="020B0604020202020204" pitchFamily="34" charset="0"/>
              <a:sym typeface="Hilda Light" panose="00000400000000000000" pitchFamily="50" charset="0"/>
            </a:endParaRPr>
          </a:p>
        </p:txBody>
      </p:sp>
      <p:sp>
        <p:nvSpPr>
          <p:cNvPr id="5" name="TextBox 4">
            <a:hlinkClick r:id="rId7"/>
            <a:extLst>
              <a:ext uri="{FF2B5EF4-FFF2-40B4-BE49-F238E27FC236}">
                <a16:creationId xmlns:a16="http://schemas.microsoft.com/office/drawing/2014/main" id="{D4D8D8A7-F858-CD53-4BC0-782484903D04}"/>
              </a:ext>
            </a:extLst>
          </p:cNvPr>
          <p:cNvSpPr txBox="1"/>
          <p:nvPr/>
        </p:nvSpPr>
        <p:spPr bwMode="auto">
          <a:xfrm>
            <a:off x="8398811" y="1775327"/>
            <a:ext cx="3299462" cy="4536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000" tIns="36000" rIns="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285750" indent="-285750" algn="l">
              <a:buFont typeface="System Font Regular"/>
              <a:buChar char="-"/>
            </a:pPr>
            <a:r>
              <a:rPr lang="en-GB" sz="2000">
                <a:solidFill>
                  <a:srgbClr val="333333"/>
                </a:solidFill>
                <a:latin typeface="Ericsson Hilda Light" pitchFamily="2" charset="0"/>
              </a:rPr>
              <a:t>IKEA </a:t>
            </a:r>
            <a:r>
              <a:rPr lang="en-GB" sz="2000" err="1">
                <a:solidFill>
                  <a:srgbClr val="333333"/>
                </a:solidFill>
                <a:latin typeface="Ericsson Hilda Light" pitchFamily="2" charset="0"/>
              </a:rPr>
              <a:t>Tradfi</a:t>
            </a:r>
            <a:r>
              <a:rPr lang="en-GB" sz="2000">
                <a:solidFill>
                  <a:srgbClr val="333333"/>
                </a:solidFill>
                <a:latin typeface="Ericsson Hilda Light" pitchFamily="2" charset="0"/>
              </a:rPr>
              <a:t> (</a:t>
            </a:r>
            <a:r>
              <a:rPr lang="en-GB" sz="2000">
                <a:solidFill>
                  <a:srgbClr val="333333"/>
                </a:solidFill>
                <a:latin typeface="Ericsson Hilda Light" pitchFamily="2" charset="0"/>
                <a:hlinkClick r:id="rId14"/>
              </a:rPr>
              <a:t>link</a:t>
            </a:r>
            <a:r>
              <a:rPr lang="en-GB" sz="2000">
                <a:solidFill>
                  <a:srgbClr val="333333"/>
                </a:solidFill>
                <a:latin typeface="Ericsson Hilda Light" pitchFamily="2" charset="0"/>
              </a:rPr>
              <a:t>)</a:t>
            </a:r>
          </a:p>
          <a:p>
            <a:pPr marL="285750" indent="-285750" algn="l">
              <a:buFont typeface="System Font Regular"/>
              <a:buChar char="-"/>
            </a:pP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Philips lights , </a:t>
            </a:r>
            <a:r>
              <a:rPr lang="en-GB" sz="2000" err="1">
                <a:solidFill>
                  <a:srgbClr val="333333"/>
                </a:solidFill>
                <a:effectLst/>
                <a:latin typeface="Ericsson Hilda Light" pitchFamily="2" charset="0"/>
              </a:rPr>
              <a:t>AirPurifier</a:t>
            </a:r>
            <a:endParaRPr lang="en-GB" sz="2000">
              <a:solidFill>
                <a:srgbClr val="333333"/>
              </a:solidFill>
              <a:effectLst/>
              <a:latin typeface="Ericsson Hilda Light" pitchFamily="2" charset="0"/>
            </a:endParaRPr>
          </a:p>
          <a:p>
            <a:pPr marL="285750" indent="-285750" algn="l">
              <a:buFont typeface="System Font Regular"/>
              <a:buChar char="-"/>
            </a:pPr>
            <a:r>
              <a:rPr lang="en-GB" sz="2000">
                <a:solidFill>
                  <a:srgbClr val="333333"/>
                </a:solidFill>
                <a:latin typeface="Ericsson Hilda Light" pitchFamily="2" charset="0"/>
              </a:rPr>
              <a:t>Shelly</a:t>
            </a:r>
          </a:p>
          <a:p>
            <a:pPr marL="285750" indent="-285750" algn="l">
              <a:buFont typeface="System Font Regular"/>
              <a:buChar char="-"/>
            </a:pP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Gardena</a:t>
            </a:r>
          </a:p>
          <a:p>
            <a:pPr marL="285750" indent="-285750" algn="l">
              <a:buFont typeface="System Font Regular"/>
              <a:buChar char="-"/>
            </a:pPr>
            <a:r>
              <a:rPr lang="en-GB" sz="2000" err="1">
                <a:solidFill>
                  <a:srgbClr val="333333"/>
                </a:solidFill>
                <a:effectLst/>
                <a:latin typeface="Ericsson Hilda Light" pitchFamily="2" charset="0"/>
              </a:rPr>
              <a:t>Itron</a:t>
            </a: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 Smart meters (</a:t>
            </a:r>
            <a:r>
              <a:rPr lang="en-GB" sz="2000" u="none" strike="noStrike">
                <a:solidFill>
                  <a:srgbClr val="337AB7"/>
                </a:solidFill>
                <a:effectLst/>
                <a:latin typeface="Ericsson Hilda Light" pitchFamily="2" charset="0"/>
                <a:hlinkClick r:id="rId15"/>
              </a:rPr>
              <a:t>link</a:t>
            </a: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)</a:t>
            </a:r>
          </a:p>
          <a:p>
            <a:pPr marL="285750" indent="-285750" algn="l">
              <a:buFont typeface="System Font Regular"/>
              <a:buChar char="-"/>
            </a:pPr>
            <a:r>
              <a:rPr lang="en-GB" sz="2000" err="1">
                <a:solidFill>
                  <a:srgbClr val="333333"/>
                </a:solidFill>
                <a:effectLst/>
                <a:latin typeface="Ericsson Hilda Light" pitchFamily="2" charset="0"/>
              </a:rPr>
              <a:t>ThingWave</a:t>
            </a: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 Mining Bolts</a:t>
            </a:r>
          </a:p>
          <a:p>
            <a:pPr marL="285750" indent="-285750" algn="l">
              <a:buFont typeface="System Font Regular"/>
              <a:buChar char="-"/>
            </a:pPr>
            <a:r>
              <a:rPr lang="en-GB" sz="2000">
                <a:solidFill>
                  <a:srgbClr val="333333"/>
                </a:solidFill>
                <a:latin typeface="Ericsson Hilda Light" pitchFamily="2" charset="0"/>
              </a:rPr>
              <a:t>Cisco IoT FND (</a:t>
            </a:r>
            <a:r>
              <a:rPr lang="en-GB" sz="2000">
                <a:solidFill>
                  <a:srgbClr val="333333"/>
                </a:solidFill>
                <a:latin typeface="Ericsson Hilda Light" pitchFamily="2" charset="0"/>
                <a:hlinkClick r:id="rId16"/>
              </a:rPr>
              <a:t>link</a:t>
            </a:r>
            <a:r>
              <a:rPr lang="en-GB" sz="2000">
                <a:solidFill>
                  <a:srgbClr val="333333"/>
                </a:solidFill>
                <a:latin typeface="Ericsson Hilda Light" pitchFamily="2" charset="0"/>
              </a:rPr>
              <a:t>)</a:t>
            </a: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 ISP IoT platforms</a:t>
            </a:r>
          </a:p>
          <a:p>
            <a:pPr marL="742950" lvl="1" indent="-285750" algn="l">
              <a:buFont typeface="System Font Regular"/>
              <a:buChar char="-"/>
            </a:pP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Deutsche Telekom (</a:t>
            </a:r>
            <a:r>
              <a:rPr lang="en-GB" sz="2000" u="none" strike="noStrike">
                <a:solidFill>
                  <a:srgbClr val="337AB7"/>
                </a:solidFill>
                <a:effectLst/>
                <a:latin typeface="Ericsson Hilda Light" pitchFamily="2" charset="0"/>
                <a:hlinkClick r:id="rId17"/>
              </a:rPr>
              <a:t>link</a:t>
            </a: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)</a:t>
            </a:r>
          </a:p>
          <a:p>
            <a:pPr marL="742950" lvl="1" indent="-285750" algn="l">
              <a:buFont typeface="System Font Regular"/>
              <a:buChar char="-"/>
            </a:pP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T-Mobile</a:t>
            </a:r>
          </a:p>
          <a:p>
            <a:pPr marL="742950" lvl="1" indent="-285750" algn="l">
              <a:buFont typeface="System Font Regular"/>
              <a:buChar char="-"/>
            </a:pP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AT&amp;T</a:t>
            </a:r>
          </a:p>
          <a:p>
            <a:pPr marL="742950" lvl="1" indent="-285750" algn="l">
              <a:buFont typeface="System Font Regular"/>
              <a:buChar char="-"/>
            </a:pP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Softbank</a:t>
            </a:r>
          </a:p>
          <a:p>
            <a:pPr marL="742950" lvl="1" indent="-285750" algn="l">
              <a:buFont typeface="System Font Regular"/>
              <a:buChar char="-"/>
            </a:pPr>
            <a:r>
              <a:rPr lang="en-GB" sz="2000">
                <a:solidFill>
                  <a:srgbClr val="333333"/>
                </a:solidFill>
                <a:latin typeface="Ericsson Hilda Light" pitchFamily="2" charset="0"/>
              </a:rPr>
              <a:t>…</a:t>
            </a:r>
            <a:endParaRPr lang="en-GB" sz="2000">
              <a:solidFill>
                <a:srgbClr val="333333"/>
              </a:solidFill>
              <a:effectLst/>
              <a:latin typeface="Ericsson Hilda Light" pitchFamily="2" charset="0"/>
            </a:endParaRPr>
          </a:p>
          <a:p>
            <a:pPr marL="285750" indent="-285750" algn="l">
              <a:buFont typeface="System Font Regular"/>
              <a:buChar char="-"/>
            </a:pPr>
            <a:endParaRPr lang="en-GB" sz="2000">
              <a:solidFill>
                <a:srgbClr val="333333"/>
              </a:solidFill>
              <a:effectLst/>
              <a:latin typeface="Ericsson Hilda Light" pitchFamily="2" charset="0"/>
            </a:endParaRPr>
          </a:p>
          <a:p>
            <a:br>
              <a:rPr lang="en-GB" sz="2000">
                <a:latin typeface="Ericsson Hilda Light" pitchFamily="2" charset="0"/>
              </a:rPr>
            </a:br>
            <a:endParaRPr lang="en-US" kern="1000" spc="-30">
              <a:solidFill>
                <a:srgbClr val="181818"/>
              </a:solidFill>
              <a:latin typeface="Ericsson Hilda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91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29C9F269-0BA8-384B-03E8-54112155CF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1" r="5200"/>
          <a:stretch/>
        </p:blipFill>
        <p:spPr bwMode="auto"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87CE92-7C06-DBEC-FD59-0978F49E2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3CAAA28-F559-354F-AB37-87EC387942A5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9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757BCF-F692-3C4D-3470-F8B91CA837FF}"/>
              </a:ext>
            </a:extLst>
          </p:cNvPr>
          <p:cNvSpPr txBox="1">
            <a:spLocks/>
          </p:cNvSpPr>
          <p:nvPr/>
        </p:nvSpPr>
        <p:spPr>
          <a:xfrm>
            <a:off x="6685845" y="407987"/>
            <a:ext cx="5251316" cy="1807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 eaLnBrk="1" fontAlgn="base" hangingPunct="1">
              <a:lnSpc>
                <a:spcPct val="85000"/>
              </a:lnSpc>
              <a:spcBef>
                <a:spcPts val="300"/>
              </a:spcBef>
              <a:spcAft>
                <a:spcPct val="0"/>
              </a:spcAft>
              <a:defRPr sz="4000" kern="1400" spc="-16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Ericsson Hilda" pitchFamily="2" charset="0"/>
              </a:defRPr>
            </a:lvl2pPr>
            <a:lvl3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Ericsson Hilda" pitchFamily="2" charset="0"/>
              </a:defRPr>
            </a:lvl3pPr>
            <a:lvl4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Ericsson Hilda" pitchFamily="2" charset="0"/>
              </a:defRPr>
            </a:lvl4pPr>
            <a:lvl5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Ericsson Hilda" pitchFamily="2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Ericsson Hilda" pitchFamily="2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Ericsson Hilda" pitchFamily="2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Ericsson Hilda" pitchFamily="2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Ericsson Hilda" pitchFamily="2" charset="0"/>
              </a:defRPr>
            </a:lvl9pPr>
          </a:lstStyle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4400" b="0" i="0" u="none" strike="noStrike" kern="1200" cap="none" spc="-160" normalizeH="0" baseline="0" noProof="0">
                <a:ln>
                  <a:noFill/>
                </a:ln>
                <a:effectLst/>
                <a:uLnTx/>
                <a:uFillTx/>
              </a:rPr>
              <a:t>Agenda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562ED97-9B3D-0221-6A9E-A8C1D38E377F}"/>
              </a:ext>
            </a:extLst>
          </p:cNvPr>
          <p:cNvSpPr txBox="1">
            <a:spLocks/>
          </p:cNvSpPr>
          <p:nvPr/>
        </p:nvSpPr>
        <p:spPr>
          <a:xfrm>
            <a:off x="6685844" y="2376159"/>
            <a:ext cx="5055883" cy="3843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0000" indent="-18000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3600" indent="-18000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2pPr>
            <a:lvl3pPr marL="543600" indent="-18000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3pPr>
            <a:lvl4pPr marL="723600" indent="-18000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4pPr>
            <a:lvl5pPr marL="903600" indent="-18000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5pPr>
            <a:lvl6pPr marL="903600" indent="-18000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6pPr>
            <a:lvl7pPr marL="903600" indent="-18000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7pPr>
            <a:lvl8pPr marL="903600" indent="-18000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8pPr>
            <a:lvl9pPr marL="903600" indent="-18000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408600" indent="-4572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3000" kern="1200">
                <a:solidFill>
                  <a:schemeClr val="bg2"/>
                </a:solidFill>
                <a:latin typeface="+mj-lt"/>
              </a:rPr>
              <a:t>CoAP intro</a:t>
            </a:r>
          </a:p>
          <a:p>
            <a:pPr marL="408600" marR="0" lvl="0" indent="-457200" fontAlgn="base">
              <a:lnSpc>
                <a:spcPct val="90000"/>
              </a:lnSpc>
              <a:spcBef>
                <a:spcPts val="80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sz="3000" kern="1200">
                <a:latin typeface="+mj-lt"/>
              </a:rPr>
              <a:t>CoAP </a:t>
            </a:r>
            <a:r>
              <a:rPr lang="en-US" sz="3000" kern="1200" err="1">
                <a:latin typeface="+mj-lt"/>
              </a:rPr>
              <a:t>PubSub</a:t>
            </a:r>
            <a:r>
              <a:rPr lang="en-US" sz="3000" kern="1200">
                <a:latin typeface="+mj-lt"/>
              </a:rPr>
              <a:t> Broker</a:t>
            </a:r>
          </a:p>
          <a:p>
            <a:pPr marL="408600" marR="0" lvl="0" indent="-457200" fontAlgn="base">
              <a:lnSpc>
                <a:spcPct val="90000"/>
              </a:lnSpc>
              <a:spcBef>
                <a:spcPts val="80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sz="3000" kern="1200">
                <a:solidFill>
                  <a:schemeClr val="bg2"/>
                </a:solidFill>
                <a:latin typeface="+mj-lt"/>
              </a:rPr>
              <a:t>Demo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375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36DB8-1DD4-43C1-AE09-31397DC58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41" y="312367"/>
            <a:ext cx="10743628" cy="846795"/>
          </a:xfrm>
        </p:spPr>
        <p:txBody>
          <a:bodyPr>
            <a:normAutofit/>
          </a:bodyPr>
          <a:lstStyle/>
          <a:p>
            <a:r>
              <a:rPr lang="en-US">
                <a:latin typeface="Ericsson Hilda" pitchFamily="2" charset="0"/>
              </a:rPr>
              <a:t>Basic Concepts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78FADA-9566-30E9-AF8C-D16CD608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FI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3CAAA28-F559-354F-AB37-87EC387942A5}" type="slidenum">
              <a:rPr lang="en-FI" smtClean="0"/>
              <a:pPr/>
              <a:t>10</a:t>
            </a:fld>
            <a:endParaRPr lang="en-FI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52776E8-B382-2814-07BD-0D8D44893B3B}"/>
              </a:ext>
            </a:extLst>
          </p:cNvPr>
          <p:cNvGrpSpPr/>
          <p:nvPr/>
        </p:nvGrpSpPr>
        <p:grpSpPr>
          <a:xfrm>
            <a:off x="4597449" y="623470"/>
            <a:ext cx="2821923" cy="854257"/>
            <a:chOff x="479423" y="1033704"/>
            <a:chExt cx="11232001" cy="675352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A3B6722-AD27-94E0-9883-7C83329B4993}"/>
                </a:ext>
              </a:extLst>
            </p:cNvPr>
            <p:cNvSpPr/>
            <p:nvPr/>
          </p:nvSpPr>
          <p:spPr bwMode="auto">
            <a:xfrm>
              <a:off x="479423" y="1033704"/>
              <a:ext cx="11231997" cy="6694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dist="12700" dir="5400000" sx="99500" sy="99500" algn="t" rotWithShape="0">
                <a:schemeClr val="tx1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b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>
                  <a:solidFill>
                    <a:srgbClr val="181818"/>
                  </a:solidFill>
                  <a:latin typeface="Ericsson Hilda"/>
                  <a:cs typeface="Arial" panose="020B0604020202020204" pitchFamily="34" charset="0"/>
                  <a:sym typeface="Hilda Light" panose="00000400000000000000" pitchFamily="50" charset="0"/>
                </a:rPr>
                <a:t>Can I not get notifications with REST?</a:t>
              </a: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5FCFDCB-C458-207D-B03A-BAE101AF0AC0}"/>
                </a:ext>
              </a:extLst>
            </p:cNvPr>
            <p:cNvCxnSpPr/>
            <p:nvPr/>
          </p:nvCxnSpPr>
          <p:spPr bwMode="auto">
            <a:xfrm>
              <a:off x="479424" y="1709056"/>
              <a:ext cx="11232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B4066DF5-95AC-D04E-3F0F-4157225D8966}"/>
              </a:ext>
            </a:extLst>
          </p:cNvPr>
          <p:cNvSpPr txBox="1"/>
          <p:nvPr/>
        </p:nvSpPr>
        <p:spPr bwMode="auto">
          <a:xfrm>
            <a:off x="4597448" y="1599522"/>
            <a:ext cx="3568241" cy="4585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000" tIns="36000" rIns="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b="1" kern="1000" spc="-30">
                <a:solidFill>
                  <a:srgbClr val="181818"/>
                </a:solidFill>
                <a:latin typeface="+mj-lt"/>
              </a:rPr>
              <a:t>HTTP  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GB" sz="1600" i="0">
                <a:solidFill>
                  <a:srgbClr val="000000"/>
                </a:solidFill>
                <a:effectLst/>
                <a:latin typeface="+mj-lt"/>
              </a:rPr>
              <a:t>- Comet</a:t>
            </a:r>
            <a:r>
              <a:rPr lang="en-GB" sz="1600" i="0">
                <a:solidFill>
                  <a:srgbClr val="333333"/>
                </a:solidFill>
                <a:effectLst/>
                <a:latin typeface="+mj-lt"/>
              </a:rPr>
              <a:t> </a:t>
            </a:r>
            <a:r>
              <a:rPr lang="en-GB" sz="1600" b="0" i="0">
                <a:solidFill>
                  <a:srgbClr val="333333"/>
                </a:solidFill>
                <a:effectLst/>
                <a:latin typeface="+mj-lt"/>
              </a:rPr>
              <a:t>(1996, now obsolete)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GB" sz="1600" i="0">
                <a:solidFill>
                  <a:srgbClr val="000000"/>
                </a:solidFill>
                <a:effectLst/>
                <a:latin typeface="+mj-lt"/>
              </a:rPr>
              <a:t>- Server-Sent Events (SSE)</a:t>
            </a:r>
            <a:r>
              <a:rPr lang="en-GB" sz="1600" b="0" i="0">
                <a:solidFill>
                  <a:srgbClr val="333333"/>
                </a:solidFill>
                <a:effectLst/>
                <a:latin typeface="+mj-lt"/>
              </a:rPr>
              <a:t> (2004)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GB" sz="1600" i="0">
                <a:solidFill>
                  <a:srgbClr val="000000"/>
                </a:solidFill>
                <a:effectLst/>
                <a:latin typeface="+mj-lt"/>
              </a:rPr>
              <a:t>- WebSocket</a:t>
            </a:r>
            <a:r>
              <a:rPr lang="en-GB" sz="1600" i="0">
                <a:solidFill>
                  <a:srgbClr val="333333"/>
                </a:solidFill>
                <a:effectLst/>
                <a:latin typeface="+mj-lt"/>
              </a:rPr>
              <a:t> </a:t>
            </a:r>
            <a:r>
              <a:rPr lang="en-GB" sz="1600" b="0" i="0">
                <a:solidFill>
                  <a:srgbClr val="333333"/>
                </a:solidFill>
                <a:effectLst/>
                <a:latin typeface="+mj-lt"/>
              </a:rPr>
              <a:t>(2008): full-duplex communication channels over a single TCP connection. 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GB" sz="1600" i="0">
                <a:solidFill>
                  <a:srgbClr val="000000"/>
                </a:solidFill>
                <a:effectLst/>
                <a:latin typeface="+mj-lt"/>
              </a:rPr>
              <a:t>- </a:t>
            </a:r>
            <a:r>
              <a:rPr lang="en-GB" sz="1600" i="0" err="1">
                <a:solidFill>
                  <a:srgbClr val="000000"/>
                </a:solidFill>
                <a:effectLst/>
                <a:latin typeface="+mj-lt"/>
              </a:rPr>
              <a:t>WebTransport</a:t>
            </a:r>
            <a:r>
              <a:rPr lang="en-GB" sz="1600" i="0">
                <a:solidFill>
                  <a:srgbClr val="333333"/>
                </a:solidFill>
                <a:effectLst/>
                <a:latin typeface="+mj-lt"/>
              </a:rPr>
              <a:t> </a:t>
            </a:r>
            <a:r>
              <a:rPr lang="en-GB" sz="1600" b="0" i="0">
                <a:solidFill>
                  <a:srgbClr val="333333"/>
                </a:solidFill>
                <a:effectLst/>
                <a:latin typeface="+mj-lt"/>
              </a:rPr>
              <a:t>(Under development): bidirectional transport between browser and server. </a:t>
            </a:r>
            <a:br>
              <a:rPr lang="en-GB" sz="1600" b="0" i="0">
                <a:solidFill>
                  <a:srgbClr val="333333"/>
                </a:solidFill>
                <a:effectLst/>
                <a:latin typeface="+mj-lt"/>
              </a:rPr>
            </a:br>
            <a:r>
              <a:rPr lang="en-GB" sz="1600" b="0" i="0">
                <a:solidFill>
                  <a:srgbClr val="333333"/>
                </a:solidFill>
                <a:effectLst/>
                <a:latin typeface="+mj-lt"/>
              </a:rPr>
              <a:t>- </a:t>
            </a:r>
            <a:r>
              <a:rPr lang="en-GB" sz="1600" i="0">
                <a:solidFill>
                  <a:srgbClr val="000000"/>
                </a:solidFill>
                <a:effectLst/>
                <a:latin typeface="+mj-lt"/>
              </a:rPr>
              <a:t>Braid</a:t>
            </a:r>
            <a:r>
              <a:rPr lang="en-GB" sz="1600" i="0">
                <a:solidFill>
                  <a:srgbClr val="333333"/>
                </a:solidFill>
                <a:effectLst/>
                <a:latin typeface="+mj-lt"/>
              </a:rPr>
              <a:t>:</a:t>
            </a:r>
            <a:r>
              <a:rPr lang="en-GB" sz="1600" b="0" i="0">
                <a:solidFill>
                  <a:srgbClr val="333333"/>
                </a:solidFill>
                <a:effectLst/>
                <a:latin typeface="+mj-lt"/>
              </a:rPr>
              <a:t> HTTP extension for state synchronization. 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endParaRPr lang="en-GB" sz="1600">
              <a:solidFill>
                <a:srgbClr val="333333"/>
              </a:solidFill>
              <a:latin typeface="+mj-lt"/>
            </a:endParaRPr>
          </a:p>
          <a:p>
            <a:pPr marL="285750" indent="-285750" fontAlgn="base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GB" sz="1600" b="1">
                <a:solidFill>
                  <a:srgbClr val="333333"/>
                </a:solidFill>
                <a:latin typeface="+mj-lt"/>
              </a:rPr>
              <a:t>CoAP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GB" sz="1600" i="0">
                <a:solidFill>
                  <a:srgbClr val="000000"/>
                </a:solidFill>
                <a:effectLst/>
                <a:latin typeface="+mj-lt"/>
              </a:rPr>
              <a:t>- CoAP Observe (2015)</a:t>
            </a:r>
            <a:endParaRPr lang="en-US" sz="1600" kern="1000" spc="-30">
              <a:solidFill>
                <a:srgbClr val="181818"/>
              </a:solidFill>
              <a:latin typeface="+mj-lt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C4FBECB-D976-1F64-61E4-E21B384EA050}"/>
              </a:ext>
            </a:extLst>
          </p:cNvPr>
          <p:cNvGrpSpPr/>
          <p:nvPr/>
        </p:nvGrpSpPr>
        <p:grpSpPr>
          <a:xfrm>
            <a:off x="785531" y="1148476"/>
            <a:ext cx="3062009" cy="318564"/>
            <a:chOff x="479423" y="1457208"/>
            <a:chExt cx="11232001" cy="251848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38BA83C-804A-801A-D5F3-94134727B478}"/>
                </a:ext>
              </a:extLst>
            </p:cNvPr>
            <p:cNvSpPr/>
            <p:nvPr/>
          </p:nvSpPr>
          <p:spPr bwMode="auto">
            <a:xfrm>
              <a:off x="479423" y="1457208"/>
              <a:ext cx="11231999" cy="2459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dist="12700" dir="5400000" sx="99500" sy="99500" algn="t" rotWithShape="0">
                <a:schemeClr val="tx1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b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>
                  <a:solidFill>
                    <a:srgbClr val="181818"/>
                  </a:solidFill>
                  <a:latin typeface="Ericsson Hilda"/>
                  <a:cs typeface="Arial" panose="020B0604020202020204" pitchFamily="34" charset="0"/>
                  <a:sym typeface="Hilda Light" panose="00000400000000000000" pitchFamily="50" charset="0"/>
                </a:rPr>
                <a:t>REST &amp; 	Pubsub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64859E7-CD02-EAE8-0A7C-C2E5EDFFC43D}"/>
                </a:ext>
              </a:extLst>
            </p:cNvPr>
            <p:cNvCxnSpPr/>
            <p:nvPr/>
          </p:nvCxnSpPr>
          <p:spPr bwMode="auto">
            <a:xfrm>
              <a:off x="479424" y="1709056"/>
              <a:ext cx="11232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EE151EB6-431A-90A8-AF6A-1F6F5AF7195A}"/>
              </a:ext>
            </a:extLst>
          </p:cNvPr>
          <p:cNvSpPr txBox="1"/>
          <p:nvPr/>
        </p:nvSpPr>
        <p:spPr bwMode="auto">
          <a:xfrm>
            <a:off x="525902" y="1610477"/>
            <a:ext cx="3878015" cy="1995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000" tIns="36000" rIns="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kern="1000" spc="-30">
                <a:solidFill>
                  <a:srgbClr val="181818"/>
                </a:solidFill>
                <a:latin typeface="+mj-lt"/>
              </a:rPr>
              <a:t>REST is about resources and transferring their representations between client and server. IoT aim is to minimize state for scale.</a:t>
            </a:r>
            <a:br>
              <a:rPr lang="en-US" sz="1600" kern="1000" spc="-30">
                <a:solidFill>
                  <a:srgbClr val="181818"/>
                </a:solidFill>
                <a:latin typeface="+mj-lt"/>
              </a:rPr>
            </a:br>
            <a:endParaRPr lang="en-US" sz="1600" kern="1000" spc="-30">
              <a:solidFill>
                <a:srgbClr val="181818"/>
              </a:solidFill>
              <a:latin typeface="+mj-lt"/>
            </a:endParaRPr>
          </a:p>
          <a:p>
            <a:pPr marL="285750" indent="-285750" fontAlgn="base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kern="1000" spc="-30" err="1">
                <a:solidFill>
                  <a:srgbClr val="181818"/>
                </a:solidFill>
                <a:latin typeface="+mj-lt"/>
              </a:rPr>
              <a:t>PubSub</a:t>
            </a:r>
            <a:r>
              <a:rPr lang="en-US" sz="1600" kern="1000" spc="-30">
                <a:solidFill>
                  <a:srgbClr val="181818"/>
                </a:solidFill>
                <a:latin typeface="+mj-lt"/>
              </a:rPr>
              <a:t> is about asynchronous events over a message queue. IoT aim is for publisher to fire and forget.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6A96D2A-C507-9BF3-9FB0-4C0AB6F464B2}"/>
              </a:ext>
            </a:extLst>
          </p:cNvPr>
          <p:cNvSpPr/>
          <p:nvPr/>
        </p:nvSpPr>
        <p:spPr>
          <a:xfrm>
            <a:off x="747678" y="3932677"/>
            <a:ext cx="750498" cy="5520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I" sz="1100">
                <a:latin typeface="Courier New" panose="02070309020205020404" pitchFamily="49" charset="0"/>
                <a:cs typeface="Courier New" panose="02070309020205020404" pitchFamily="49" charset="0"/>
              </a:rPr>
              <a:t>thing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CC84A71-5C48-53C0-1DD3-BAE74D744564}"/>
              </a:ext>
            </a:extLst>
          </p:cNvPr>
          <p:cNvSpPr/>
          <p:nvPr/>
        </p:nvSpPr>
        <p:spPr>
          <a:xfrm>
            <a:off x="3174935" y="3929801"/>
            <a:ext cx="750498" cy="5520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I" sz="1100">
                <a:latin typeface="Courier New" panose="02070309020205020404" pitchFamily="49" charset="0"/>
                <a:cs typeface="Courier New" panose="02070309020205020404" pitchFamily="49" charset="0"/>
              </a:rPr>
              <a:t>thing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711FBE7-4C2E-D0A1-7742-E36E461C998D}"/>
              </a:ext>
            </a:extLst>
          </p:cNvPr>
          <p:cNvCxnSpPr/>
          <p:nvPr/>
        </p:nvCxnSpPr>
        <p:spPr>
          <a:xfrm>
            <a:off x="1567188" y="4133425"/>
            <a:ext cx="15268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3C89788-C3FB-8803-F957-953BE80BC111}"/>
              </a:ext>
            </a:extLst>
          </p:cNvPr>
          <p:cNvCxnSpPr>
            <a:cxnSpLocks/>
          </p:cNvCxnSpPr>
          <p:nvPr/>
        </p:nvCxnSpPr>
        <p:spPr>
          <a:xfrm flipH="1">
            <a:off x="1567188" y="4352496"/>
            <a:ext cx="15142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D957C57B-BE96-1061-8D84-ABD9D35AD454}"/>
              </a:ext>
            </a:extLst>
          </p:cNvPr>
          <p:cNvSpPr/>
          <p:nvPr/>
        </p:nvSpPr>
        <p:spPr>
          <a:xfrm>
            <a:off x="785531" y="5635813"/>
            <a:ext cx="750498" cy="5520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I" sz="1100">
                <a:latin typeface="Courier New" panose="02070309020205020404" pitchFamily="49" charset="0"/>
                <a:cs typeface="Courier New" panose="02070309020205020404" pitchFamily="49" charset="0"/>
              </a:rPr>
              <a:t>thing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B462577-2E26-8707-A82A-8D1566077E6A}"/>
              </a:ext>
            </a:extLst>
          </p:cNvPr>
          <p:cNvSpPr/>
          <p:nvPr/>
        </p:nvSpPr>
        <p:spPr>
          <a:xfrm>
            <a:off x="3212788" y="5632937"/>
            <a:ext cx="750498" cy="5520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I" sz="1100">
                <a:latin typeface="Courier New" panose="02070309020205020404" pitchFamily="49" charset="0"/>
                <a:cs typeface="Courier New" panose="02070309020205020404" pitchFamily="49" charset="0"/>
              </a:rPr>
              <a:t>thing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15DE0C1-B09B-B5B5-95D3-DB2CFAFEEC61}"/>
              </a:ext>
            </a:extLst>
          </p:cNvPr>
          <p:cNvCxnSpPr>
            <a:cxnSpLocks/>
            <a:stCxn id="85" idx="0"/>
            <a:endCxn id="89" idx="1"/>
          </p:cNvCxnSpPr>
          <p:nvPr/>
        </p:nvCxnSpPr>
        <p:spPr>
          <a:xfrm flipV="1">
            <a:off x="1160780" y="5004442"/>
            <a:ext cx="838967" cy="631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3D86FB4-13D7-6E72-6EDC-EEBCA332119C}"/>
              </a:ext>
            </a:extLst>
          </p:cNvPr>
          <p:cNvCxnSpPr>
            <a:cxnSpLocks/>
            <a:stCxn id="86" idx="0"/>
            <a:endCxn id="89" idx="3"/>
          </p:cNvCxnSpPr>
          <p:nvPr/>
        </p:nvCxnSpPr>
        <p:spPr>
          <a:xfrm flipH="1" flipV="1">
            <a:off x="2750245" y="5004442"/>
            <a:ext cx="837792" cy="628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9023F3B9-4636-DBFE-FA9D-54016F58F53F}"/>
              </a:ext>
            </a:extLst>
          </p:cNvPr>
          <p:cNvSpPr/>
          <p:nvPr/>
        </p:nvSpPr>
        <p:spPr>
          <a:xfrm>
            <a:off x="1999747" y="4728396"/>
            <a:ext cx="750498" cy="5520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I" sz="1100">
                <a:latin typeface="Courier New" panose="02070309020205020404" pitchFamily="49" charset="0"/>
                <a:cs typeface="Courier New" panose="02070309020205020404" pitchFamily="49" charset="0"/>
              </a:rPr>
              <a:t>broker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4C64ED03-DE02-2CFE-EC57-52E5B18AFDE0}"/>
              </a:ext>
            </a:extLst>
          </p:cNvPr>
          <p:cNvCxnSpPr>
            <a:cxnSpLocks/>
          </p:cNvCxnSpPr>
          <p:nvPr/>
        </p:nvCxnSpPr>
        <p:spPr>
          <a:xfrm flipH="1">
            <a:off x="1489491" y="5223513"/>
            <a:ext cx="466021" cy="386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641641EE-F649-7069-250D-F446D9997D73}"/>
              </a:ext>
            </a:extLst>
          </p:cNvPr>
          <p:cNvCxnSpPr>
            <a:cxnSpLocks/>
          </p:cNvCxnSpPr>
          <p:nvPr/>
        </p:nvCxnSpPr>
        <p:spPr>
          <a:xfrm>
            <a:off x="2778359" y="5223513"/>
            <a:ext cx="535561" cy="416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37873D30-FCAA-CF46-78EF-0E979CB684B7}"/>
              </a:ext>
            </a:extLst>
          </p:cNvPr>
          <p:cNvGrpSpPr/>
          <p:nvPr/>
        </p:nvGrpSpPr>
        <p:grpSpPr>
          <a:xfrm>
            <a:off x="8359221" y="1159162"/>
            <a:ext cx="3062009" cy="318564"/>
            <a:chOff x="479423" y="1457208"/>
            <a:chExt cx="11232001" cy="251848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D0A80984-609E-9850-783A-2EF3872F508A}"/>
                </a:ext>
              </a:extLst>
            </p:cNvPr>
            <p:cNvSpPr/>
            <p:nvPr/>
          </p:nvSpPr>
          <p:spPr bwMode="auto">
            <a:xfrm>
              <a:off x="479423" y="1457208"/>
              <a:ext cx="11231999" cy="2459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dist="12700" dir="5400000" sx="99500" sy="99500" algn="t" rotWithShape="0">
                <a:schemeClr val="tx1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b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>
                  <a:solidFill>
                    <a:srgbClr val="181818"/>
                  </a:solidFill>
                  <a:latin typeface="Ericsson Hilda"/>
                  <a:cs typeface="Arial" panose="020B0604020202020204" pitchFamily="34" charset="0"/>
                  <a:sym typeface="Hilda Light" panose="00000400000000000000" pitchFamily="50" charset="0"/>
                </a:rPr>
                <a:t>How does that work?</a:t>
              </a:r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2676D708-4624-D9F9-4082-28ED61B4972A}"/>
                </a:ext>
              </a:extLst>
            </p:cNvPr>
            <p:cNvCxnSpPr/>
            <p:nvPr/>
          </p:nvCxnSpPr>
          <p:spPr bwMode="auto">
            <a:xfrm>
              <a:off x="479424" y="1709056"/>
              <a:ext cx="11232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01D70B26-1ECE-42A5-C64A-BEEBEA6E72E5}"/>
              </a:ext>
            </a:extLst>
          </p:cNvPr>
          <p:cNvSpPr txBox="1"/>
          <p:nvPr/>
        </p:nvSpPr>
        <p:spPr bwMode="auto">
          <a:xfrm>
            <a:off x="8359220" y="1599522"/>
            <a:ext cx="3568241" cy="4585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000" tIns="36000" rIns="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sz="1600" b="1" kern="1000" spc="-30">
                <a:solidFill>
                  <a:srgbClr val="181818"/>
                </a:solidFill>
                <a:latin typeface="+mj-lt"/>
              </a:rPr>
              <a:t>- Keep a TCP/QUIC connection open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sz="1600" kern="1000" spc="-30">
                <a:solidFill>
                  <a:srgbClr val="181818"/>
                </a:solidFill>
                <a:latin typeface="+mj-lt"/>
              </a:rPr>
              <a:t>HTTP/1.1, HTTP/2, and QUIC (underlying HTTP/3) support this approach.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sz="1600" b="1" kern="1000" spc="-30">
                <a:solidFill>
                  <a:srgbClr val="181818"/>
                </a:solidFill>
                <a:latin typeface="+mj-lt"/>
              </a:rPr>
              <a:t>- Callbacks 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sz="1600" kern="1000" spc="-30">
                <a:solidFill>
                  <a:srgbClr val="181818"/>
                </a:solidFill>
                <a:latin typeface="+mj-lt"/>
              </a:rPr>
              <a:t>The client provides a callback function for the server to call when it has a response ready.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sz="1600" kern="1000" spc="-30">
                <a:solidFill>
                  <a:srgbClr val="181818"/>
                </a:solidFill>
                <a:latin typeface="+mj-lt"/>
              </a:rPr>
              <a:t>Useful in event-driven systems and high latency scenarios (IoT!).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sz="1600" kern="1000" spc="-30">
                <a:solidFill>
                  <a:srgbClr val="181818"/>
                </a:solidFill>
                <a:latin typeface="+mj-lt"/>
              </a:rPr>
              <a:t>HTTP Webhooks and CoAP Observe use this.</a:t>
            </a:r>
            <a:br>
              <a:rPr lang="en-US" sz="1600" kern="1000" spc="-30">
                <a:solidFill>
                  <a:srgbClr val="181818"/>
                </a:solidFill>
                <a:latin typeface="+mj-lt"/>
              </a:rPr>
            </a:br>
            <a:br>
              <a:rPr lang="en-US" sz="1600" kern="1000" spc="-30">
                <a:solidFill>
                  <a:srgbClr val="181818"/>
                </a:solidFill>
                <a:latin typeface="+mj-lt"/>
              </a:rPr>
            </a:br>
            <a:endParaRPr lang="en-US" sz="1600" kern="1000" spc="-30">
              <a:solidFill>
                <a:srgbClr val="181818"/>
              </a:solidFill>
              <a:latin typeface="+mj-lt"/>
            </a:endParaRP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endParaRPr lang="en-US" sz="1600" kern="1000" spc="-30">
              <a:solidFill>
                <a:srgbClr val="181818"/>
              </a:solidFill>
              <a:latin typeface="+mj-lt"/>
            </a:endParaRP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br>
              <a:rPr lang="en-US" sz="1600" kern="1000" spc="-30">
                <a:solidFill>
                  <a:srgbClr val="181818"/>
                </a:solidFill>
                <a:latin typeface="+mj-lt"/>
              </a:rPr>
            </a:br>
            <a:r>
              <a:rPr lang="en-US" sz="2400" b="1" kern="1000" spc="-30">
                <a:solidFill>
                  <a:srgbClr val="181818"/>
                </a:solidFill>
                <a:latin typeface="+mj-lt"/>
              </a:rPr>
              <a:t>Then, why a broker?</a:t>
            </a:r>
            <a:endParaRPr lang="en-US" sz="1600" b="1" kern="1000" spc="-30">
              <a:solidFill>
                <a:srgbClr val="181818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4244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36DB8-1DD4-43C1-AE09-31397DC58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41" y="312367"/>
            <a:ext cx="10743628" cy="846795"/>
          </a:xfrm>
        </p:spPr>
        <p:txBody>
          <a:bodyPr>
            <a:normAutofit/>
          </a:bodyPr>
          <a:lstStyle/>
          <a:p>
            <a:r>
              <a:rPr lang="en-US">
                <a:latin typeface="Ericsson Hilda" pitchFamily="2" charset="0"/>
              </a:rPr>
              <a:t>Brokers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78FADA-9566-30E9-AF8C-D16CD608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FI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3CAAA28-F559-354F-AB37-87EC387942A5}" type="slidenum">
              <a:rPr lang="en-FI" smtClean="0"/>
              <a:pPr/>
              <a:t>11</a:t>
            </a:fld>
            <a:endParaRPr lang="en-FI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BB11906-3B5E-EC61-CFE2-E426F6FD638A}"/>
              </a:ext>
            </a:extLst>
          </p:cNvPr>
          <p:cNvGrpSpPr/>
          <p:nvPr/>
        </p:nvGrpSpPr>
        <p:grpSpPr>
          <a:xfrm>
            <a:off x="584309" y="1270403"/>
            <a:ext cx="3121908" cy="318564"/>
            <a:chOff x="479423" y="1457208"/>
            <a:chExt cx="11232001" cy="251848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BC6DF0E-6AE0-9585-EDD1-54E4F818F8A9}"/>
                </a:ext>
              </a:extLst>
            </p:cNvPr>
            <p:cNvSpPr/>
            <p:nvPr/>
          </p:nvSpPr>
          <p:spPr bwMode="auto">
            <a:xfrm>
              <a:off x="479423" y="1457208"/>
              <a:ext cx="11231999" cy="2459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dist="12700" dir="5400000" sx="99500" sy="99500" algn="t" rotWithShape="0">
                <a:schemeClr val="tx1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b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>
                  <a:solidFill>
                    <a:srgbClr val="181818"/>
                  </a:solidFill>
                  <a:latin typeface="Ericsson Hilda"/>
                  <a:cs typeface="Arial" panose="020B0604020202020204" pitchFamily="34" charset="0"/>
                  <a:sym typeface="Hilda Light" panose="00000400000000000000" pitchFamily="50" charset="0"/>
                </a:rPr>
                <a:t>Broker benefits</a:t>
              </a: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93BA7F0-0155-4459-8B5E-93E0D019F02C}"/>
                </a:ext>
              </a:extLst>
            </p:cNvPr>
            <p:cNvCxnSpPr/>
            <p:nvPr/>
          </p:nvCxnSpPr>
          <p:spPr bwMode="auto">
            <a:xfrm>
              <a:off x="479424" y="1709056"/>
              <a:ext cx="11232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88A9C4AE-41FE-FA56-2740-4CB7897401C4}"/>
              </a:ext>
            </a:extLst>
          </p:cNvPr>
          <p:cNvSpPr txBox="1"/>
          <p:nvPr/>
        </p:nvSpPr>
        <p:spPr bwMode="auto">
          <a:xfrm>
            <a:off x="584309" y="1710763"/>
            <a:ext cx="3299462" cy="4284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000" tIns="36000" rIns="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kern="1000" spc="-30">
                <a:solidFill>
                  <a:srgbClr val="181818"/>
                </a:solidFill>
                <a:latin typeface="+mj-lt"/>
              </a:rPr>
              <a:t>Having a broker as intermediary (like MQTT broker) has some benefits. 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endParaRPr lang="en-US" kern="1000" spc="-30">
              <a:solidFill>
                <a:srgbClr val="181818"/>
              </a:solidFill>
              <a:latin typeface="+mj-lt"/>
            </a:endParaRPr>
          </a:p>
          <a:p>
            <a:pPr marL="285750" indent="-285750" fontAlgn="base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kern="1000" spc="-30">
                <a:solidFill>
                  <a:srgbClr val="181818"/>
                </a:solidFill>
                <a:latin typeface="+mj-lt"/>
              </a:rPr>
              <a:t>Message Persistence: they can store messages ensuring reliable message delivery (although any other server also can)</a:t>
            </a:r>
          </a:p>
          <a:p>
            <a:pPr marL="285750" indent="-285750" fontAlgn="base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kern="1000" spc="-30">
                <a:solidFill>
                  <a:srgbClr val="181818"/>
                </a:solidFill>
                <a:latin typeface="+mj-lt"/>
              </a:rPr>
              <a:t>NAT traversal: brokers are always reachable and can help on NAT-traversal to ensure delivery also because of TCP (although a reverse proxy also can).</a:t>
            </a:r>
          </a:p>
          <a:p>
            <a:pPr marL="285750" indent="-285750" fontAlgn="base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kern="1000" spc="-30">
                <a:solidFill>
                  <a:srgbClr val="181818"/>
                </a:solidFill>
                <a:latin typeface="+mj-lt"/>
              </a:rPr>
              <a:t>Fire &amp; Forget: brokers allow constrained endpoints to simply send a message and go back to sleep.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809A73B-7133-217B-1D52-AB4AAECEAFD9}"/>
              </a:ext>
            </a:extLst>
          </p:cNvPr>
          <p:cNvGrpSpPr/>
          <p:nvPr/>
        </p:nvGrpSpPr>
        <p:grpSpPr>
          <a:xfrm>
            <a:off x="4426427" y="1270403"/>
            <a:ext cx="3299462" cy="318564"/>
            <a:chOff x="479423" y="1457208"/>
            <a:chExt cx="11232001" cy="25184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3900A9A-E13F-1C4C-216E-A29540BAE2B8}"/>
                </a:ext>
              </a:extLst>
            </p:cNvPr>
            <p:cNvSpPr/>
            <p:nvPr/>
          </p:nvSpPr>
          <p:spPr bwMode="auto">
            <a:xfrm>
              <a:off x="479423" y="1457208"/>
              <a:ext cx="11231999" cy="2459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dist="12700" dir="5400000" sx="99500" sy="99500" algn="t" rotWithShape="0">
                <a:schemeClr val="tx1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b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>
                  <a:solidFill>
                    <a:srgbClr val="181818"/>
                  </a:solidFill>
                  <a:latin typeface="Ericsson Hilda"/>
                  <a:cs typeface="Arial" panose="020B0604020202020204" pitchFamily="34" charset="0"/>
                  <a:sym typeface="Hilda Light" panose="00000400000000000000" pitchFamily="50" charset="0"/>
                </a:rPr>
                <a:t>Brokers in RESTful IoT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C68E8E4-720F-D2A5-486D-FB0260811BA3}"/>
                </a:ext>
              </a:extLst>
            </p:cNvPr>
            <p:cNvCxnSpPr/>
            <p:nvPr/>
          </p:nvCxnSpPr>
          <p:spPr bwMode="auto">
            <a:xfrm>
              <a:off x="479424" y="1709056"/>
              <a:ext cx="11232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64FDE10-E00F-F356-1C80-A72E2584F4FF}"/>
              </a:ext>
            </a:extLst>
          </p:cNvPr>
          <p:cNvSpPr txBox="1"/>
          <p:nvPr/>
        </p:nvSpPr>
        <p:spPr bwMode="auto">
          <a:xfrm>
            <a:off x="4426427" y="1710763"/>
            <a:ext cx="3299462" cy="399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000" tIns="36000" rIns="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endParaRPr lang="en-US" kern="1000" spc="-30">
              <a:solidFill>
                <a:srgbClr val="181818"/>
              </a:solidFill>
              <a:latin typeface="+mj-lt"/>
            </a:endParaRPr>
          </a:p>
          <a:p>
            <a:pPr marL="285750" indent="-285750" fontAlgn="base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kern="1000" spc="-30">
                <a:solidFill>
                  <a:srgbClr val="181818"/>
                </a:solidFill>
                <a:latin typeface="+mj-lt"/>
              </a:rPr>
              <a:t>Many use cases did not need a broker because of the local network topology (802.XX).</a:t>
            </a:r>
          </a:p>
          <a:p>
            <a:pPr marL="285750" indent="-285750" fontAlgn="base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kern="1000" spc="-30">
                <a:solidFill>
                  <a:srgbClr val="181818"/>
                </a:solidFill>
                <a:latin typeface="+mj-lt"/>
              </a:rPr>
              <a:t>Many deployments implement  similar custom-made solutions.</a:t>
            </a:r>
          </a:p>
          <a:p>
            <a:pPr marL="285750" indent="-285750" fontAlgn="base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kern="1000" spc="-30">
                <a:solidFill>
                  <a:srgbClr val="181818"/>
                </a:solidFill>
                <a:latin typeface="+mj-lt"/>
              </a:rPr>
              <a:t>Full distribution often seen preferable over broker-mediated for resiliency.</a:t>
            </a:r>
          </a:p>
          <a:p>
            <a:pPr marL="285750" indent="-285750" fontAlgn="base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kern="1000" spc="-30">
                <a:solidFill>
                  <a:srgbClr val="181818"/>
                </a:solidFill>
                <a:latin typeface="+mj-lt"/>
              </a:rPr>
              <a:t>Security concerns: TLS/DTLS security ends at broker, not end to end.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740A996-9AAA-F6E6-B820-7E678F145699}"/>
              </a:ext>
            </a:extLst>
          </p:cNvPr>
          <p:cNvGrpSpPr/>
          <p:nvPr/>
        </p:nvGrpSpPr>
        <p:grpSpPr>
          <a:xfrm>
            <a:off x="8268545" y="1270403"/>
            <a:ext cx="3516700" cy="318564"/>
            <a:chOff x="479423" y="1457208"/>
            <a:chExt cx="11232001" cy="25184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5583E6E-D0DB-B83C-DE21-054F3CF09DCC}"/>
                </a:ext>
              </a:extLst>
            </p:cNvPr>
            <p:cNvSpPr/>
            <p:nvPr/>
          </p:nvSpPr>
          <p:spPr bwMode="auto">
            <a:xfrm>
              <a:off x="479423" y="1457208"/>
              <a:ext cx="11231999" cy="2459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dist="12700" dir="5400000" sx="99500" sy="99500" algn="t" rotWithShape="0">
                <a:schemeClr val="tx1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b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>
                  <a:solidFill>
                    <a:srgbClr val="181818"/>
                  </a:solidFill>
                  <a:latin typeface="Ericsson Hilda"/>
                  <a:cs typeface="Arial" panose="020B0604020202020204" pitchFamily="34" charset="0"/>
                  <a:sym typeface="Hilda Light" panose="00000400000000000000" pitchFamily="50" charset="0"/>
                </a:rPr>
                <a:t>CoAP pub-sub architecture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D172491-C1A8-CF40-7C47-EAC425F81330}"/>
                </a:ext>
              </a:extLst>
            </p:cNvPr>
            <p:cNvCxnSpPr/>
            <p:nvPr/>
          </p:nvCxnSpPr>
          <p:spPr bwMode="auto">
            <a:xfrm>
              <a:off x="479424" y="1709056"/>
              <a:ext cx="11232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AD48A9B-F0C5-CFF1-D346-9EA8E7B39C31}"/>
              </a:ext>
            </a:extLst>
          </p:cNvPr>
          <p:cNvSpPr txBox="1"/>
          <p:nvPr/>
        </p:nvSpPr>
        <p:spPr bwMode="auto">
          <a:xfrm>
            <a:off x="8268545" y="1710763"/>
            <a:ext cx="3299462" cy="3115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000" tIns="36000" rIns="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r>
              <a:rPr lang="en-US" kern="1000" spc="-30">
                <a:solidFill>
                  <a:srgbClr val="181818"/>
                </a:solidFill>
                <a:latin typeface="+mj-lt"/>
              </a:rPr>
              <a:t>This work aims at: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defRPr/>
            </a:pPr>
            <a:endParaRPr lang="en-US" kern="1000" spc="-30">
              <a:solidFill>
                <a:srgbClr val="181818"/>
              </a:solidFill>
              <a:latin typeface="+mj-lt"/>
            </a:endParaRPr>
          </a:p>
          <a:p>
            <a:pPr marL="285750" indent="-285750" fontAlgn="base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kern="1000" spc="-30">
                <a:solidFill>
                  <a:srgbClr val="181818"/>
                </a:solidFill>
                <a:latin typeface="+mj-lt"/>
              </a:rPr>
              <a:t>Supporting endpoints with long breaks in connectivity.</a:t>
            </a:r>
          </a:p>
          <a:p>
            <a:pPr marL="285750" indent="-285750" fontAlgn="base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kern="1000" spc="-30">
                <a:solidFill>
                  <a:srgbClr val="181818"/>
                </a:solidFill>
                <a:latin typeface="+mj-lt"/>
              </a:rPr>
              <a:t>Backwards compatibility with CoAP deployments.</a:t>
            </a:r>
          </a:p>
          <a:p>
            <a:pPr marL="285750" indent="-285750" fontAlgn="base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kern="1000" spc="-30">
                <a:solidFill>
                  <a:srgbClr val="181818"/>
                </a:solidFill>
                <a:latin typeface="+mj-lt"/>
              </a:rPr>
              <a:t>Supporting very constrained endpoints.</a:t>
            </a:r>
          </a:p>
          <a:p>
            <a:pPr marL="285750" indent="-285750" fontAlgn="base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kern="1000" spc="-30">
                <a:solidFill>
                  <a:srgbClr val="181818"/>
                </a:solidFill>
                <a:latin typeface="+mj-lt"/>
              </a:rPr>
              <a:t>Enable security end-to-end.</a:t>
            </a:r>
          </a:p>
          <a:p>
            <a:pPr marL="285750" indent="-285750" fontAlgn="base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kern="1000" spc="-30">
                <a:solidFill>
                  <a:srgbClr val="181818"/>
                </a:solidFill>
                <a:latin typeface="+mj-lt"/>
              </a:rPr>
              <a:t>Enable security access control.</a:t>
            </a:r>
          </a:p>
          <a:p>
            <a:pPr marL="285750" indent="-285750" fontAlgn="base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kern="1000" spc="-30">
                <a:solidFill>
                  <a:srgbClr val="181818"/>
                </a:solidFill>
                <a:latin typeface="+mj-lt"/>
              </a:rPr>
              <a:t>Normative standard reference in IETF CoRE.</a:t>
            </a:r>
          </a:p>
          <a:p>
            <a:pPr marL="285750" indent="-285750" fontAlgn="base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kern="1000" spc="-30">
                <a:solidFill>
                  <a:srgbClr val="181818"/>
                </a:solidFill>
                <a:latin typeface="+mj-lt"/>
              </a:rPr>
              <a:t>Create a building block for the CoAP device ecosystem.</a:t>
            </a:r>
          </a:p>
        </p:txBody>
      </p:sp>
    </p:spTree>
    <p:extLst>
      <p:ext uri="{BB962C8B-B14F-4D97-AF65-F5344CB8AC3E}">
        <p14:creationId xmlns:p14="http://schemas.microsoft.com/office/powerpoint/2010/main" val="2822935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7BF415-D2DC-AA3E-D35E-062CBC372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9700" y="912824"/>
            <a:ext cx="6341110" cy="30965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136DB8-1DD4-43C1-AE09-31397DC58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41" y="312367"/>
            <a:ext cx="10743628" cy="67903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Ericsson Hilda" pitchFamily="2" charset="0"/>
              </a:rPr>
              <a:t>Publish-subscribe in CoAP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78FADA-9566-30E9-AF8C-D16CD608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FI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3CAAA28-F559-354F-AB37-87EC387942A5}" type="slidenum">
              <a:rPr lang="en-FI" smtClean="0"/>
              <a:pPr/>
              <a:t>12</a:t>
            </a:fld>
            <a:endParaRPr lang="en-FI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77D7D27-CD17-5022-1353-196ABF0057E6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flipH="1">
            <a:off x="3541027" y="2510025"/>
            <a:ext cx="1117197" cy="136400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825EF35-3478-BC04-AA7D-C0EA7F25BF40}"/>
              </a:ext>
            </a:extLst>
          </p:cNvPr>
          <p:cNvSpPr/>
          <p:nvPr/>
        </p:nvSpPr>
        <p:spPr>
          <a:xfrm>
            <a:off x="4020288" y="1436922"/>
            <a:ext cx="1275872" cy="1073103"/>
          </a:xfrm>
          <a:prstGeom prst="round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A5DC5FF-B200-9875-4A20-D6064D8868B6}"/>
              </a:ext>
            </a:extLst>
          </p:cNvPr>
          <p:cNvSpPr/>
          <p:nvPr/>
        </p:nvSpPr>
        <p:spPr>
          <a:xfrm>
            <a:off x="1078770" y="3874029"/>
            <a:ext cx="4924513" cy="2677656"/>
          </a:xfrm>
          <a:prstGeom prst="roundRect">
            <a:avLst>
              <a:gd name="adj" fmla="val 8800"/>
            </a:avLst>
          </a:prstGeom>
          <a:noFill/>
          <a:ln w="2857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162EA68-DD09-6678-9578-97AACB8F21E3}"/>
              </a:ext>
            </a:extLst>
          </p:cNvPr>
          <p:cNvCxnSpPr>
            <a:cxnSpLocks/>
            <a:stCxn id="27" idx="2"/>
            <a:endCxn id="31" idx="0"/>
          </p:cNvCxnSpPr>
          <p:nvPr/>
        </p:nvCxnSpPr>
        <p:spPr>
          <a:xfrm>
            <a:off x="6912122" y="2510025"/>
            <a:ext cx="1698478" cy="135795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DAA0503F-B139-56D0-4192-637C81542674}"/>
              </a:ext>
            </a:extLst>
          </p:cNvPr>
          <p:cNvSpPr/>
          <p:nvPr/>
        </p:nvSpPr>
        <p:spPr>
          <a:xfrm>
            <a:off x="6274185" y="1436922"/>
            <a:ext cx="1275873" cy="1073103"/>
          </a:xfrm>
          <a:prstGeom prst="round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7263B02-7A53-0F66-3C65-208CF81DAD22}"/>
              </a:ext>
            </a:extLst>
          </p:cNvPr>
          <p:cNvSpPr/>
          <p:nvPr/>
        </p:nvSpPr>
        <p:spPr>
          <a:xfrm>
            <a:off x="6148343" y="3867977"/>
            <a:ext cx="4924513" cy="2677656"/>
          </a:xfrm>
          <a:prstGeom prst="roundRect">
            <a:avLst>
              <a:gd name="adj" fmla="val 8800"/>
            </a:avLst>
          </a:prstGeom>
          <a:noFill/>
          <a:ln w="2857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0D02B0B-E147-1980-8693-69C3DFA2EFCE}"/>
              </a:ext>
            </a:extLst>
          </p:cNvPr>
          <p:cNvSpPr txBox="1"/>
          <p:nvPr/>
        </p:nvSpPr>
        <p:spPr>
          <a:xfrm>
            <a:off x="1197181" y="4022337"/>
            <a:ext cx="468396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>
                <a:effectLst/>
                <a:latin typeface="Menlo" panose="020B0609030804020204" pitchFamily="49" charset="0"/>
              </a:rPr>
              <a:t>0.03 </a:t>
            </a:r>
            <a:r>
              <a:rPr lang="en-GB" sz="1400" b="1">
                <a:effectLst/>
                <a:latin typeface="Menlo" panose="020B0609030804020204" pitchFamily="49" charset="0"/>
              </a:rPr>
              <a:t>PUT </a:t>
            </a:r>
            <a:r>
              <a:rPr lang="en-GB" sz="1400" b="0">
                <a:effectLst/>
                <a:latin typeface="Menlo" panose="020B0609030804020204" pitchFamily="49" charset="0"/>
              </a:rPr>
              <a:t>&lt;</a:t>
            </a:r>
            <a:r>
              <a:rPr lang="en-GB" sz="1400" b="0" err="1">
                <a:effectLst/>
                <a:latin typeface="Menlo" panose="020B0609030804020204" pitchFamily="49" charset="0"/>
              </a:rPr>
              <a:t>broker_URI</a:t>
            </a:r>
            <a:r>
              <a:rPr lang="en-GB" sz="1400" b="0">
                <a:effectLst/>
                <a:latin typeface="Menlo" panose="020B0609030804020204" pitchFamily="49" charset="0"/>
              </a:rPr>
              <a:t>&gt;/</a:t>
            </a:r>
            <a:r>
              <a:rPr lang="en-GB" sz="1400" b="0" err="1">
                <a:effectLst/>
                <a:latin typeface="Menlo" panose="020B0609030804020204" pitchFamily="49" charset="0"/>
              </a:rPr>
              <a:t>ps</a:t>
            </a:r>
            <a:r>
              <a:rPr lang="en-GB" sz="1400" b="0">
                <a:effectLst/>
                <a:latin typeface="Menlo" panose="020B0609030804020204" pitchFamily="49" charset="0"/>
              </a:rPr>
              <a:t>/data/225acdd   =&gt; </a:t>
            </a:r>
            <a:br>
              <a:rPr lang="en-GB" sz="1400" b="0">
                <a:effectLst/>
                <a:latin typeface="Menlo" panose="020B0609030804020204" pitchFamily="49" charset="0"/>
              </a:rPr>
            </a:br>
            <a:br>
              <a:rPr lang="en-GB" sz="1400" b="0">
                <a:effectLst/>
                <a:latin typeface="Menlo" panose="020B0609030804020204" pitchFamily="49" charset="0"/>
              </a:rPr>
            </a:br>
            <a:r>
              <a:rPr lang="en-GB" sz="1400" b="0">
                <a:effectLst/>
                <a:latin typeface="Menlo" panose="020B0609030804020204" pitchFamily="49" charset="0"/>
              </a:rPr>
              <a:t>{</a:t>
            </a:r>
          </a:p>
          <a:p>
            <a:r>
              <a:rPr lang="en-GB" sz="1400">
                <a:latin typeface="Menlo" panose="020B0609030804020204" pitchFamily="49" charset="0"/>
              </a:rPr>
              <a:t>  </a:t>
            </a:r>
            <a:r>
              <a:rPr lang="en-GB" sz="1400" b="0">
                <a:effectLst/>
                <a:latin typeface="Menlo" panose="020B0609030804020204" pitchFamily="49" charset="0"/>
              </a:rPr>
              <a:t>"n": "temperature",</a:t>
            </a:r>
          </a:p>
          <a:p>
            <a:r>
              <a:rPr lang="en-GB" sz="1400" b="0">
                <a:effectLst/>
                <a:latin typeface="Menlo" panose="020B0609030804020204" pitchFamily="49" charset="0"/>
              </a:rPr>
              <a:t>  "u": "</a:t>
            </a:r>
            <a:r>
              <a:rPr lang="en-GB" sz="1400" b="0" err="1">
                <a:effectLst/>
                <a:latin typeface="Menlo" panose="020B0609030804020204" pitchFamily="49" charset="0"/>
              </a:rPr>
              <a:t>Cel</a:t>
            </a:r>
            <a:r>
              <a:rPr lang="en-GB" sz="1400" b="0">
                <a:effectLst/>
                <a:latin typeface="Menlo" panose="020B0609030804020204" pitchFamily="49" charset="0"/>
              </a:rPr>
              <a:t>",</a:t>
            </a:r>
          </a:p>
          <a:p>
            <a:r>
              <a:rPr lang="en-GB" sz="1400" b="0">
                <a:effectLst/>
                <a:latin typeface="Menlo" panose="020B0609030804020204" pitchFamily="49" charset="0"/>
              </a:rPr>
              <a:t>  "t": 1621452122,</a:t>
            </a:r>
          </a:p>
          <a:p>
            <a:r>
              <a:rPr lang="en-GB" sz="1400" b="0">
                <a:effectLst/>
                <a:latin typeface="Menlo" panose="020B0609030804020204" pitchFamily="49" charset="0"/>
              </a:rPr>
              <a:t>  "v": 23.5</a:t>
            </a:r>
          </a:p>
          <a:p>
            <a:r>
              <a:rPr lang="en-GB" sz="1400" b="0">
                <a:effectLst/>
                <a:latin typeface="Menlo" panose="020B0609030804020204" pitchFamily="49" charset="0"/>
              </a:rPr>
              <a:t>}</a:t>
            </a:r>
            <a:br>
              <a:rPr lang="en-GB" sz="1400" b="0">
                <a:effectLst/>
                <a:latin typeface="Menlo" panose="020B0609030804020204" pitchFamily="49" charset="0"/>
              </a:rPr>
            </a:br>
            <a:br>
              <a:rPr lang="en-GB" sz="1400" b="0">
                <a:effectLst/>
                <a:latin typeface="Menlo" panose="020B0609030804020204" pitchFamily="49" charset="0"/>
              </a:rPr>
            </a:br>
            <a:r>
              <a:rPr lang="en-GB" sz="1400" b="0">
                <a:effectLst/>
                <a:latin typeface="Menlo" panose="020B0609030804020204" pitchFamily="49" charset="0"/>
              </a:rPr>
              <a:t>2.04 Changed	                       &lt;=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FE7460A-7125-01BF-C93C-7C04171D9D6B}"/>
              </a:ext>
            </a:extLst>
          </p:cNvPr>
          <p:cNvSpPr txBox="1"/>
          <p:nvPr/>
        </p:nvSpPr>
        <p:spPr>
          <a:xfrm>
            <a:off x="6309907" y="4022337"/>
            <a:ext cx="462765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>
                <a:effectLst/>
                <a:latin typeface="Menlo" panose="020B0609030804020204" pitchFamily="49" charset="0"/>
              </a:rPr>
              <a:t>&lt;= 0.01 </a:t>
            </a:r>
            <a:r>
              <a:rPr lang="en-GB" sz="1400" b="1">
                <a:effectLst/>
                <a:latin typeface="Menlo" panose="020B0609030804020204" pitchFamily="49" charset="0"/>
              </a:rPr>
              <a:t>GET</a:t>
            </a:r>
            <a:r>
              <a:rPr lang="en-GB" sz="1400" b="0">
                <a:effectLst/>
                <a:latin typeface="Menlo" panose="020B0609030804020204" pitchFamily="49" charset="0"/>
              </a:rPr>
              <a:t> &lt;</a:t>
            </a:r>
            <a:r>
              <a:rPr lang="en-GB" sz="1400" b="0" err="1">
                <a:effectLst/>
                <a:latin typeface="Menlo" panose="020B0609030804020204" pitchFamily="49" charset="0"/>
              </a:rPr>
              <a:t>broker_URI</a:t>
            </a:r>
            <a:r>
              <a:rPr lang="en-GB" sz="1400" b="0">
                <a:effectLst/>
                <a:latin typeface="Menlo" panose="020B0609030804020204" pitchFamily="49" charset="0"/>
              </a:rPr>
              <a:t>&gt;/</a:t>
            </a:r>
            <a:r>
              <a:rPr lang="en-GB" sz="1400" b="0" err="1">
                <a:effectLst/>
                <a:latin typeface="Menlo" panose="020B0609030804020204" pitchFamily="49" charset="0"/>
              </a:rPr>
              <a:t>ps</a:t>
            </a:r>
            <a:r>
              <a:rPr lang="en-GB" sz="1400" b="0">
                <a:effectLst/>
                <a:latin typeface="Menlo" panose="020B0609030804020204" pitchFamily="49" charset="0"/>
              </a:rPr>
              <a:t>/data/225acdd </a:t>
            </a:r>
            <a:br>
              <a:rPr lang="en-GB" sz="1400" b="0">
                <a:effectLst/>
                <a:latin typeface="Menlo" panose="020B0609030804020204" pitchFamily="49" charset="0"/>
              </a:rPr>
            </a:br>
            <a:r>
              <a:rPr lang="en-GB" sz="1400" b="1">
                <a:effectLst/>
                <a:latin typeface="Menlo" panose="020B0609030804020204" pitchFamily="49" charset="0"/>
              </a:rPr>
              <a:t>Observe</a:t>
            </a:r>
            <a:r>
              <a:rPr lang="en-GB" sz="1400" b="0">
                <a:effectLst/>
                <a:latin typeface="Menlo" panose="020B0609030804020204" pitchFamily="49" charset="0"/>
              </a:rPr>
              <a:t>: 0</a:t>
            </a:r>
          </a:p>
          <a:p>
            <a:br>
              <a:rPr lang="en-GB" sz="1400" b="0">
                <a:effectLst/>
                <a:latin typeface="Menlo" panose="020B0609030804020204" pitchFamily="49" charset="0"/>
              </a:rPr>
            </a:br>
            <a:r>
              <a:rPr lang="en-GB" sz="1400" b="0">
                <a:effectLst/>
                <a:latin typeface="Menlo" panose="020B0609030804020204" pitchFamily="49" charset="0"/>
              </a:rPr>
              <a:t>=&gt; 2.05 Content Observe: 10001</a:t>
            </a:r>
            <a:br>
              <a:rPr lang="en-GB" sz="1400" b="0">
                <a:effectLst/>
                <a:latin typeface="Menlo" panose="020B0609030804020204" pitchFamily="49" charset="0"/>
              </a:rPr>
            </a:br>
            <a:r>
              <a:rPr lang="en-GB" sz="1400" b="0">
                <a:effectLst/>
                <a:latin typeface="Menlo" panose="020B0609030804020204" pitchFamily="49" charset="0"/>
              </a:rPr>
              <a:t>[... Payload data...]</a:t>
            </a:r>
          </a:p>
          <a:p>
            <a:br>
              <a:rPr lang="en-GB" sz="1400" b="0">
                <a:effectLst/>
                <a:latin typeface="Menlo" panose="020B0609030804020204" pitchFamily="49" charset="0"/>
              </a:rPr>
            </a:br>
            <a:r>
              <a:rPr lang="en-GB" sz="1400" b="0">
                <a:effectLst/>
                <a:latin typeface="Menlo" panose="020B0609030804020204" pitchFamily="49" charset="0"/>
              </a:rPr>
              <a:t>=&gt; 2.05 Content Observe: 10002</a:t>
            </a:r>
          </a:p>
          <a:p>
            <a:r>
              <a:rPr lang="en-GB" sz="1400" b="0">
                <a:effectLst/>
                <a:latin typeface="Menlo" panose="020B0609030804020204" pitchFamily="49" charset="0"/>
              </a:rPr>
              <a:t>[... Payload data...]</a:t>
            </a:r>
            <a:br>
              <a:rPr lang="en-GB" sz="1400" b="0">
                <a:effectLst/>
                <a:latin typeface="Menlo" panose="020B0609030804020204" pitchFamily="49" charset="0"/>
              </a:rPr>
            </a:br>
            <a:br>
              <a:rPr lang="en-GB" sz="1400" b="0">
                <a:effectLst/>
                <a:latin typeface="Menlo" panose="020B0609030804020204" pitchFamily="49" charset="0"/>
              </a:rPr>
            </a:br>
            <a:r>
              <a:rPr lang="en-GB" sz="1400" b="0">
                <a:effectLst/>
                <a:latin typeface="Menlo" panose="020B0609030804020204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243262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diagram&#10;&#10;Description automatically generated">
            <a:extLst>
              <a:ext uri="{FF2B5EF4-FFF2-40B4-BE49-F238E27FC236}">
                <a16:creationId xmlns:a16="http://schemas.microsoft.com/office/drawing/2014/main" id="{5D3A4BE5-2FD5-B942-3C76-3A732B5B1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207" y="920998"/>
            <a:ext cx="4927808" cy="30745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136DB8-1DD4-43C1-AE09-31397DC58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41" y="312367"/>
            <a:ext cx="10743628" cy="846795"/>
          </a:xfrm>
        </p:spPr>
        <p:txBody>
          <a:bodyPr>
            <a:normAutofit/>
          </a:bodyPr>
          <a:lstStyle/>
          <a:p>
            <a:r>
              <a:rPr lang="en-US">
                <a:latin typeface="Ericsson Hilda" pitchFamily="2" charset="0"/>
              </a:rPr>
              <a:t>Interface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78FADA-9566-30E9-AF8C-D16CD608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FI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3CAAA28-F559-354F-AB37-87EC387942A5}" type="slidenum">
              <a:rPr lang="en-FI" smtClean="0"/>
              <a:pPr/>
              <a:t>13</a:t>
            </a:fld>
            <a:endParaRPr lang="en-FI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967A4-648E-025B-FA19-20DF5CA8B88C}"/>
              </a:ext>
            </a:extLst>
          </p:cNvPr>
          <p:cNvCxnSpPr>
            <a:cxnSpLocks/>
            <a:stCxn id="22" idx="2"/>
            <a:endCxn id="23" idx="3"/>
          </p:cNvCxnSpPr>
          <p:nvPr/>
        </p:nvCxnSpPr>
        <p:spPr>
          <a:xfrm flipH="1">
            <a:off x="6223519" y="2735493"/>
            <a:ext cx="2363317" cy="2011609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68F5DB6-3875-0DD2-9133-6DA85D47FF19}"/>
              </a:ext>
            </a:extLst>
          </p:cNvPr>
          <p:cNvCxnSpPr>
            <a:cxnSpLocks/>
            <a:stCxn id="21" idx="2"/>
            <a:endCxn id="24" idx="3"/>
          </p:cNvCxnSpPr>
          <p:nvPr/>
        </p:nvCxnSpPr>
        <p:spPr>
          <a:xfrm flipH="1">
            <a:off x="6223519" y="1711524"/>
            <a:ext cx="1837127" cy="42050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9C001B0-7E77-F540-87E6-B7E55C3737AF}"/>
              </a:ext>
            </a:extLst>
          </p:cNvPr>
          <p:cNvSpPr/>
          <p:nvPr/>
        </p:nvSpPr>
        <p:spPr>
          <a:xfrm>
            <a:off x="6901598" y="864729"/>
            <a:ext cx="2318096" cy="846795"/>
          </a:xfrm>
          <a:prstGeom prst="round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E223E7F-7A41-C0A3-0C61-6B04ED502576}"/>
              </a:ext>
            </a:extLst>
          </p:cNvPr>
          <p:cNvSpPr/>
          <p:nvPr/>
        </p:nvSpPr>
        <p:spPr>
          <a:xfrm>
            <a:off x="7427788" y="1888698"/>
            <a:ext cx="2318096" cy="846795"/>
          </a:xfrm>
          <a:prstGeom prst="round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50E56D9-4DE5-815B-A1AA-CE0B3A0ACE90}"/>
              </a:ext>
            </a:extLst>
          </p:cNvPr>
          <p:cNvSpPr/>
          <p:nvPr/>
        </p:nvSpPr>
        <p:spPr>
          <a:xfrm>
            <a:off x="572485" y="3667537"/>
            <a:ext cx="5651034" cy="2159130"/>
          </a:xfrm>
          <a:prstGeom prst="roundRect">
            <a:avLst>
              <a:gd name="adj" fmla="val 8800"/>
            </a:avLst>
          </a:prstGeom>
          <a:noFill/>
          <a:ln w="2857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0C4CACE-1319-9C67-FBEE-E4BC1F048F86}"/>
              </a:ext>
            </a:extLst>
          </p:cNvPr>
          <p:cNvSpPr/>
          <p:nvPr/>
        </p:nvSpPr>
        <p:spPr>
          <a:xfrm>
            <a:off x="572485" y="1296922"/>
            <a:ext cx="5651034" cy="1670214"/>
          </a:xfrm>
          <a:prstGeom prst="roundRect">
            <a:avLst>
              <a:gd name="adj" fmla="val 8800"/>
            </a:avLst>
          </a:prstGeom>
          <a:noFill/>
          <a:ln w="2857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9CBC7F-2927-A6D0-7A85-B46F26C488EE}"/>
              </a:ext>
            </a:extLst>
          </p:cNvPr>
          <p:cNvSpPr txBox="1"/>
          <p:nvPr/>
        </p:nvSpPr>
        <p:spPr>
          <a:xfrm>
            <a:off x="645609" y="1399548"/>
            <a:ext cx="59310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2400" b="1"/>
              <a:t>Topic Collection resource</a:t>
            </a:r>
            <a:endParaRPr lang="en-GB" sz="2000"/>
          </a:p>
          <a:p>
            <a:pPr marL="342900" indent="-342900">
              <a:buFontTx/>
              <a:buChar char="-"/>
            </a:pPr>
            <a:r>
              <a:rPr lang="en-GB" sz="2000"/>
              <a:t>Retrieve (GET) the list of topics</a:t>
            </a:r>
          </a:p>
          <a:p>
            <a:pPr marL="342900" indent="-342900">
              <a:buFontTx/>
              <a:buChar char="-"/>
            </a:pPr>
            <a:r>
              <a:rPr lang="en-GB" sz="2000"/>
              <a:t>Retrieve (</a:t>
            </a:r>
            <a:r>
              <a:rPr lang="en-US" sz="2000"/>
              <a:t>FETCH) topics by properties</a:t>
            </a:r>
          </a:p>
          <a:p>
            <a:pPr marL="342900" indent="-342900">
              <a:buFontTx/>
              <a:buChar char="-"/>
            </a:pPr>
            <a:r>
              <a:rPr lang="en-US" sz="2000"/>
              <a:t>Create (POST) a topic resource</a:t>
            </a:r>
            <a:endParaRPr lang="en-FI" sz="2000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00CB2FA8-DAD8-3E5E-7D50-F850516ACAF4}"/>
              </a:ext>
            </a:extLst>
          </p:cNvPr>
          <p:cNvSpPr/>
          <p:nvPr/>
        </p:nvSpPr>
        <p:spPr>
          <a:xfrm>
            <a:off x="8881450" y="2132029"/>
            <a:ext cx="552262" cy="458454"/>
          </a:xfrm>
          <a:prstGeom prst="roundRect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1737324-05BD-07B5-6FD6-C55C03172699}"/>
              </a:ext>
            </a:extLst>
          </p:cNvPr>
          <p:cNvCxnSpPr>
            <a:cxnSpLocks/>
            <a:stCxn id="43" idx="2"/>
            <a:endCxn id="49" idx="0"/>
          </p:cNvCxnSpPr>
          <p:nvPr/>
        </p:nvCxnSpPr>
        <p:spPr>
          <a:xfrm>
            <a:off x="9157581" y="2590483"/>
            <a:ext cx="29516" cy="1601301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03270015-425F-3410-0FE4-CC5D19CD391A}"/>
              </a:ext>
            </a:extLst>
          </p:cNvPr>
          <p:cNvSpPr/>
          <p:nvPr/>
        </p:nvSpPr>
        <p:spPr>
          <a:xfrm>
            <a:off x="7224111" y="4191784"/>
            <a:ext cx="3925971" cy="1824256"/>
          </a:xfrm>
          <a:prstGeom prst="roundRect">
            <a:avLst>
              <a:gd name="adj" fmla="val 8800"/>
            </a:avLst>
          </a:prstGeom>
          <a:noFill/>
          <a:ln w="28575" cap="flat" cmpd="sng" algn="ctr">
            <a:solidFill>
              <a:srgbClr val="0070C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50079AF-B259-4223-22F1-D6ED5F462797}"/>
              </a:ext>
            </a:extLst>
          </p:cNvPr>
          <p:cNvSpPr txBox="1"/>
          <p:nvPr/>
        </p:nvSpPr>
        <p:spPr>
          <a:xfrm>
            <a:off x="7224111" y="4318561"/>
            <a:ext cx="412968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Topic Properties</a:t>
            </a:r>
            <a:endParaRPr lang="en-GB"/>
          </a:p>
          <a:p>
            <a:pPr marL="342900" indent="-342900">
              <a:buFontTx/>
              <a:buChar char="-"/>
            </a:pPr>
            <a:r>
              <a:rPr lang="en-US"/>
              <a:t>Configuration parameters written by the administrator of the topic.</a:t>
            </a:r>
          </a:p>
          <a:p>
            <a:pPr marL="342900" indent="-342900">
              <a:buFontTx/>
              <a:buChar char="-"/>
            </a:pPr>
            <a:r>
              <a:rPr lang="en-US"/>
              <a:t>Optional informational parameters (e.g., max-subscribers) </a:t>
            </a:r>
            <a:endParaRPr lang="en-FI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BD25BEF-88BD-41C1-5034-757F6AFEFA5E}"/>
              </a:ext>
            </a:extLst>
          </p:cNvPr>
          <p:cNvSpPr txBox="1"/>
          <p:nvPr/>
        </p:nvSpPr>
        <p:spPr>
          <a:xfrm>
            <a:off x="749781" y="3733424"/>
            <a:ext cx="593107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2400" b="1"/>
              <a:t>Topic resource (configuration)</a:t>
            </a:r>
            <a:endParaRPr lang="en-GB" sz="2000"/>
          </a:p>
          <a:p>
            <a:pPr marL="342900" indent="-342900">
              <a:buFontTx/>
              <a:buChar char="-"/>
            </a:pPr>
            <a:r>
              <a:rPr lang="en-GB" sz="2000"/>
              <a:t>Retrieve (GET) a topic resource</a:t>
            </a:r>
          </a:p>
          <a:p>
            <a:pPr marL="342900" indent="-342900">
              <a:buFontTx/>
              <a:buChar char="-"/>
            </a:pPr>
            <a:r>
              <a:rPr lang="en-GB" sz="2000"/>
              <a:t>Retrieve (</a:t>
            </a:r>
            <a:r>
              <a:rPr lang="en-US" sz="2000"/>
              <a:t>FETCH) part of a topic with a filter</a:t>
            </a:r>
          </a:p>
          <a:p>
            <a:pPr marL="342900" indent="-342900">
              <a:buFontTx/>
              <a:buChar char="-"/>
            </a:pPr>
            <a:r>
              <a:rPr lang="en-GB" sz="2000"/>
              <a:t>Update (</a:t>
            </a:r>
            <a:r>
              <a:rPr lang="en-US" sz="2000"/>
              <a:t>PUT) whole topic</a:t>
            </a:r>
          </a:p>
          <a:p>
            <a:pPr marL="342900" indent="-342900">
              <a:buFontTx/>
              <a:buChar char="-"/>
            </a:pPr>
            <a:r>
              <a:rPr lang="en-GB" sz="2000"/>
              <a:t>Update (</a:t>
            </a:r>
            <a:r>
              <a:rPr lang="en-US" sz="2000"/>
              <a:t>PATCH) part of a topic with a filter</a:t>
            </a:r>
          </a:p>
          <a:p>
            <a:pPr marL="342900" indent="-342900">
              <a:buFontTx/>
              <a:buChar char="-"/>
            </a:pPr>
            <a:r>
              <a:rPr lang="en-US" sz="2000"/>
              <a:t>Delete (DELETE) a topic resource</a:t>
            </a:r>
            <a:endParaRPr lang="en-FI" sz="2000"/>
          </a:p>
        </p:txBody>
      </p:sp>
    </p:spTree>
    <p:extLst>
      <p:ext uri="{BB962C8B-B14F-4D97-AF65-F5344CB8AC3E}">
        <p14:creationId xmlns:p14="http://schemas.microsoft.com/office/powerpoint/2010/main" val="3272003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diagram&#10;&#10;Description automatically generated">
            <a:extLst>
              <a:ext uri="{FF2B5EF4-FFF2-40B4-BE49-F238E27FC236}">
                <a16:creationId xmlns:a16="http://schemas.microsoft.com/office/drawing/2014/main" id="{37956EB7-67F5-B70A-3B45-4D3D7323F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2526" y="874331"/>
            <a:ext cx="4927808" cy="30745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136DB8-1DD4-43C1-AE09-31397DC58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41" y="312367"/>
            <a:ext cx="10743628" cy="846795"/>
          </a:xfrm>
        </p:spPr>
        <p:txBody>
          <a:bodyPr>
            <a:normAutofit/>
          </a:bodyPr>
          <a:lstStyle/>
          <a:p>
            <a:r>
              <a:rPr lang="en-US">
                <a:latin typeface="Ericsson Hilda" pitchFamily="2" charset="0"/>
              </a:rPr>
              <a:t>Interface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78FADA-9566-30E9-AF8C-D16CD608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FI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3CAAA28-F559-354F-AB37-87EC387942A5}" type="slidenum">
              <a:rPr lang="en-FI" smtClean="0"/>
              <a:pPr/>
              <a:t>14</a:t>
            </a:fld>
            <a:endParaRPr lang="en-FI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967A4-648E-025B-FA19-20DF5CA8B88C}"/>
              </a:ext>
            </a:extLst>
          </p:cNvPr>
          <p:cNvCxnSpPr>
            <a:cxnSpLocks/>
            <a:stCxn id="22" idx="1"/>
            <a:endCxn id="23" idx="3"/>
          </p:cNvCxnSpPr>
          <p:nvPr/>
        </p:nvCxnSpPr>
        <p:spPr>
          <a:xfrm flipH="1">
            <a:off x="6999524" y="3147375"/>
            <a:ext cx="719209" cy="399954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E223E7F-7A41-C0A3-0C61-6B04ED502576}"/>
              </a:ext>
            </a:extLst>
          </p:cNvPr>
          <p:cNvSpPr/>
          <p:nvPr/>
        </p:nvSpPr>
        <p:spPr>
          <a:xfrm>
            <a:off x="7718733" y="2728147"/>
            <a:ext cx="1967697" cy="838456"/>
          </a:xfrm>
          <a:prstGeom prst="roundRect">
            <a:avLst/>
          </a:prstGeom>
          <a:noFill/>
          <a:ln w="28575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50E56D9-4DE5-815B-A1AA-CE0B3A0ACE90}"/>
              </a:ext>
            </a:extLst>
          </p:cNvPr>
          <p:cNvSpPr/>
          <p:nvPr/>
        </p:nvSpPr>
        <p:spPr>
          <a:xfrm>
            <a:off x="1625710" y="2206971"/>
            <a:ext cx="5373814" cy="2680715"/>
          </a:xfrm>
          <a:prstGeom prst="roundRect">
            <a:avLst>
              <a:gd name="adj" fmla="val 8800"/>
            </a:avLst>
          </a:prstGeom>
          <a:noFill/>
          <a:ln w="2857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BD25BEF-88BD-41C1-5034-757F6AFEFA5E}"/>
              </a:ext>
            </a:extLst>
          </p:cNvPr>
          <p:cNvSpPr txBox="1"/>
          <p:nvPr/>
        </p:nvSpPr>
        <p:spPr>
          <a:xfrm>
            <a:off x="1731173" y="2411620"/>
            <a:ext cx="51628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2400" b="1"/>
              <a:t>Topic Data resource</a:t>
            </a:r>
            <a:endParaRPr lang="en-GB" sz="2000"/>
          </a:p>
          <a:p>
            <a:pPr marL="342900" indent="-342900">
              <a:buFontTx/>
              <a:buChar char="-"/>
            </a:pPr>
            <a:r>
              <a:rPr lang="en-GB" sz="2000"/>
              <a:t>Publish (PUT) to a topic data (URI)</a:t>
            </a:r>
          </a:p>
          <a:p>
            <a:pPr marL="342900" indent="-342900">
              <a:buFontTx/>
              <a:buChar char="-"/>
            </a:pPr>
            <a:r>
              <a:rPr lang="en-GB" sz="2000"/>
              <a:t>Subscribe (GET + </a:t>
            </a:r>
            <a:r>
              <a:rPr lang="en-GB" sz="2000" err="1"/>
              <a:t>obs</a:t>
            </a:r>
            <a:r>
              <a:rPr lang="en-GB" sz="2000"/>
              <a:t>=0) to a topic data (URI)</a:t>
            </a:r>
          </a:p>
          <a:p>
            <a:pPr marL="342900" indent="-342900">
              <a:buFontTx/>
              <a:buChar char="-"/>
            </a:pPr>
            <a:r>
              <a:rPr lang="en-GB" sz="2000"/>
              <a:t>Unsubscribe (GET + </a:t>
            </a:r>
            <a:r>
              <a:rPr lang="en-GB" sz="2000" err="1"/>
              <a:t>obs</a:t>
            </a:r>
            <a:r>
              <a:rPr lang="en-GB" sz="2000"/>
              <a:t>=1) from a topic data (URI)</a:t>
            </a:r>
          </a:p>
          <a:p>
            <a:pPr marL="342900" indent="-342900">
              <a:buFontTx/>
              <a:buChar char="-"/>
            </a:pPr>
            <a:r>
              <a:rPr lang="en-GB" sz="2000"/>
              <a:t>Read latest value (GET)</a:t>
            </a:r>
          </a:p>
          <a:p>
            <a:pPr marL="342900" indent="-342900">
              <a:buFontTx/>
              <a:buChar char="-"/>
            </a:pPr>
            <a:r>
              <a:rPr lang="en-US" sz="2000"/>
              <a:t>Delete (DELETE) a topic data</a:t>
            </a:r>
            <a:endParaRPr lang="en-FI" sz="2000"/>
          </a:p>
        </p:txBody>
      </p:sp>
    </p:spTree>
    <p:extLst>
      <p:ext uri="{BB962C8B-B14F-4D97-AF65-F5344CB8AC3E}">
        <p14:creationId xmlns:p14="http://schemas.microsoft.com/office/powerpoint/2010/main" val="267485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diagram of a diagram&#10;&#10;Description automatically generated">
            <a:extLst>
              <a:ext uri="{FF2B5EF4-FFF2-40B4-BE49-F238E27FC236}">
                <a16:creationId xmlns:a16="http://schemas.microsoft.com/office/drawing/2014/main" id="{74320C1D-5371-4644-0429-4BAF968D4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686" y="382099"/>
            <a:ext cx="7832973" cy="29711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136DB8-1DD4-43C1-AE09-31397DC58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41" y="312367"/>
            <a:ext cx="10743628" cy="846795"/>
          </a:xfrm>
        </p:spPr>
        <p:txBody>
          <a:bodyPr>
            <a:normAutofit/>
          </a:bodyPr>
          <a:lstStyle/>
          <a:p>
            <a:r>
              <a:rPr lang="en-US">
                <a:latin typeface="Ericsson Hilda" pitchFamily="2" charset="0"/>
              </a:rPr>
              <a:t>Topic Lifecycle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78FADA-9566-30E9-AF8C-D16CD608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FI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3CAAA28-F559-354F-AB37-87EC387942A5}" type="slidenum">
              <a:rPr lang="en-FI" smtClean="0"/>
              <a:pPr/>
              <a:t>15</a:t>
            </a:fld>
            <a:endParaRPr lang="en-FI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4D749DB-3EB0-6DBF-164B-137F838462DD}"/>
              </a:ext>
            </a:extLst>
          </p:cNvPr>
          <p:cNvCxnSpPr>
            <a:cxnSpLocks/>
            <a:stCxn id="6" idx="2"/>
            <a:endCxn id="13" idx="3"/>
          </p:cNvCxnSpPr>
          <p:nvPr/>
        </p:nvCxnSpPr>
        <p:spPr>
          <a:xfrm flipH="1">
            <a:off x="5258206" y="1993019"/>
            <a:ext cx="820061" cy="2846953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36D2B94-97FD-4DCB-1313-4834EEC80400}"/>
              </a:ext>
            </a:extLst>
          </p:cNvPr>
          <p:cNvSpPr/>
          <p:nvPr/>
        </p:nvSpPr>
        <p:spPr>
          <a:xfrm>
            <a:off x="5644611" y="1177977"/>
            <a:ext cx="867311" cy="815042"/>
          </a:xfrm>
          <a:prstGeom prst="round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093DECA-AFDC-E244-26D8-6D2391CC3F6F}"/>
              </a:ext>
            </a:extLst>
          </p:cNvPr>
          <p:cNvSpPr/>
          <p:nvPr/>
        </p:nvSpPr>
        <p:spPr>
          <a:xfrm>
            <a:off x="69687" y="2117839"/>
            <a:ext cx="5013272" cy="4427794"/>
          </a:xfrm>
          <a:prstGeom prst="roundRect">
            <a:avLst>
              <a:gd name="adj" fmla="val 8800"/>
            </a:avLst>
          </a:prstGeom>
          <a:noFill/>
          <a:ln w="2857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6C39F0-F63E-D35A-2689-999DCA786566}"/>
              </a:ext>
            </a:extLst>
          </p:cNvPr>
          <p:cNvSpPr txBox="1"/>
          <p:nvPr/>
        </p:nvSpPr>
        <p:spPr>
          <a:xfrm>
            <a:off x="189957" y="2136654"/>
            <a:ext cx="489300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/>
              <a:t>Topic configuration interactions, i</a:t>
            </a:r>
            <a:r>
              <a:rPr lang="en-GB" sz="2000" b="0">
                <a:effectLst/>
              </a:rPr>
              <a:t>n the HALF CREATED</a:t>
            </a:r>
            <a:r>
              <a:rPr lang="en-GB" sz="1400" b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2000" b="0">
                <a:effectLst/>
              </a:rPr>
              <a:t>state the topic is created but no data has been published to it.</a:t>
            </a:r>
            <a:endParaRPr lang="en-GB" sz="1400" b="0">
              <a:effectLst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6E7656-9A16-3342-F4ED-078BFB13B218}"/>
              </a:ext>
            </a:extLst>
          </p:cNvPr>
          <p:cNvSpPr txBox="1"/>
          <p:nvPr/>
        </p:nvSpPr>
        <p:spPr>
          <a:xfrm>
            <a:off x="309611" y="3077951"/>
            <a:ext cx="4948595" cy="352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=&gt; </a:t>
            </a:r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POST /</a:t>
            </a:r>
            <a:r>
              <a:rPr lang="en-GB" sz="120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ps</a:t>
            </a:r>
            <a:r>
              <a:rPr lang="en-GB" sz="12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br>
              <a:rPr lang="en-GB" sz="12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br>
              <a:rPr lang="en-GB" sz="1100" b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sz="11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{"topic-name": "Room Temperature Sensor", "resource-type": "</a:t>
            </a:r>
            <a:r>
              <a:rPr lang="en-GB" sz="110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core.ps.conf</a:t>
            </a:r>
            <a:r>
              <a:rPr lang="en-GB" sz="11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", "media-type": "application/</a:t>
            </a:r>
            <a:r>
              <a:rPr lang="en-GB" sz="110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json</a:t>
            </a:r>
            <a:r>
              <a:rPr lang="en-GB" sz="11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", "topic-type": "temperature", "expiration-date": "2023-04-05T23:59:59Z", "max-subscribers": 200, "observer-check": 86400}</a:t>
            </a:r>
            <a:br>
              <a:rPr lang="en-GB" sz="11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br>
              <a:rPr lang="en-GB" sz="11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sz="1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&lt;= </a:t>
            </a:r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2.01 Created</a:t>
            </a:r>
            <a:r>
              <a:rPr lang="en-GB" sz="12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br>
              <a:rPr lang="en-GB" sz="12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sz="11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location: </a:t>
            </a:r>
            <a:r>
              <a:rPr lang="en-GB" sz="110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</a:t>
            </a:r>
            <a:r>
              <a:rPr lang="en-GB" sz="110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ps</a:t>
            </a:r>
            <a:r>
              <a:rPr lang="en-GB" sz="110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/9b7888</a:t>
            </a:r>
            <a:br>
              <a:rPr lang="en-GB" sz="11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sz="11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</a:t>
            </a:r>
            <a:br>
              <a:rPr lang="en-GB" sz="11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sz="11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"topic-name": "Room Temperature Sensor", </a:t>
            </a:r>
          </a:p>
          <a:p>
            <a:r>
              <a:rPr lang="en-GB" sz="11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"topic-data": "</a:t>
            </a:r>
            <a:r>
              <a:rPr lang="en-GB" sz="1100" b="1" err="1">
                <a:solidFill>
                  <a:schemeClr val="accent6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ps</a:t>
            </a:r>
            <a:r>
              <a:rPr lang="en-GB" sz="1100" b="1">
                <a:solidFill>
                  <a:schemeClr val="accent6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/data/7a0e64d</a:t>
            </a:r>
            <a:r>
              <a:rPr lang="en-GB" sz="11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",</a:t>
            </a:r>
          </a:p>
          <a:p>
            <a:r>
              <a:rPr lang="en-GB" sz="11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"resource-type": "</a:t>
            </a:r>
            <a:r>
              <a:rPr lang="en-GB" sz="110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core.ps.conf</a:t>
            </a:r>
            <a:r>
              <a:rPr lang="en-GB" sz="11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",</a:t>
            </a:r>
          </a:p>
          <a:p>
            <a:r>
              <a:rPr lang="en-GB" sz="11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"media-type": "application/</a:t>
            </a:r>
            <a:r>
              <a:rPr lang="en-GB" sz="110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json</a:t>
            </a:r>
            <a:r>
              <a:rPr lang="en-GB" sz="11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",</a:t>
            </a:r>
          </a:p>
          <a:p>
            <a:r>
              <a:rPr lang="en-GB" sz="11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"topic-type": "temperature",</a:t>
            </a:r>
          </a:p>
          <a:p>
            <a:r>
              <a:rPr lang="en-GB" sz="11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"expiration-date": "2023-04-05T23:59:59Z",</a:t>
            </a:r>
          </a:p>
          <a:p>
            <a:r>
              <a:rPr lang="en-GB" sz="11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"max-subscribers": 200,</a:t>
            </a:r>
          </a:p>
          <a:p>
            <a:r>
              <a:rPr lang="en-GB" sz="11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"observer-check": 86400</a:t>
            </a:r>
          </a:p>
          <a:p>
            <a:r>
              <a:rPr lang="en-GB" sz="12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  <a:endParaRPr lang="en-GB" sz="1400" b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2C32B0A-4DBB-1A81-20E9-7C03E5D4EEFF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flipH="1">
            <a:off x="8490922" y="1993019"/>
            <a:ext cx="1059883" cy="1424883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A0425CC-4BBE-23F5-AB39-69BCE35EE6A0}"/>
              </a:ext>
            </a:extLst>
          </p:cNvPr>
          <p:cNvSpPr/>
          <p:nvPr/>
        </p:nvSpPr>
        <p:spPr>
          <a:xfrm>
            <a:off x="9119409" y="1177977"/>
            <a:ext cx="862791" cy="815042"/>
          </a:xfrm>
          <a:prstGeom prst="roundRect">
            <a:avLst/>
          </a:prstGeom>
          <a:noFill/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C016488-9D95-50D4-7935-7DF9B2C0E4F7}"/>
              </a:ext>
            </a:extLst>
          </p:cNvPr>
          <p:cNvSpPr/>
          <p:nvPr/>
        </p:nvSpPr>
        <p:spPr>
          <a:xfrm>
            <a:off x="5847894" y="3417902"/>
            <a:ext cx="5286056" cy="3079909"/>
          </a:xfrm>
          <a:prstGeom prst="roundRect">
            <a:avLst>
              <a:gd name="adj" fmla="val 8800"/>
            </a:avLst>
          </a:prstGeom>
          <a:noFill/>
          <a:ln w="28575" cap="flat" cmpd="sng" algn="ctr">
            <a:solidFill>
              <a:schemeClr val="accent6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4C8660-A5CA-DA31-38EC-08E0C34B063F}"/>
              </a:ext>
            </a:extLst>
          </p:cNvPr>
          <p:cNvSpPr txBox="1"/>
          <p:nvPr/>
        </p:nvSpPr>
        <p:spPr>
          <a:xfrm>
            <a:off x="5968165" y="3436717"/>
            <a:ext cx="531701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0">
                <a:effectLst/>
              </a:rPr>
              <a:t>A p</a:t>
            </a:r>
            <a:r>
              <a:rPr lang="en-GB" sz="2000"/>
              <a:t>ublisher publishes on the topic data resource </a:t>
            </a:r>
            <a:r>
              <a:rPr lang="en-GB" sz="1400" b="1" err="1">
                <a:solidFill>
                  <a:schemeClr val="accent6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ps</a:t>
            </a:r>
            <a:r>
              <a:rPr lang="en-GB" sz="1400" b="1">
                <a:solidFill>
                  <a:schemeClr val="accent6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/data/7a0e64d</a:t>
            </a:r>
            <a:endParaRPr lang="en-GB" sz="2000" b="0">
              <a:solidFill>
                <a:schemeClr val="accent6"/>
              </a:solidFill>
              <a:effectLst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0C8A96-690E-80EC-4113-963A830467AF}"/>
              </a:ext>
            </a:extLst>
          </p:cNvPr>
          <p:cNvSpPr txBox="1"/>
          <p:nvPr/>
        </p:nvSpPr>
        <p:spPr>
          <a:xfrm>
            <a:off x="6778818" y="4107486"/>
            <a:ext cx="316735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=&gt; </a:t>
            </a:r>
            <a:r>
              <a:rPr lang="en-GB" sz="1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PUT </a:t>
            </a:r>
            <a:r>
              <a:rPr lang="en-GB" sz="1400" b="1">
                <a:solidFill>
                  <a:schemeClr val="accent6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</a:t>
            </a:r>
            <a:r>
              <a:rPr lang="en-GB" sz="1400" b="1" err="1">
                <a:solidFill>
                  <a:schemeClr val="accent6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ps</a:t>
            </a:r>
            <a:r>
              <a:rPr lang="en-GB" sz="1400" b="1">
                <a:solidFill>
                  <a:schemeClr val="accent6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/data/7a0e64d</a:t>
            </a:r>
            <a:br>
              <a:rPr lang="en-GB" sz="12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br>
              <a:rPr lang="en-GB" sz="12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sz="12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{n: </a:t>
            </a:r>
            <a:r>
              <a:rPr lang="en-GB" sz="120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temperature,u</a:t>
            </a:r>
            <a:r>
              <a:rPr lang="en-GB" sz="12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</a:t>
            </a:r>
            <a:r>
              <a:rPr lang="en-GB" sz="120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Cel,t</a:t>
            </a:r>
            <a:r>
              <a:rPr lang="en-GB" sz="12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1621452122,v: 21.4}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A7CB07-9C44-15A4-D248-76BC447142B1}"/>
              </a:ext>
            </a:extLst>
          </p:cNvPr>
          <p:cNvSpPr txBox="1"/>
          <p:nvPr/>
        </p:nvSpPr>
        <p:spPr>
          <a:xfrm>
            <a:off x="5978912" y="5119008"/>
            <a:ext cx="5065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0">
                <a:effectLst/>
              </a:rPr>
              <a:t>The state changes to FULLY CREATED</a:t>
            </a:r>
            <a:r>
              <a:rPr lang="en-GB" sz="1400" b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 </a:t>
            </a:r>
            <a:r>
              <a:rPr lang="en-GB" sz="2000" b="0">
                <a:effectLst/>
              </a:rPr>
              <a:t> Subscribers can now subscribe and publish on that resource.</a:t>
            </a:r>
          </a:p>
        </p:txBody>
      </p:sp>
    </p:spTree>
    <p:extLst>
      <p:ext uri="{BB962C8B-B14F-4D97-AF65-F5344CB8AC3E}">
        <p14:creationId xmlns:p14="http://schemas.microsoft.com/office/powerpoint/2010/main" val="1648732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36DB8-1DD4-43C1-AE09-31397DC58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41" y="312367"/>
            <a:ext cx="10743628" cy="846795"/>
          </a:xfrm>
        </p:spPr>
        <p:txBody>
          <a:bodyPr>
            <a:normAutofit/>
          </a:bodyPr>
          <a:lstStyle/>
          <a:p>
            <a:r>
              <a:rPr lang="en-US">
                <a:latin typeface="Ericsson Hilda" pitchFamily="2" charset="0"/>
              </a:rPr>
              <a:t>CoAP Broker properties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78FADA-9566-30E9-AF8C-D16CD608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FI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3CAAA28-F559-354F-AB37-87EC387942A5}" type="slidenum">
              <a:rPr lang="en-FI" smtClean="0"/>
              <a:pPr/>
              <a:t>16</a:t>
            </a:fld>
            <a:endParaRPr lang="en-FI"/>
          </a:p>
        </p:txBody>
      </p:sp>
      <p:sp>
        <p:nvSpPr>
          <p:cNvPr id="5" name="TextBox 4">
            <a:hlinkClick r:id="rId3"/>
            <a:extLst>
              <a:ext uri="{FF2B5EF4-FFF2-40B4-BE49-F238E27FC236}">
                <a16:creationId xmlns:a16="http://schemas.microsoft.com/office/drawing/2014/main" id="{A7AF5985-995B-4C0D-4B5E-586AE09546FA}"/>
              </a:ext>
            </a:extLst>
          </p:cNvPr>
          <p:cNvSpPr txBox="1"/>
          <p:nvPr/>
        </p:nvSpPr>
        <p:spPr bwMode="auto">
          <a:xfrm>
            <a:off x="1024931" y="1862963"/>
            <a:ext cx="4567347" cy="4536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000" tIns="36000" rIns="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285750" indent="-285750" algn="l">
              <a:buFont typeface="System Font Regular"/>
              <a:buChar char="-"/>
            </a:pPr>
            <a:r>
              <a:rPr lang="en-GB">
                <a:solidFill>
                  <a:srgbClr val="333333"/>
                </a:solidFill>
                <a:effectLst/>
                <a:latin typeface="Ericsson Hilda Light" pitchFamily="2" charset="0"/>
              </a:rPr>
              <a:t>Bridges REST and broker-based pubsub</a:t>
            </a:r>
            <a:r>
              <a:rPr lang="en-GB">
                <a:solidFill>
                  <a:srgbClr val="333333"/>
                </a:solidFill>
                <a:latin typeface="Ericsson Hilda Light" pitchFamily="2" charset="0"/>
              </a:rPr>
              <a:t> </a:t>
            </a:r>
            <a:r>
              <a:rPr lang="en-GB">
                <a:solidFill>
                  <a:srgbClr val="333333"/>
                </a:solidFill>
                <a:effectLst/>
                <a:latin typeface="Ericsson Hilda Light" pitchFamily="2" charset="0"/>
              </a:rPr>
              <a:t>conceptual worlds while keeping the REST architecture.</a:t>
            </a:r>
          </a:p>
          <a:p>
            <a:pPr marL="742950" lvl="1" indent="-285750">
              <a:buFont typeface="System Font Regular"/>
              <a:buChar char="-"/>
            </a:pPr>
            <a:r>
              <a:rPr lang="en-GB">
                <a:solidFill>
                  <a:srgbClr val="333333"/>
                </a:solidFill>
                <a:latin typeface="Ericsson Hilda Light" pitchFamily="2" charset="0"/>
              </a:rPr>
              <a:t>Dynamic discovery.</a:t>
            </a:r>
          </a:p>
          <a:p>
            <a:pPr marL="742950" lvl="1" indent="-285750">
              <a:buFont typeface="System Font Regular"/>
              <a:buChar char="-"/>
            </a:pPr>
            <a:r>
              <a:rPr lang="en-GB">
                <a:solidFill>
                  <a:srgbClr val="333333"/>
                </a:solidFill>
                <a:effectLst/>
                <a:latin typeface="Ericsson Hilda Light" pitchFamily="2" charset="0"/>
              </a:rPr>
              <a:t>Expressive topics.</a:t>
            </a:r>
          </a:p>
          <a:p>
            <a:pPr marL="742950" lvl="1" indent="-285750">
              <a:buFont typeface="System Font Regular"/>
              <a:buChar char="-"/>
            </a:pPr>
            <a:r>
              <a:rPr lang="en-GB">
                <a:solidFill>
                  <a:srgbClr val="333333"/>
                </a:solidFill>
                <a:latin typeface="Ericsson Hilda Light" pitchFamily="2" charset="0"/>
              </a:rPr>
              <a:t>FETCH/(</a:t>
            </a:r>
            <a:r>
              <a:rPr lang="en-GB" err="1">
                <a:solidFill>
                  <a:srgbClr val="333333"/>
                </a:solidFill>
                <a:latin typeface="Ericsson Hilda Light" pitchFamily="2" charset="0"/>
              </a:rPr>
              <a:t>i</a:t>
            </a:r>
            <a:r>
              <a:rPr lang="en-GB">
                <a:solidFill>
                  <a:srgbClr val="333333"/>
                </a:solidFill>
                <a:latin typeface="Ericsson Hilda Light" pitchFamily="2" charset="0"/>
              </a:rPr>
              <a:t>)PATCH on configurations.</a:t>
            </a:r>
            <a:endParaRPr lang="en-GB">
              <a:solidFill>
                <a:srgbClr val="333333"/>
              </a:solidFill>
              <a:effectLst/>
              <a:latin typeface="Ericsson Hilda Light" pitchFamily="2" charset="0"/>
            </a:endParaRPr>
          </a:p>
          <a:p>
            <a:pPr marL="285750" indent="-285750" algn="l">
              <a:buFont typeface="System Font Regular"/>
              <a:buChar char="-"/>
            </a:pPr>
            <a:r>
              <a:rPr lang="en-GB">
                <a:solidFill>
                  <a:srgbClr val="333333"/>
                </a:solidFill>
                <a:effectLst/>
                <a:latin typeface="Ericsson Hilda Light" pitchFamily="2" charset="0"/>
              </a:rPr>
              <a:t>Readily usable by existing CoAP deployments (it is all CoAP under the hood).</a:t>
            </a:r>
          </a:p>
          <a:p>
            <a:pPr marL="285750" indent="-285750" algn="l">
              <a:buFont typeface="System Font Regular"/>
              <a:buChar char="-"/>
            </a:pPr>
            <a:r>
              <a:rPr lang="en-GB">
                <a:solidFill>
                  <a:srgbClr val="333333"/>
                </a:solidFill>
                <a:effectLst/>
                <a:latin typeface="Ericsson Hilda Light" pitchFamily="2" charset="0"/>
              </a:rPr>
              <a:t>Ideal for constrained endpoints.</a:t>
            </a:r>
          </a:p>
          <a:p>
            <a:pPr marL="285750" indent="-285750" algn="l">
              <a:buFont typeface="System Font Regular"/>
              <a:buChar char="-"/>
            </a:pPr>
            <a:r>
              <a:rPr lang="en-GB">
                <a:solidFill>
                  <a:srgbClr val="333333"/>
                </a:solidFill>
                <a:effectLst/>
                <a:latin typeface="Ericsson Hilda Light" pitchFamily="2" charset="0"/>
              </a:rPr>
              <a:t>Including management features</a:t>
            </a:r>
          </a:p>
          <a:p>
            <a:pPr marL="742950" lvl="1" indent="-285750">
              <a:buFont typeface="System Font Regular"/>
              <a:buChar char="-"/>
            </a:pPr>
            <a:r>
              <a:rPr lang="en-GB">
                <a:solidFill>
                  <a:srgbClr val="333333"/>
                </a:solidFill>
                <a:effectLst/>
                <a:latin typeface="Ericsson Hilda Light" pitchFamily="2" charset="0"/>
              </a:rPr>
              <a:t>topic-configurations.</a:t>
            </a:r>
          </a:p>
          <a:p>
            <a:pPr marL="742950" lvl="1" indent="-285750">
              <a:buFont typeface="System Font Regular"/>
              <a:buChar char="-"/>
            </a:pPr>
            <a:r>
              <a:rPr lang="en-GB">
                <a:solidFill>
                  <a:srgbClr val="333333"/>
                </a:solidFill>
                <a:latin typeface="Ericsson Hilda Light" pitchFamily="2" charset="0"/>
              </a:rPr>
              <a:t>topic lifecycle</a:t>
            </a:r>
          </a:p>
          <a:p>
            <a:pPr marL="285750" indent="-285750">
              <a:buFont typeface="System Font Regular"/>
              <a:buChar char="-"/>
            </a:pPr>
            <a:r>
              <a:rPr lang="en-GB">
                <a:solidFill>
                  <a:srgbClr val="333333"/>
                </a:solidFill>
                <a:effectLst/>
                <a:latin typeface="Ericsson Hilda Light" pitchFamily="2" charset="0"/>
              </a:rPr>
              <a:t>End-to-end security publisher-to-subscriber with COSE.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ED3763-6574-CE0C-7412-EA0216B0D6A0}"/>
              </a:ext>
            </a:extLst>
          </p:cNvPr>
          <p:cNvSpPr/>
          <p:nvPr/>
        </p:nvSpPr>
        <p:spPr bwMode="auto">
          <a:xfrm>
            <a:off x="1088942" y="1430688"/>
            <a:ext cx="4358957" cy="31110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12700" dir="5400000" sx="99500" sy="99500" algn="t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/>
          <a:lstStyle/>
          <a:p>
            <a:pPr marR="0" lvl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b="1">
                <a:solidFill>
                  <a:srgbClr val="181818"/>
                </a:solidFill>
                <a:latin typeface="Ericsson Hilda Light" pitchFamily="2" charset="0"/>
                <a:cs typeface="Arial" panose="020B0604020202020204" pitchFamily="34" charset="0"/>
                <a:sym typeface="Hilda Light" panose="00000400000000000000" pitchFamily="50" charset="0"/>
              </a:rPr>
              <a:t>Advantages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Ericsson Hilda Light" pitchFamily="2" charset="0"/>
              <a:cs typeface="Arial" panose="020B0604020202020204" pitchFamily="34" charset="0"/>
              <a:sym typeface="Hilda Light" panose="00000400000000000000" pitchFamily="50" charset="0"/>
            </a:endParaRPr>
          </a:p>
        </p:txBody>
      </p:sp>
      <p:sp>
        <p:nvSpPr>
          <p:cNvPr id="12" name="TextBox 11">
            <a:hlinkClick r:id="rId3"/>
            <a:extLst>
              <a:ext uri="{FF2B5EF4-FFF2-40B4-BE49-F238E27FC236}">
                <a16:creationId xmlns:a16="http://schemas.microsoft.com/office/drawing/2014/main" id="{88A49726-D683-9D28-BFD5-49084F7CA5EA}"/>
              </a:ext>
            </a:extLst>
          </p:cNvPr>
          <p:cNvSpPr txBox="1"/>
          <p:nvPr/>
        </p:nvSpPr>
        <p:spPr bwMode="auto">
          <a:xfrm>
            <a:off x="6096000" y="1862963"/>
            <a:ext cx="4790173" cy="4536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000" tIns="36000" rIns="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285750" indent="-285750" algn="l">
              <a:buFont typeface="System Font Regular"/>
              <a:buChar char="-"/>
            </a:pP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Not session based (SSH, </a:t>
            </a:r>
            <a:r>
              <a:rPr lang="en-GB" sz="2000">
                <a:solidFill>
                  <a:srgbClr val="333333"/>
                </a:solidFill>
                <a:latin typeface="Ericsson Hilda Light" pitchFamily="2" charset="0"/>
              </a:rPr>
              <a:t>RTP...) </a:t>
            </a: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nor connection-oriented (although you can have CoAP over TCP).</a:t>
            </a:r>
          </a:p>
          <a:p>
            <a:pPr marL="742950" lvl="1" indent="-285750">
              <a:buFont typeface="System Font Regular"/>
              <a:buChar char="-"/>
            </a:pP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  <a:hlinkClick r:id="rId4"/>
              </a:rPr>
              <a:t>WebTransport</a:t>
            </a: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 streams has better throughput.</a:t>
            </a:r>
          </a:p>
          <a:p>
            <a:pPr marL="285750" indent="-285750" algn="l">
              <a:buFont typeface="System Font Regular"/>
              <a:buChar char="-"/>
            </a:pPr>
            <a:r>
              <a:rPr lang="en-GB" sz="2000">
                <a:solidFill>
                  <a:srgbClr val="333333"/>
                </a:solidFill>
                <a:latin typeface="Ericsson Hilda Light" pitchFamily="2" charset="0"/>
              </a:rPr>
              <a:t>CoAP Parameters (e.g., N_START, timeouts…) should be tuned appropriately.</a:t>
            </a:r>
          </a:p>
          <a:p>
            <a:pPr marL="742950" lvl="1" indent="-285750">
              <a:buFont typeface="System Font Regular"/>
              <a:buChar char="-"/>
            </a:pPr>
            <a:r>
              <a:rPr lang="en-GB" sz="2000">
                <a:solidFill>
                  <a:srgbClr val="333333"/>
                </a:solidFill>
                <a:latin typeface="Ericsson Hilda Light" pitchFamily="2" charset="0"/>
              </a:rPr>
              <a:t>See </a:t>
            </a:r>
            <a:r>
              <a:rPr lang="en-GB" sz="2000">
                <a:solidFill>
                  <a:srgbClr val="333333"/>
                </a:solidFill>
                <a:latin typeface="Ericsson Hilda Light" pitchFamily="2" charset="0"/>
                <a:hlinkClick r:id="rId5"/>
              </a:rPr>
              <a:t>aiocoap</a:t>
            </a:r>
            <a:r>
              <a:rPr lang="en-GB" sz="2000">
                <a:solidFill>
                  <a:srgbClr val="333333"/>
                </a:solidFill>
                <a:latin typeface="Ericsson Hilda Light" pitchFamily="2" charset="0"/>
              </a:rPr>
              <a:t> constants.</a:t>
            </a:r>
          </a:p>
          <a:p>
            <a:pPr marL="742950" lvl="1" indent="-285750">
              <a:buFont typeface="System Font Regular"/>
              <a:buChar char="-"/>
            </a:pP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CoAP default values keep the network running and do not contribute to its degradation. </a:t>
            </a:r>
          </a:p>
          <a:p>
            <a:pPr marL="742950" lvl="1" indent="-285750">
              <a:buFont typeface="System Font Regular"/>
              <a:buChar char="-"/>
            </a:pPr>
            <a:r>
              <a:rPr lang="en-GB" sz="2000">
                <a:solidFill>
                  <a:srgbClr val="333333"/>
                </a:solidFill>
                <a:effectLst/>
                <a:latin typeface="Ericsson Hilda Light" pitchFamily="2" charset="0"/>
              </a:rPr>
              <a:t>TCP and QUIC can behave more aggressively.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A266DD-1430-19AC-3533-9B808B562DB1}"/>
              </a:ext>
            </a:extLst>
          </p:cNvPr>
          <p:cNvSpPr/>
          <p:nvPr/>
        </p:nvSpPr>
        <p:spPr bwMode="auto">
          <a:xfrm>
            <a:off x="6169636" y="1430688"/>
            <a:ext cx="4270408" cy="31110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12700" dir="5400000" sx="99500" sy="99500" algn="t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/>
          <a:lstStyle/>
          <a:p>
            <a:pPr marR="0" lvl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b="1">
                <a:solidFill>
                  <a:srgbClr val="181818"/>
                </a:solidFill>
                <a:latin typeface="Ericsson Hilda Light" pitchFamily="2" charset="0"/>
                <a:cs typeface="Arial" panose="020B0604020202020204" pitchFamily="34" charset="0"/>
                <a:sym typeface="Hilda Light" panose="00000400000000000000" pitchFamily="50" charset="0"/>
              </a:rPr>
              <a:t>Caveats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Ericsson Hilda Light" pitchFamily="2" charset="0"/>
              <a:cs typeface="Arial" panose="020B0604020202020204" pitchFamily="34" charset="0"/>
              <a:sym typeface="Hilda Light" panose="000004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206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EEF9231F-FE9E-3F59-C610-D340BD42F3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86" b="19925"/>
          <a:stretch/>
        </p:blipFill>
        <p:spPr bwMode="auto"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87CE92-7C06-DBEC-FD59-0978F49E2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3CAAA28-F559-354F-AB37-87EC387942A5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17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5421696-21D6-ADCD-C1AE-F1285987379B}"/>
              </a:ext>
            </a:extLst>
          </p:cNvPr>
          <p:cNvSpPr txBox="1">
            <a:spLocks/>
          </p:cNvSpPr>
          <p:nvPr/>
        </p:nvSpPr>
        <p:spPr>
          <a:xfrm>
            <a:off x="6685845" y="407987"/>
            <a:ext cx="5251316" cy="1807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 eaLnBrk="1" fontAlgn="base" hangingPunct="1">
              <a:lnSpc>
                <a:spcPct val="85000"/>
              </a:lnSpc>
              <a:spcBef>
                <a:spcPts val="300"/>
              </a:spcBef>
              <a:spcAft>
                <a:spcPct val="0"/>
              </a:spcAft>
              <a:defRPr sz="4000" kern="1400" spc="-16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Ericsson Hilda" pitchFamily="2" charset="0"/>
              </a:defRPr>
            </a:lvl2pPr>
            <a:lvl3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Ericsson Hilda" pitchFamily="2" charset="0"/>
              </a:defRPr>
            </a:lvl3pPr>
            <a:lvl4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Ericsson Hilda" pitchFamily="2" charset="0"/>
              </a:defRPr>
            </a:lvl4pPr>
            <a:lvl5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Ericsson Hilda" pitchFamily="2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Ericsson Hilda" pitchFamily="2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Ericsson Hilda" pitchFamily="2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Ericsson Hilda" pitchFamily="2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Ericsson Hilda" pitchFamily="2" charset="0"/>
              </a:defRPr>
            </a:lvl9pPr>
          </a:lstStyle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4400" b="0" i="0" u="none" strike="noStrike" kern="1200" cap="none" spc="-160" normalizeH="0" baseline="0" noProof="0">
                <a:ln>
                  <a:noFill/>
                </a:ln>
                <a:effectLst/>
                <a:uLnTx/>
                <a:uFillTx/>
              </a:rPr>
              <a:t>Agenda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432FC81-AD67-FFCB-69A6-4EDAFD570D52}"/>
              </a:ext>
            </a:extLst>
          </p:cNvPr>
          <p:cNvSpPr txBox="1">
            <a:spLocks/>
          </p:cNvSpPr>
          <p:nvPr/>
        </p:nvSpPr>
        <p:spPr>
          <a:xfrm>
            <a:off x="6685844" y="2376159"/>
            <a:ext cx="5055883" cy="3843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0000" indent="-18000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3600" indent="-18000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2pPr>
            <a:lvl3pPr marL="543600" indent="-18000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3pPr>
            <a:lvl4pPr marL="723600" indent="-18000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4pPr>
            <a:lvl5pPr marL="903600" indent="-18000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5pPr>
            <a:lvl6pPr marL="903600" indent="-18000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6pPr>
            <a:lvl7pPr marL="903600" indent="-18000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7pPr>
            <a:lvl8pPr marL="903600" indent="-18000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8pPr>
            <a:lvl9pPr marL="903600" indent="-18000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408600" indent="-4572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3000" kern="1200">
                <a:solidFill>
                  <a:schemeClr val="bg2"/>
                </a:solidFill>
                <a:latin typeface="+mj-lt"/>
              </a:rPr>
              <a:t>CoAP intro</a:t>
            </a:r>
          </a:p>
          <a:p>
            <a:pPr marL="408600" marR="0" lvl="0" indent="-457200" fontAlgn="base">
              <a:lnSpc>
                <a:spcPct val="90000"/>
              </a:lnSpc>
              <a:spcBef>
                <a:spcPts val="80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sz="3000" kern="1200">
                <a:solidFill>
                  <a:schemeClr val="bg2"/>
                </a:solidFill>
                <a:latin typeface="+mj-lt"/>
              </a:rPr>
              <a:t>CoAP </a:t>
            </a:r>
            <a:r>
              <a:rPr lang="en-US" sz="3000" kern="1200" err="1">
                <a:solidFill>
                  <a:schemeClr val="bg2"/>
                </a:solidFill>
                <a:latin typeface="+mj-lt"/>
              </a:rPr>
              <a:t>PubSub</a:t>
            </a:r>
            <a:r>
              <a:rPr lang="en-US" sz="3000" kern="1200">
                <a:solidFill>
                  <a:schemeClr val="bg2"/>
                </a:solidFill>
                <a:latin typeface="+mj-lt"/>
              </a:rPr>
              <a:t> broker</a:t>
            </a:r>
          </a:p>
          <a:p>
            <a:pPr marL="408600" marR="0" lvl="0" indent="-457200" fontAlgn="base">
              <a:lnSpc>
                <a:spcPct val="90000"/>
              </a:lnSpc>
              <a:spcBef>
                <a:spcPts val="80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sz="3000" kern="1200">
                <a:latin typeface="+mj-lt"/>
              </a:rPr>
              <a:t>Demo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8505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36DB8-1DD4-43C1-AE09-31397DC58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41" y="312367"/>
            <a:ext cx="10743628" cy="846795"/>
          </a:xfrm>
        </p:spPr>
        <p:txBody>
          <a:bodyPr>
            <a:normAutofit/>
          </a:bodyPr>
          <a:lstStyle/>
          <a:p>
            <a:r>
              <a:rPr lang="en-US">
                <a:latin typeface="Ericsson Hilda" pitchFamily="2" charset="0"/>
              </a:rPr>
              <a:t>Implementation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78FADA-9566-30E9-AF8C-D16CD608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FI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3CAAA28-F559-354F-AB37-87EC387942A5}" type="slidenum">
              <a:rPr lang="en-FI" smtClean="0"/>
              <a:pPr/>
              <a:t>18</a:t>
            </a:fld>
            <a:endParaRPr lang="en-FI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6DDABA-4CCD-7AE6-8888-BC24A8CA8110}"/>
              </a:ext>
            </a:extLst>
          </p:cNvPr>
          <p:cNvSpPr txBox="1"/>
          <p:nvPr/>
        </p:nvSpPr>
        <p:spPr>
          <a:xfrm>
            <a:off x="899131" y="1726428"/>
            <a:ext cx="411178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>
                <a:latin typeface="+mj-lt"/>
              </a:rPr>
              <a:t>Simple python implementation of the topic discovery, configuration and pub-sub topic data interactions on top of</a:t>
            </a:r>
            <a:r>
              <a:rPr lang="en-GB" sz="2000" b="0" i="0">
                <a:solidFill>
                  <a:srgbClr val="24292F"/>
                </a:solidFill>
                <a:effectLst/>
                <a:latin typeface="+mj-lt"/>
              </a:rPr>
              <a:t> </a:t>
            </a:r>
            <a:r>
              <a:rPr lang="en-GB" sz="2000" b="0" i="0" u="sng">
                <a:effectLst/>
                <a:latin typeface="+mj-lt"/>
                <a:hlinkClick r:id="rId3"/>
              </a:rPr>
              <a:t>aiocoap</a:t>
            </a:r>
            <a:r>
              <a:rPr lang="en-GB" sz="2000" b="0" i="0">
                <a:effectLst/>
                <a:latin typeface="+mj-lt"/>
              </a:rPr>
              <a:t>. </a:t>
            </a:r>
          </a:p>
          <a:p>
            <a:endParaRPr lang="en-GB" sz="2000" b="0" i="0">
              <a:effectLst/>
              <a:latin typeface="+mj-lt"/>
            </a:endParaRPr>
          </a:p>
          <a:p>
            <a:pPr algn="l"/>
            <a:r>
              <a:rPr lang="en-GB" sz="2000" b="0" i="0">
                <a:solidFill>
                  <a:srgbClr val="24292F"/>
                </a:solidFill>
                <a:effectLst/>
                <a:latin typeface="+mj-lt"/>
              </a:rPr>
              <a:t>The broker implements the following resource classes:</a:t>
            </a:r>
          </a:p>
          <a:p>
            <a:pPr marL="285750" indent="-285750" algn="l">
              <a:buFontTx/>
              <a:buChar char="-"/>
            </a:pPr>
            <a:r>
              <a:rPr lang="en-GB" sz="2000" b="0" i="0" err="1">
                <a:solidFill>
                  <a:srgbClr val="24292F"/>
                </a:solidFill>
                <a:effectLst/>
                <a:latin typeface="+mj-lt"/>
              </a:rPr>
              <a:t>CollectionResource</a:t>
            </a:r>
            <a:r>
              <a:rPr lang="en-GB" sz="2000" b="0" i="0">
                <a:solidFill>
                  <a:srgbClr val="24292F"/>
                </a:solidFill>
                <a:effectLst/>
                <a:latin typeface="+mj-lt"/>
              </a:rPr>
              <a:t>: The collection resource /</a:t>
            </a:r>
            <a:r>
              <a:rPr lang="en-GB" sz="2000" b="0" i="0" err="1">
                <a:solidFill>
                  <a:srgbClr val="24292F"/>
                </a:solidFill>
                <a:effectLst/>
                <a:latin typeface="+mj-lt"/>
              </a:rPr>
              <a:t>ps</a:t>
            </a:r>
            <a:r>
              <a:rPr lang="en-GB" sz="2000" b="0" i="0">
                <a:solidFill>
                  <a:srgbClr val="24292F"/>
                </a:solidFill>
                <a:effectLst/>
                <a:latin typeface="+mj-lt"/>
              </a:rPr>
              <a:t> for storing topics.</a:t>
            </a:r>
          </a:p>
          <a:p>
            <a:pPr marL="285750" indent="-285750" algn="l">
              <a:buFontTx/>
              <a:buChar char="-"/>
            </a:pPr>
            <a:r>
              <a:rPr lang="en-GB" sz="2000" b="0" i="0" err="1">
                <a:solidFill>
                  <a:srgbClr val="24292F"/>
                </a:solidFill>
                <a:effectLst/>
                <a:latin typeface="+mj-lt"/>
              </a:rPr>
              <a:t>TopicResource</a:t>
            </a:r>
            <a:r>
              <a:rPr lang="en-GB" sz="2000" b="0" i="0">
                <a:solidFill>
                  <a:srgbClr val="24292F"/>
                </a:solidFill>
                <a:effectLst/>
                <a:latin typeface="+mj-lt"/>
              </a:rPr>
              <a:t>: A resource for </a:t>
            </a:r>
            <a:r>
              <a:rPr lang="en-GB" sz="2000" b="0" i="0" u="none" strike="noStrike">
                <a:solidFill>
                  <a:srgbClr val="24292F"/>
                </a:solidFill>
                <a:effectLst/>
                <a:latin typeface="+mj-lt"/>
                <a:hlinkClick r:id="rId4"/>
              </a:rPr>
              <a:t>topic configurations</a:t>
            </a:r>
            <a:r>
              <a:rPr lang="en-GB" sz="2000" b="0" i="0">
                <a:solidFill>
                  <a:srgbClr val="24292F"/>
                </a:solidFill>
                <a:effectLst/>
                <a:latin typeface="+mj-lt"/>
              </a:rPr>
              <a:t>.</a:t>
            </a:r>
          </a:p>
          <a:p>
            <a:pPr marL="285750" indent="-285750" algn="l">
              <a:buFontTx/>
              <a:buChar char="-"/>
            </a:pPr>
            <a:r>
              <a:rPr lang="en-GB" sz="2000" b="0" i="0" err="1">
                <a:solidFill>
                  <a:srgbClr val="24292F"/>
                </a:solidFill>
                <a:effectLst/>
                <a:latin typeface="+mj-lt"/>
              </a:rPr>
              <a:t>TopicDataResource</a:t>
            </a:r>
            <a:r>
              <a:rPr lang="en-GB" sz="2000" b="0" i="0">
                <a:solidFill>
                  <a:srgbClr val="24292F"/>
                </a:solidFill>
                <a:effectLst/>
                <a:latin typeface="+mj-lt"/>
              </a:rPr>
              <a:t>: A resource for topic data and for the </a:t>
            </a:r>
            <a:r>
              <a:rPr lang="en-GB" sz="2000" b="0" i="0" u="none" strike="noStrike">
                <a:solidFill>
                  <a:srgbClr val="24292F"/>
                </a:solidFill>
                <a:effectLst/>
                <a:latin typeface="+mj-lt"/>
                <a:hlinkClick r:id="rId5"/>
              </a:rPr>
              <a:t>publish-subscribe interactions</a:t>
            </a:r>
            <a:r>
              <a:rPr lang="en-GB" sz="2000" b="0" i="0">
                <a:solidFill>
                  <a:srgbClr val="24292F"/>
                </a:solidFill>
                <a:effectLst/>
                <a:latin typeface="+mj-lt"/>
              </a:rPr>
              <a:t> over CoAP.</a:t>
            </a:r>
          </a:p>
          <a:p>
            <a:endParaRPr lang="en-GB" sz="2000" b="0" i="0">
              <a:effectLst/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76C684-9BD7-C937-261A-D0F002264B2D}"/>
              </a:ext>
            </a:extLst>
          </p:cNvPr>
          <p:cNvSpPr txBox="1"/>
          <p:nvPr/>
        </p:nvSpPr>
        <p:spPr>
          <a:xfrm>
            <a:off x="6181845" y="1680261"/>
            <a:ext cx="536453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>
                <a:latin typeface="+mj-lt"/>
              </a:rPr>
              <a:t>- Updates based on spec changes</a:t>
            </a:r>
            <a:br>
              <a:rPr lang="en-GB" sz="2000">
                <a:latin typeface="+mj-lt"/>
              </a:rPr>
            </a:br>
            <a:r>
              <a:rPr lang="en-GB" sz="2000">
                <a:latin typeface="+mj-lt"/>
              </a:rPr>
              <a:t>- </a:t>
            </a:r>
            <a:r>
              <a:rPr lang="en-GB" sz="2000" err="1">
                <a:latin typeface="+mj-lt"/>
              </a:rPr>
              <a:t>iPATCH</a:t>
            </a:r>
            <a:r>
              <a:rPr lang="en-GB" sz="2000">
                <a:latin typeface="+mj-lt"/>
              </a:rPr>
              <a:t> to partially update topic configuration</a:t>
            </a:r>
          </a:p>
          <a:p>
            <a:r>
              <a:rPr lang="en-GB" sz="2000" b="0" i="0">
                <a:solidFill>
                  <a:srgbClr val="24292F"/>
                </a:solidFill>
                <a:effectLst/>
                <a:latin typeface="+mj-lt"/>
              </a:rPr>
              <a:t>- FETCH on the topic collection</a:t>
            </a:r>
          </a:p>
          <a:p>
            <a:r>
              <a:rPr lang="en-GB" sz="2000">
                <a:solidFill>
                  <a:srgbClr val="24292F"/>
                </a:solidFill>
                <a:latin typeface="+mj-lt"/>
              </a:rPr>
              <a:t>- DELETE</a:t>
            </a:r>
          </a:p>
          <a:p>
            <a:r>
              <a:rPr lang="en-GB" sz="2000" b="0" i="0">
                <a:solidFill>
                  <a:srgbClr val="24292F"/>
                </a:solidFill>
                <a:effectLst/>
                <a:latin typeface="+mj-lt"/>
              </a:rPr>
              <a:t>- rt-based discovery (</a:t>
            </a:r>
            <a:r>
              <a:rPr lang="en-GB" sz="2000" b="0" i="0" err="1">
                <a:solidFill>
                  <a:srgbClr val="24292F"/>
                </a:solidFill>
                <a:effectLst/>
                <a:latin typeface="+mj-lt"/>
              </a:rPr>
              <a:t>core.ps.coll</a:t>
            </a:r>
            <a:r>
              <a:rPr lang="en-GB" sz="2000" b="0" i="0">
                <a:solidFill>
                  <a:srgbClr val="24292F"/>
                </a:solidFill>
                <a:effectLst/>
                <a:latin typeface="+mj-lt"/>
              </a:rPr>
              <a:t>, </a:t>
            </a:r>
            <a:r>
              <a:rPr lang="en-GB" sz="2000" b="0" i="0" err="1">
                <a:solidFill>
                  <a:srgbClr val="24292F"/>
                </a:solidFill>
                <a:effectLst/>
                <a:latin typeface="+mj-lt"/>
              </a:rPr>
              <a:t>core.ps.conf</a:t>
            </a:r>
            <a:r>
              <a:rPr lang="en-GB" sz="2000" b="0" i="0">
                <a:solidFill>
                  <a:srgbClr val="24292F"/>
                </a:solidFill>
                <a:effectLst/>
                <a:latin typeface="+mj-lt"/>
              </a:rPr>
              <a:t>, </a:t>
            </a:r>
            <a:r>
              <a:rPr lang="en-GB" sz="2000" b="0" i="0" err="1">
                <a:solidFill>
                  <a:srgbClr val="24292F"/>
                </a:solidFill>
                <a:effectLst/>
                <a:latin typeface="+mj-lt"/>
              </a:rPr>
              <a:t>core.ps.data</a:t>
            </a:r>
            <a:r>
              <a:rPr lang="en-GB" sz="2000" b="0" i="0">
                <a:solidFill>
                  <a:srgbClr val="24292F"/>
                </a:solidFill>
                <a:effectLst/>
                <a:latin typeface="+mj-lt"/>
              </a:rPr>
              <a:t>)</a:t>
            </a:r>
          </a:p>
          <a:p>
            <a:endParaRPr lang="en-GB" sz="2000" b="0" i="0">
              <a:effectLst/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B80051-CBA4-609F-3605-13F50A871437}"/>
              </a:ext>
            </a:extLst>
          </p:cNvPr>
          <p:cNvSpPr/>
          <p:nvPr/>
        </p:nvSpPr>
        <p:spPr bwMode="auto">
          <a:xfrm>
            <a:off x="977502" y="1287244"/>
            <a:ext cx="3516699" cy="31110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12700" dir="5400000" sx="99500" sy="99500" algn="t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srgbClr val="181818"/>
                </a:solidFill>
                <a:latin typeface="Ericsson Hilda"/>
                <a:cs typeface="Arial" panose="020B0604020202020204" pitchFamily="34" charset="0"/>
                <a:sym typeface="Hilda Light" panose="00000400000000000000" pitchFamily="50" charset="0"/>
              </a:rPr>
              <a:t>IETF117 hackathon 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Ericsson Hilda"/>
              <a:cs typeface="Arial" panose="020B0604020202020204" pitchFamily="34" charset="0"/>
              <a:sym typeface="Hilda Light" panose="00000400000000000000" pitchFamily="50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65FF7D-4E58-8E03-B2EF-A0B337DE21E8}"/>
              </a:ext>
            </a:extLst>
          </p:cNvPr>
          <p:cNvSpPr/>
          <p:nvPr/>
        </p:nvSpPr>
        <p:spPr bwMode="auto">
          <a:xfrm>
            <a:off x="6263670" y="1287244"/>
            <a:ext cx="3516699" cy="31110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12700" dir="5400000" sx="99500" sy="99500" algn="t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srgbClr val="181818"/>
                </a:solidFill>
                <a:latin typeface="Ericsson Hilda"/>
                <a:cs typeface="Arial" panose="020B0604020202020204" pitchFamily="34" charset="0"/>
                <a:sym typeface="Hilda Light" panose="00000400000000000000" pitchFamily="50" charset="0"/>
              </a:rPr>
              <a:t>IETF118 hackathon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Ericsson Hilda"/>
              <a:cs typeface="Arial" panose="020B0604020202020204" pitchFamily="34" charset="0"/>
              <a:sym typeface="Hilda Light" panose="00000400000000000000" pitchFamily="50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29B25B-1C9C-DA56-6FEC-993977CDAA45}"/>
              </a:ext>
            </a:extLst>
          </p:cNvPr>
          <p:cNvSpPr txBox="1"/>
          <p:nvPr/>
        </p:nvSpPr>
        <p:spPr>
          <a:xfrm>
            <a:off x="6181845" y="4616490"/>
            <a:ext cx="4699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>
                <a:latin typeface="+mj-lt"/>
                <a:hlinkClick r:id="rId6"/>
              </a:rPr>
              <a:t>github.com/jaimejim/aiocoap-pubsub-broker</a:t>
            </a:r>
            <a:r>
              <a:rPr lang="en-GB" sz="1800">
                <a:latin typeface="+mj-lt"/>
              </a:rPr>
              <a:t>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D22F88-25BF-734A-A956-3CFF1C9EDF42}"/>
              </a:ext>
            </a:extLst>
          </p:cNvPr>
          <p:cNvSpPr/>
          <p:nvPr/>
        </p:nvSpPr>
        <p:spPr bwMode="auto">
          <a:xfrm>
            <a:off x="6263669" y="4137027"/>
            <a:ext cx="3516699" cy="31110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12700" dir="5400000" sx="99500" sy="99500" algn="t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srgbClr val="181818"/>
                </a:solidFill>
                <a:latin typeface="Ericsson Hilda"/>
                <a:cs typeface="Arial" panose="020B0604020202020204" pitchFamily="34" charset="0"/>
                <a:sym typeface="Hilda Light" panose="00000400000000000000" pitchFamily="50" charset="0"/>
              </a:rPr>
              <a:t>Open Sourced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Ericsson Hilda"/>
              <a:cs typeface="Arial" panose="020B0604020202020204" pitchFamily="34" charset="0"/>
              <a:sym typeface="Hilda Light" panose="00000400000000000000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9273E6-57F9-34E4-5FEF-7D3B0B2D3A7E}"/>
              </a:ext>
            </a:extLst>
          </p:cNvPr>
          <p:cNvSpPr txBox="1"/>
          <p:nvPr/>
        </p:nvSpPr>
        <p:spPr>
          <a:xfrm>
            <a:off x="6181845" y="5617052"/>
            <a:ext cx="4699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err="1">
                <a:latin typeface="+mj-lt"/>
              </a:rPr>
              <a:t>coap</a:t>
            </a:r>
            <a:r>
              <a:rPr lang="en-GB" b="1">
                <a:latin typeface="+mj-lt"/>
              </a:rPr>
              <a:t>://</a:t>
            </a:r>
            <a:r>
              <a:rPr lang="en-GB" sz="1800" b="1" err="1">
                <a:latin typeface="+mj-lt"/>
              </a:rPr>
              <a:t>colibri.nomadiclab.com</a:t>
            </a:r>
            <a:endParaRPr lang="en-GB" b="1"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23C6A5-1ABA-F6ED-A47B-E601F4DB2AE6}"/>
              </a:ext>
            </a:extLst>
          </p:cNvPr>
          <p:cNvSpPr/>
          <p:nvPr/>
        </p:nvSpPr>
        <p:spPr bwMode="auto">
          <a:xfrm>
            <a:off x="6263669" y="5137589"/>
            <a:ext cx="3516699" cy="31110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12700" dir="5400000" sx="99500" sy="99500" algn="t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srgbClr val="181818"/>
                </a:solidFill>
                <a:latin typeface="Ericsson Hilda"/>
                <a:cs typeface="Arial" panose="020B0604020202020204" pitchFamily="34" charset="0"/>
                <a:sym typeface="Hilda Light" panose="00000400000000000000" pitchFamily="50" charset="0"/>
              </a:rPr>
              <a:t>Lab Instance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Ericsson Hilda"/>
              <a:cs typeface="Arial" panose="020B0604020202020204" pitchFamily="34" charset="0"/>
              <a:sym typeface="Hilda Light" panose="000004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2337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36DB8-1DD4-43C1-AE09-31397DC58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41" y="312367"/>
            <a:ext cx="10743628" cy="846795"/>
          </a:xfrm>
        </p:spPr>
        <p:txBody>
          <a:bodyPr>
            <a:normAutofit/>
          </a:bodyPr>
          <a:lstStyle/>
          <a:p>
            <a:r>
              <a:rPr lang="en-US">
                <a:latin typeface="Ericsson Hilda" pitchFamily="2" charset="0"/>
              </a:rPr>
              <a:t>What about MQTT?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78FADA-9566-30E9-AF8C-D16CD608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FI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3CAAA28-F559-354F-AB37-87EC387942A5}" type="slidenum">
              <a:rPr lang="en-FI" smtClean="0"/>
              <a:pPr/>
              <a:t>19</a:t>
            </a:fld>
            <a:endParaRPr lang="en-FI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709B5F6-640E-4B11-DAB2-85111801D06F}"/>
              </a:ext>
            </a:extLst>
          </p:cNvPr>
          <p:cNvGraphicFramePr>
            <a:graphicFrameLocks noGrp="1"/>
          </p:cNvGraphicFramePr>
          <p:nvPr/>
        </p:nvGraphicFramePr>
        <p:xfrm>
          <a:off x="552845" y="1399429"/>
          <a:ext cx="3581837" cy="4690752"/>
        </p:xfrm>
        <a:graphic>
          <a:graphicData uri="http://schemas.openxmlformats.org/drawingml/2006/table">
            <a:tbl>
              <a:tblPr/>
              <a:tblGrid>
                <a:gridCol w="2765037">
                  <a:extLst>
                    <a:ext uri="{9D8B030D-6E8A-4147-A177-3AD203B41FA5}">
                      <a16:colId xmlns:a16="http://schemas.microsoft.com/office/drawing/2014/main" val="1841144696"/>
                    </a:ext>
                  </a:extLst>
                </a:gridCol>
                <a:gridCol w="816800">
                  <a:extLst>
                    <a:ext uri="{9D8B030D-6E8A-4147-A177-3AD203B41FA5}">
                      <a16:colId xmlns:a16="http://schemas.microsoft.com/office/drawing/2014/main" val="3704998599"/>
                    </a:ext>
                  </a:extLst>
                </a:gridCol>
              </a:tblGrid>
              <a:tr h="203077"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000000"/>
                          </a:solidFill>
                          <a:effectLst/>
                        </a:rPr>
                        <a:t>Title</a:t>
                      </a:r>
                    </a:p>
                  </a:txBody>
                  <a:tcPr marL="59520" marR="59520" marT="27471" marB="274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000000"/>
                          </a:solidFill>
                          <a:effectLst/>
                        </a:rPr>
                        <a:t>Year</a:t>
                      </a:r>
                    </a:p>
                  </a:txBody>
                  <a:tcPr marL="59520" marR="59520" marT="27471" marB="274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979770"/>
                  </a:ext>
                </a:extLst>
              </a:tr>
              <a:tr h="352342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3"/>
                        </a:rPr>
                        <a:t>MQTT vulnerabilities, attack vectors and solutions in the internet of things (IoT)</a:t>
                      </a:r>
                      <a:endParaRPr lang="en-GB" sz="1000">
                        <a:effectLst/>
                      </a:endParaRPr>
                    </a:p>
                  </a:txBody>
                  <a:tcPr marL="59520" marR="59520" marT="27471" marB="274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2023</a:t>
                      </a:r>
                    </a:p>
                  </a:txBody>
                  <a:tcPr marL="59520" marR="59520" marT="27471" marB="274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686290"/>
                  </a:ext>
                </a:extLst>
              </a:tr>
              <a:tr h="415104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4"/>
                        </a:rPr>
                        <a:t>Performance of CoAP in the Limited Resource Environment: An Empirical Study</a:t>
                      </a:r>
                      <a:endParaRPr lang="en-GB" sz="1000">
                        <a:effectLst/>
                      </a:endParaRPr>
                    </a:p>
                  </a:txBody>
                  <a:tcPr marL="59520" marR="59520" marT="27471" marB="274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2023</a:t>
                      </a:r>
                    </a:p>
                  </a:txBody>
                  <a:tcPr marL="59520" marR="59520" marT="27471" marB="274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56355"/>
                  </a:ext>
                </a:extLst>
              </a:tr>
              <a:tr h="352342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5"/>
                        </a:rPr>
                        <a:t>Performance analysis of constrained application protocol (CoAP)</a:t>
                      </a:r>
                      <a:endParaRPr lang="en-GB" sz="1000">
                        <a:effectLst/>
                      </a:endParaRPr>
                    </a:p>
                  </a:txBody>
                  <a:tcPr marL="59520" marR="59520" marT="27471" marB="274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2023</a:t>
                      </a:r>
                    </a:p>
                  </a:txBody>
                  <a:tcPr marL="59520" marR="59520" marT="27471" marB="274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61951"/>
                  </a:ext>
                </a:extLst>
              </a:tr>
              <a:tr h="352342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6"/>
                        </a:rPr>
                        <a:t>Comparative Analysis of MQTT and CoAP Using Wireshark</a:t>
                      </a:r>
                      <a:endParaRPr lang="en-GB" sz="1000">
                        <a:effectLst/>
                      </a:endParaRPr>
                    </a:p>
                  </a:txBody>
                  <a:tcPr marL="59520" marR="59520" marT="27471" marB="274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2022</a:t>
                      </a:r>
                    </a:p>
                  </a:txBody>
                  <a:tcPr marL="59520" marR="59520" marT="27471" marB="274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103730"/>
                  </a:ext>
                </a:extLst>
              </a:tr>
              <a:tr h="501607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7"/>
                        </a:rPr>
                        <a:t>Knowledge-based edge computing framework based on CoAP and HTTP for enabling heterogeneous connectivity</a:t>
                      </a:r>
                      <a:endParaRPr lang="en-GB" sz="1000">
                        <a:effectLst/>
                      </a:endParaRPr>
                    </a:p>
                  </a:txBody>
                  <a:tcPr marL="59520" marR="59520" marT="27471" marB="274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2022</a:t>
                      </a:r>
                    </a:p>
                  </a:txBody>
                  <a:tcPr marL="59520" marR="59520" marT="27471" marB="274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762146"/>
                  </a:ext>
                </a:extLst>
              </a:tr>
              <a:tr h="352342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8"/>
                        </a:rPr>
                        <a:t>A review on communication protocols of industrial internet of things</a:t>
                      </a:r>
                      <a:endParaRPr lang="en-GB" sz="1000">
                        <a:effectLst/>
                      </a:endParaRPr>
                    </a:p>
                  </a:txBody>
                  <a:tcPr marL="59520" marR="59520" marT="27471" marB="274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2022</a:t>
                      </a:r>
                    </a:p>
                  </a:txBody>
                  <a:tcPr marL="59520" marR="59520" marT="27471" marB="274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078020"/>
                  </a:ext>
                </a:extLst>
              </a:tr>
              <a:tr h="415104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9"/>
                        </a:rPr>
                        <a:t>A survey on communication protocols and performance evaluations for Internet of Things</a:t>
                      </a:r>
                      <a:endParaRPr lang="en-GB" sz="1000">
                        <a:effectLst/>
                      </a:endParaRPr>
                    </a:p>
                  </a:txBody>
                  <a:tcPr marL="59520" marR="59520" marT="27471" marB="274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2022</a:t>
                      </a:r>
                    </a:p>
                  </a:txBody>
                  <a:tcPr marL="59520" marR="59520" marT="27471" marB="274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678046"/>
                  </a:ext>
                </a:extLst>
              </a:tr>
              <a:tr h="352342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10"/>
                        </a:rPr>
                        <a:t>Preventing MQTT vulnerabilities using IoT-enabled intrusion detection system</a:t>
                      </a:r>
                      <a:endParaRPr lang="en-GB" sz="1000">
                        <a:effectLst/>
                      </a:endParaRPr>
                    </a:p>
                  </a:txBody>
                  <a:tcPr marL="59520" marR="59520" marT="27471" marB="274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2022</a:t>
                      </a:r>
                    </a:p>
                  </a:txBody>
                  <a:tcPr marL="59520" marR="59520" marT="27471" marB="274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885472"/>
                  </a:ext>
                </a:extLst>
              </a:tr>
              <a:tr h="501607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11"/>
                        </a:rPr>
                        <a:t>A performance analysis of internet of things networking protocols: Evaluating MQTT, CoAP, OPC UA</a:t>
                      </a:r>
                      <a:endParaRPr lang="en-GB" sz="1000">
                        <a:effectLst/>
                      </a:endParaRPr>
                    </a:p>
                  </a:txBody>
                  <a:tcPr marL="59520" marR="59520" marT="27471" marB="274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2021</a:t>
                      </a:r>
                    </a:p>
                  </a:txBody>
                  <a:tcPr marL="59520" marR="59520" marT="27471" marB="274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788480"/>
                  </a:ext>
                </a:extLst>
              </a:tr>
              <a:tr h="415104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12"/>
                        </a:rPr>
                        <a:t>Performance evaluation of CoAP and MQTT with security support for IoT environments</a:t>
                      </a:r>
                      <a:endParaRPr lang="en-GB" sz="1000">
                        <a:effectLst/>
                      </a:endParaRPr>
                    </a:p>
                  </a:txBody>
                  <a:tcPr marL="59520" marR="59520" marT="27471" marB="274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2021</a:t>
                      </a:r>
                    </a:p>
                  </a:txBody>
                  <a:tcPr marL="59520" marR="59520" marT="27471" marB="274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898264"/>
                  </a:ext>
                </a:extLst>
              </a:tr>
              <a:tr h="415104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13"/>
                        </a:rPr>
                        <a:t>Performance comparison of MQTT and CoAP protocols in different simulation environments</a:t>
                      </a:r>
                      <a:endParaRPr lang="en-GB" sz="1000">
                        <a:effectLst/>
                      </a:endParaRPr>
                    </a:p>
                  </a:txBody>
                  <a:tcPr marL="59520" marR="59520" marT="27471" marB="274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2021</a:t>
                      </a:r>
                    </a:p>
                  </a:txBody>
                  <a:tcPr marL="59520" marR="59520" marT="27471" marB="274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797799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86E22BD-B2F1-520B-0216-0F79D482B3B0}"/>
              </a:ext>
            </a:extLst>
          </p:cNvPr>
          <p:cNvGraphicFramePr>
            <a:graphicFrameLocks noGrp="1"/>
          </p:cNvGraphicFramePr>
          <p:nvPr/>
        </p:nvGraphicFramePr>
        <p:xfrm>
          <a:off x="4352928" y="1399429"/>
          <a:ext cx="2743200" cy="4960698"/>
        </p:xfrm>
        <a:graphic>
          <a:graphicData uri="http://schemas.openxmlformats.org/drawingml/2006/table">
            <a:tbl>
              <a:tblPr/>
              <a:tblGrid>
                <a:gridCol w="2292076">
                  <a:extLst>
                    <a:ext uri="{9D8B030D-6E8A-4147-A177-3AD203B41FA5}">
                      <a16:colId xmlns:a16="http://schemas.microsoft.com/office/drawing/2014/main" val="3065654028"/>
                    </a:ext>
                  </a:extLst>
                </a:gridCol>
                <a:gridCol w="451124">
                  <a:extLst>
                    <a:ext uri="{9D8B030D-6E8A-4147-A177-3AD203B41FA5}">
                      <a16:colId xmlns:a16="http://schemas.microsoft.com/office/drawing/2014/main" val="1933882085"/>
                    </a:ext>
                  </a:extLst>
                </a:gridCol>
              </a:tblGrid>
              <a:tr h="216729"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000000"/>
                          </a:solidFill>
                          <a:effectLst/>
                        </a:rPr>
                        <a:t>Title</a:t>
                      </a:r>
                    </a:p>
                  </a:txBody>
                  <a:tcPr marL="71208" marR="71208" marT="32865" marB="3286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000000"/>
                          </a:solidFill>
                          <a:effectLst/>
                        </a:rPr>
                        <a:t>Year</a:t>
                      </a:r>
                    </a:p>
                  </a:txBody>
                  <a:tcPr marL="71208" marR="71208" marT="32865" marB="3286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698887"/>
                  </a:ext>
                </a:extLst>
              </a:tr>
              <a:tr h="313708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14"/>
                        </a:rPr>
                        <a:t>IoT Protocols–MQTT versus CoAP</a:t>
                      </a:r>
                      <a:endParaRPr lang="en-GB" sz="1000">
                        <a:effectLst/>
                      </a:endParaRPr>
                    </a:p>
                  </a:txBody>
                  <a:tcPr marL="71208" marR="71208" marT="32865" marB="3286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2021</a:t>
                      </a:r>
                    </a:p>
                  </a:txBody>
                  <a:tcPr marL="71208" marR="71208" marT="32865" marB="3286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262680"/>
                  </a:ext>
                </a:extLst>
              </a:tr>
              <a:tr h="571767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15"/>
                        </a:rPr>
                        <a:t>A comparative evaluation of AMQP, MQTT and HTTP protocols using real-time public smart city data</a:t>
                      </a:r>
                      <a:endParaRPr lang="en-GB" sz="1000">
                        <a:effectLst/>
                      </a:endParaRPr>
                    </a:p>
                  </a:txBody>
                  <a:tcPr marL="71208" marR="71208" marT="32865" marB="3286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2021</a:t>
                      </a:r>
                    </a:p>
                  </a:txBody>
                  <a:tcPr marL="71208" marR="71208" marT="32865" marB="3286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05838"/>
                  </a:ext>
                </a:extLst>
              </a:tr>
              <a:tr h="571767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16"/>
                        </a:rPr>
                        <a:t>CoAP vs. MQTT-SN: Comparison and performance evaluation in publish-subscribe environments</a:t>
                      </a:r>
                      <a:endParaRPr lang="en-GB" sz="1000">
                        <a:effectLst/>
                      </a:endParaRPr>
                    </a:p>
                  </a:txBody>
                  <a:tcPr marL="71208" marR="71208" marT="32865" marB="3286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2021</a:t>
                      </a:r>
                    </a:p>
                  </a:txBody>
                  <a:tcPr marL="71208" marR="71208" marT="32865" marB="3286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7050883"/>
                  </a:ext>
                </a:extLst>
              </a:tr>
              <a:tr h="443049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17"/>
                        </a:rPr>
                        <a:t>A performance analysis of the security communication in CoAP and MQTT</a:t>
                      </a:r>
                      <a:endParaRPr lang="en-GB" sz="1000">
                        <a:effectLst/>
                      </a:endParaRPr>
                    </a:p>
                  </a:txBody>
                  <a:tcPr marL="71208" marR="71208" marT="32865" marB="3286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2021</a:t>
                      </a:r>
                    </a:p>
                  </a:txBody>
                  <a:tcPr marL="71208" marR="71208" marT="32865" marB="3286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948478"/>
                  </a:ext>
                </a:extLst>
              </a:tr>
              <a:tr h="368150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18"/>
                        </a:rPr>
                        <a:t>Performance Evaluation of CoAP and MQTT_SN Protocols</a:t>
                      </a:r>
                      <a:endParaRPr lang="en-GB" sz="1000">
                        <a:effectLst/>
                      </a:endParaRPr>
                    </a:p>
                  </a:txBody>
                  <a:tcPr marL="71208" marR="71208" marT="32865" marB="3286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2021</a:t>
                      </a:r>
                    </a:p>
                  </a:txBody>
                  <a:tcPr marL="71208" marR="71208" marT="32865" marB="3286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74860"/>
                  </a:ext>
                </a:extLst>
              </a:tr>
              <a:tr h="442738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19"/>
                        </a:rPr>
                        <a:t>Review of the IoT Protocol Literature at the Application Layer</a:t>
                      </a:r>
                      <a:endParaRPr lang="en-GB" sz="1000">
                        <a:effectLst/>
                      </a:endParaRPr>
                    </a:p>
                  </a:txBody>
                  <a:tcPr marL="71208" marR="71208" marT="32865" marB="3286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2021</a:t>
                      </a:r>
                    </a:p>
                  </a:txBody>
                  <a:tcPr marL="71208" marR="71208" marT="32865" marB="3286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768028"/>
                  </a:ext>
                </a:extLst>
              </a:tr>
              <a:tr h="442738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20"/>
                        </a:rPr>
                        <a:t>A survey of application layer protocols for Internet of Things</a:t>
                      </a:r>
                      <a:endParaRPr lang="en-GB" sz="1000">
                        <a:effectLst/>
                      </a:endParaRPr>
                    </a:p>
                  </a:txBody>
                  <a:tcPr marL="71208" marR="71208" marT="32865" marB="3286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2021</a:t>
                      </a:r>
                    </a:p>
                  </a:txBody>
                  <a:tcPr marL="71208" marR="71208" marT="32865" marB="3286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48405"/>
                  </a:ext>
                </a:extLst>
              </a:tr>
              <a:tr h="829825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21"/>
                        </a:rPr>
                        <a:t>Performance evaluation of a widely used implementation of the MQTT protocol with large payloads in normal operation and under a DoS attack</a:t>
                      </a:r>
                      <a:endParaRPr lang="en-GB" sz="1000">
                        <a:effectLst/>
                      </a:endParaRPr>
                    </a:p>
                  </a:txBody>
                  <a:tcPr marL="71208" marR="71208" marT="32865" marB="3286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2021</a:t>
                      </a:r>
                    </a:p>
                  </a:txBody>
                  <a:tcPr marL="71208" marR="71208" marT="32865" marB="3286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102028"/>
                  </a:ext>
                </a:extLst>
              </a:tr>
              <a:tr h="442738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22"/>
                        </a:rPr>
                        <a:t>Implementation and Analysis of IoT Based Automation Using MQTT</a:t>
                      </a:r>
                      <a:endParaRPr lang="en-GB" sz="1000">
                        <a:effectLst/>
                      </a:endParaRPr>
                    </a:p>
                  </a:txBody>
                  <a:tcPr marL="71208" marR="71208" marT="32865" marB="3286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2021</a:t>
                      </a:r>
                    </a:p>
                  </a:txBody>
                  <a:tcPr marL="71208" marR="71208" marT="32865" marB="3286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975636"/>
                  </a:ext>
                </a:extLst>
              </a:tr>
              <a:tr h="313708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23"/>
                        </a:rPr>
                        <a:t>Analysis of quic transported CoAP</a:t>
                      </a:r>
                      <a:endParaRPr lang="en-GB" sz="1000">
                        <a:effectLst/>
                      </a:endParaRPr>
                    </a:p>
                  </a:txBody>
                  <a:tcPr marL="71208" marR="71208" marT="32865" marB="3286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2021</a:t>
                      </a:r>
                    </a:p>
                  </a:txBody>
                  <a:tcPr marL="71208" marR="71208" marT="32865" marB="3286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39315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64F7E0E-94F3-D107-1FC8-D53ECE916EDC}"/>
              </a:ext>
            </a:extLst>
          </p:cNvPr>
          <p:cNvGraphicFramePr>
            <a:graphicFrameLocks noGrp="1"/>
          </p:cNvGraphicFramePr>
          <p:nvPr/>
        </p:nvGraphicFramePr>
        <p:xfrm>
          <a:off x="7434473" y="1399430"/>
          <a:ext cx="3546400" cy="5362302"/>
        </p:xfrm>
        <a:graphic>
          <a:graphicData uri="http://schemas.openxmlformats.org/drawingml/2006/table">
            <a:tbl>
              <a:tblPr/>
              <a:tblGrid>
                <a:gridCol w="2930195">
                  <a:extLst>
                    <a:ext uri="{9D8B030D-6E8A-4147-A177-3AD203B41FA5}">
                      <a16:colId xmlns:a16="http://schemas.microsoft.com/office/drawing/2014/main" val="57211819"/>
                    </a:ext>
                  </a:extLst>
                </a:gridCol>
                <a:gridCol w="616205">
                  <a:extLst>
                    <a:ext uri="{9D8B030D-6E8A-4147-A177-3AD203B41FA5}">
                      <a16:colId xmlns:a16="http://schemas.microsoft.com/office/drawing/2014/main" val="2866730138"/>
                    </a:ext>
                  </a:extLst>
                </a:gridCol>
              </a:tblGrid>
              <a:tr h="188961"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000000"/>
                          </a:solidFill>
                          <a:effectLst/>
                        </a:rPr>
                        <a:t>Title</a:t>
                      </a:r>
                    </a:p>
                  </a:txBody>
                  <a:tcPr marL="49618" marR="49618" marT="22900" marB="2290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000000"/>
                          </a:solidFill>
                          <a:effectLst/>
                        </a:rPr>
                        <a:t>Year</a:t>
                      </a:r>
                    </a:p>
                  </a:txBody>
                  <a:tcPr marL="49618" marR="49618" marT="22900" marB="2290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223405"/>
                  </a:ext>
                </a:extLst>
              </a:tr>
              <a:tr h="479552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24"/>
                        </a:rPr>
                        <a:t>Comparing application layer protocols for video transmission in IoT low power lossy networks: an analytic comparison</a:t>
                      </a:r>
                      <a:endParaRPr lang="en-GB" sz="1000">
                        <a:effectLst/>
                      </a:endParaRPr>
                    </a:p>
                  </a:txBody>
                  <a:tcPr marL="49618" marR="49618" marT="22900" marB="2290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2021</a:t>
                      </a:r>
                    </a:p>
                  </a:txBody>
                  <a:tcPr marL="49618" marR="49618" marT="22900" marB="2290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224824"/>
                  </a:ext>
                </a:extLst>
              </a:tr>
              <a:tr h="334256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25"/>
                        </a:rPr>
                        <a:t>Comparing energy consumption of application layer protocols on IoT devices</a:t>
                      </a:r>
                      <a:endParaRPr lang="en-GB" sz="1000">
                        <a:effectLst/>
                      </a:endParaRPr>
                    </a:p>
                  </a:txBody>
                  <a:tcPr marL="49618" marR="49618" marT="22900" marB="2290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2021</a:t>
                      </a:r>
                    </a:p>
                  </a:txBody>
                  <a:tcPr marL="49618" marR="49618" marT="22900" marB="2290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940940"/>
                  </a:ext>
                </a:extLst>
              </a:tr>
              <a:tr h="334256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26"/>
                        </a:rPr>
                        <a:t>An integration of personal health device and HL7 FHIR using CoAP</a:t>
                      </a:r>
                      <a:endParaRPr lang="en-GB" sz="1000">
                        <a:effectLst/>
                      </a:endParaRPr>
                    </a:p>
                  </a:txBody>
                  <a:tcPr marL="49618" marR="49618" marT="22900" marB="2290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2021</a:t>
                      </a:r>
                    </a:p>
                  </a:txBody>
                  <a:tcPr marL="49618" marR="49618" marT="22900" marB="2290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918522"/>
                  </a:ext>
                </a:extLst>
              </a:tr>
              <a:tr h="283717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27"/>
                        </a:rPr>
                        <a:t>MQTT protocol use cases in the Internet of Things</a:t>
                      </a:r>
                      <a:endParaRPr lang="en-GB" sz="1000">
                        <a:effectLst/>
                      </a:endParaRPr>
                    </a:p>
                  </a:txBody>
                  <a:tcPr marL="49618" marR="49618" marT="22900" marB="2290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2021</a:t>
                      </a:r>
                    </a:p>
                  </a:txBody>
                  <a:tcPr marL="49618" marR="49618" marT="22900" marB="2290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583568"/>
                  </a:ext>
                </a:extLst>
              </a:tr>
              <a:tr h="401117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28"/>
                        </a:rPr>
                        <a:t>The impact of networking protocols on massive M2M communication in the industrial IoT</a:t>
                      </a:r>
                      <a:endParaRPr lang="en-GB" sz="1000">
                        <a:effectLst/>
                      </a:endParaRPr>
                    </a:p>
                  </a:txBody>
                  <a:tcPr marL="49618" marR="49618" marT="22900" marB="2290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2021</a:t>
                      </a:r>
                    </a:p>
                  </a:txBody>
                  <a:tcPr marL="49618" marR="49618" marT="22900" marB="2290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002051"/>
                  </a:ext>
                </a:extLst>
              </a:tr>
              <a:tr h="334256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29"/>
                        </a:rPr>
                        <a:t>IoT-based platform for environment data sharing in smart cities</a:t>
                      </a:r>
                      <a:endParaRPr lang="en-GB" sz="1000">
                        <a:effectLst/>
                      </a:endParaRPr>
                    </a:p>
                  </a:txBody>
                  <a:tcPr marL="49618" marR="49618" marT="22900" marB="2290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2021</a:t>
                      </a:r>
                    </a:p>
                  </a:txBody>
                  <a:tcPr marL="49618" marR="49618" marT="22900" marB="2290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509043"/>
                  </a:ext>
                </a:extLst>
              </a:tr>
              <a:tr h="334256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30"/>
                        </a:rPr>
                        <a:t>Overview of Application Layer Protocol of Internet of Things</a:t>
                      </a:r>
                      <a:endParaRPr lang="en-GB" sz="1000">
                        <a:effectLst/>
                      </a:endParaRPr>
                    </a:p>
                  </a:txBody>
                  <a:tcPr marL="49618" marR="49618" marT="22900" marB="2290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2021</a:t>
                      </a:r>
                    </a:p>
                  </a:txBody>
                  <a:tcPr marL="49618" marR="49618" marT="22900" marB="2290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165939"/>
                  </a:ext>
                </a:extLst>
              </a:tr>
              <a:tr h="334256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31"/>
                        </a:rPr>
                        <a:t>WLDT: A general purpose library to build IoT digital twins</a:t>
                      </a:r>
                      <a:endParaRPr lang="en-GB" sz="1000">
                        <a:effectLst/>
                      </a:endParaRPr>
                    </a:p>
                  </a:txBody>
                  <a:tcPr marL="49618" marR="49618" marT="22900" marB="2290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2021</a:t>
                      </a:r>
                    </a:p>
                  </a:txBody>
                  <a:tcPr marL="49618" marR="49618" marT="22900" marB="2290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725924"/>
                  </a:ext>
                </a:extLst>
              </a:tr>
              <a:tr h="401117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28"/>
                        </a:rPr>
                        <a:t>Enabling seamless communication over several IoT messaging protocols in OpenFlow network</a:t>
                      </a:r>
                      <a:endParaRPr lang="en-GB" sz="1000">
                        <a:effectLst/>
                      </a:endParaRPr>
                    </a:p>
                  </a:txBody>
                  <a:tcPr marL="49618" marR="49618" marT="22900" marB="2290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2021</a:t>
                      </a:r>
                    </a:p>
                  </a:txBody>
                  <a:tcPr marL="49618" marR="49618" marT="22900" marB="2290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036186"/>
                  </a:ext>
                </a:extLst>
              </a:tr>
              <a:tr h="334256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32"/>
                        </a:rPr>
                        <a:t>The Security of MQTT Against the Applications Protocols for IoT</a:t>
                      </a:r>
                      <a:endParaRPr lang="en-GB" sz="1000">
                        <a:effectLst/>
                      </a:endParaRPr>
                    </a:p>
                  </a:txBody>
                  <a:tcPr marL="49618" marR="49618" marT="22900" marB="2290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2021</a:t>
                      </a:r>
                    </a:p>
                  </a:txBody>
                  <a:tcPr marL="49618" marR="49618" marT="22900" marB="2290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038405"/>
                  </a:ext>
                </a:extLst>
              </a:tr>
              <a:tr h="283717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33"/>
                        </a:rPr>
                        <a:t>CoAP and MQTT Measurements over LoRaWAN</a:t>
                      </a:r>
                      <a:endParaRPr lang="en-GB" sz="1000">
                        <a:effectLst/>
                      </a:endParaRPr>
                    </a:p>
                  </a:txBody>
                  <a:tcPr marL="49618" marR="49618" marT="22900" marB="2290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2020</a:t>
                      </a:r>
                    </a:p>
                  </a:txBody>
                  <a:tcPr marL="49618" marR="49618" marT="22900" marB="2290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120086"/>
                  </a:ext>
                </a:extLst>
              </a:tr>
              <a:tr h="479552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34"/>
                        </a:rPr>
                        <a:t>A brief comparative analysis on application layer protocols of internet of things: MQTT, CoAP, AMQP and HTTP</a:t>
                      </a:r>
                      <a:endParaRPr lang="en-GB" sz="1000">
                        <a:effectLst/>
                      </a:endParaRPr>
                    </a:p>
                  </a:txBody>
                  <a:tcPr marL="49618" marR="49618" marT="22900" marB="2290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2020</a:t>
                      </a:r>
                    </a:p>
                  </a:txBody>
                  <a:tcPr marL="49618" marR="49618" marT="22900" marB="2290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003774"/>
                  </a:ext>
                </a:extLst>
              </a:tr>
              <a:tr h="283717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35"/>
                        </a:rPr>
                        <a:t>Distributed UCON in CoAP and MQTT protocols</a:t>
                      </a:r>
                      <a:endParaRPr lang="en-GB" sz="1000">
                        <a:effectLst/>
                      </a:endParaRPr>
                    </a:p>
                  </a:txBody>
                  <a:tcPr marL="49618" marR="49618" marT="22900" marB="2290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2020</a:t>
                      </a:r>
                    </a:p>
                  </a:txBody>
                  <a:tcPr marL="49618" marR="49618" marT="22900" marB="2290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021494"/>
                  </a:ext>
                </a:extLst>
              </a:tr>
              <a:tr h="401117">
                <a:tc>
                  <a:txBody>
                    <a:bodyPr/>
                    <a:lstStyle/>
                    <a:p>
                      <a:r>
                        <a:rPr lang="en-GB" sz="1000" u="none" strike="noStrike">
                          <a:solidFill>
                            <a:srgbClr val="0088CC"/>
                          </a:solidFill>
                          <a:effectLst/>
                          <a:hlinkClick r:id="rId36"/>
                        </a:rPr>
                        <a:t>MQTT-CoAP interconnector: IoT interoperability solution for application layer protocols</a:t>
                      </a:r>
                      <a:endParaRPr lang="en-GB" sz="1000">
                        <a:effectLst/>
                      </a:endParaRPr>
                    </a:p>
                  </a:txBody>
                  <a:tcPr marL="49618" marR="49618" marT="22900" marB="2290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FI" sz="1000">
                          <a:effectLst/>
                        </a:rPr>
                        <a:t>2020</a:t>
                      </a:r>
                    </a:p>
                  </a:txBody>
                  <a:tcPr marL="49618" marR="49618" marT="22900" marB="2290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581736"/>
                  </a:ext>
                </a:extLst>
              </a:tr>
            </a:tbl>
          </a:graphicData>
        </a:graphic>
      </p:graphicFrame>
      <p:sp>
        <p:nvSpPr>
          <p:cNvPr id="14" name="Rectangle 2">
            <a:extLst>
              <a:ext uri="{FF2B5EF4-FFF2-40B4-BE49-F238E27FC236}">
                <a16:creationId xmlns:a16="http://schemas.microsoft.com/office/drawing/2014/main" id="{39447B9B-CE49-8F66-7C09-4E4B3DA56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17543" y="219429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FI" altLang="en-FI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FI" altLang="en-FI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056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36DB8-1DD4-43C1-AE09-31397DC58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41" y="312367"/>
            <a:ext cx="10743628" cy="846795"/>
          </a:xfrm>
        </p:spPr>
        <p:txBody>
          <a:bodyPr>
            <a:normAutofit/>
          </a:bodyPr>
          <a:lstStyle/>
          <a:p>
            <a:r>
              <a:rPr lang="en-US">
                <a:latin typeface="Ericsson Hilda" pitchFamily="2" charset="0"/>
              </a:rPr>
              <a:t>What about MQTT?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39447B9B-CE49-8F66-7C09-4E4B3DA56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17543" y="219429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FI" altLang="en-FI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FI" altLang="en-FI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55CD36-A1B2-2891-4A7D-C5694D69A5CA}"/>
              </a:ext>
            </a:extLst>
          </p:cNvPr>
          <p:cNvGraphicFramePr>
            <a:graphicFrameLocks noGrp="1"/>
          </p:cNvGraphicFramePr>
          <p:nvPr/>
        </p:nvGraphicFramePr>
        <p:xfrm>
          <a:off x="1466474" y="1825623"/>
          <a:ext cx="9259052" cy="4351342"/>
        </p:xfrm>
        <a:graphic>
          <a:graphicData uri="http://schemas.openxmlformats.org/drawingml/2006/table">
            <a:tbl>
              <a:tblPr/>
              <a:tblGrid>
                <a:gridCol w="2314763">
                  <a:extLst>
                    <a:ext uri="{9D8B030D-6E8A-4147-A177-3AD203B41FA5}">
                      <a16:colId xmlns:a16="http://schemas.microsoft.com/office/drawing/2014/main" val="634257947"/>
                    </a:ext>
                  </a:extLst>
                </a:gridCol>
                <a:gridCol w="2314763">
                  <a:extLst>
                    <a:ext uri="{9D8B030D-6E8A-4147-A177-3AD203B41FA5}">
                      <a16:colId xmlns:a16="http://schemas.microsoft.com/office/drawing/2014/main" val="3586854474"/>
                    </a:ext>
                  </a:extLst>
                </a:gridCol>
                <a:gridCol w="2314763">
                  <a:extLst>
                    <a:ext uri="{9D8B030D-6E8A-4147-A177-3AD203B41FA5}">
                      <a16:colId xmlns:a16="http://schemas.microsoft.com/office/drawing/2014/main" val="3838143658"/>
                    </a:ext>
                  </a:extLst>
                </a:gridCol>
                <a:gridCol w="2314763">
                  <a:extLst>
                    <a:ext uri="{9D8B030D-6E8A-4147-A177-3AD203B41FA5}">
                      <a16:colId xmlns:a16="http://schemas.microsoft.com/office/drawing/2014/main" val="3213513325"/>
                    </a:ext>
                  </a:extLst>
                </a:gridCol>
              </a:tblGrid>
              <a:tr h="282339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000000"/>
                          </a:solidFill>
                          <a:effectLst/>
                        </a:rPr>
                        <a:t>Feature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chemeClr val="bg1"/>
                          </a:solidFill>
                          <a:effectLst/>
                        </a:rPr>
                        <a:t>CoAP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chemeClr val="bg1"/>
                          </a:solidFill>
                          <a:effectLst/>
                        </a:rPr>
                        <a:t>HTTP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chemeClr val="bg1"/>
                          </a:solidFill>
                          <a:effectLst/>
                        </a:rPr>
                        <a:t>MQTT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488693"/>
                  </a:ext>
                </a:extLst>
              </a:tr>
              <a:tr h="282339">
                <a:tc>
                  <a:txBody>
                    <a:bodyPr/>
                    <a:lstStyle/>
                    <a:p>
                      <a:r>
                        <a:rPr lang="en-GB" sz="1300">
                          <a:solidFill>
                            <a:schemeClr val="bg1"/>
                          </a:solidFill>
                          <a:effectLst/>
                        </a:rPr>
                        <a:t>Protocol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UDP (TCP too)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v1,v2 TCP, v3 QUIC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TCP (UDP too)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938739"/>
                  </a:ext>
                </a:extLst>
              </a:tr>
              <a:tr h="282339">
                <a:tc>
                  <a:txBody>
                    <a:bodyPr/>
                    <a:lstStyle/>
                    <a:p>
                      <a:r>
                        <a:rPr lang="en-GB" sz="1300">
                          <a:solidFill>
                            <a:schemeClr val="bg1"/>
                          </a:solidFill>
                          <a:effectLst/>
                        </a:rPr>
                        <a:t>Network layer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IPv4/6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IPv4/6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IPv4/6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308493"/>
                  </a:ext>
                </a:extLst>
              </a:tr>
              <a:tr h="282339">
                <a:tc>
                  <a:txBody>
                    <a:bodyPr/>
                    <a:lstStyle/>
                    <a:p>
                      <a:r>
                        <a:rPr lang="en-GB" sz="1300">
                          <a:solidFill>
                            <a:schemeClr val="bg1"/>
                          </a:solidFill>
                          <a:effectLst/>
                        </a:rPr>
                        <a:t>Connection Oriented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No need (IP+UDP)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depends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Yes (TCP)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893212"/>
                  </a:ext>
                </a:extLst>
              </a:tr>
              <a:tr h="282339">
                <a:tc>
                  <a:txBody>
                    <a:bodyPr/>
                    <a:lstStyle/>
                    <a:p>
                      <a:r>
                        <a:rPr lang="en-GB" sz="1300">
                          <a:solidFill>
                            <a:schemeClr val="bg1"/>
                          </a:solidFill>
                          <a:effectLst/>
                        </a:rPr>
                        <a:t>Multicast support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Yes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No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No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173772"/>
                  </a:ext>
                </a:extLst>
              </a:tr>
              <a:tr h="282339">
                <a:tc>
                  <a:txBody>
                    <a:bodyPr/>
                    <a:lstStyle/>
                    <a:p>
                      <a:r>
                        <a:rPr lang="en-GB" sz="1300">
                          <a:solidFill>
                            <a:schemeClr val="bg1"/>
                          </a:solidFill>
                          <a:effectLst/>
                        </a:rPr>
                        <a:t>Architecture model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REST + Observe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REST + Webhooks/SSE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PubSub via Broker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397583"/>
                  </a:ext>
                </a:extLst>
              </a:tr>
              <a:tr h="282339">
                <a:tc>
                  <a:txBody>
                    <a:bodyPr/>
                    <a:lstStyle/>
                    <a:p>
                      <a:r>
                        <a:rPr lang="en-GB" sz="1300">
                          <a:solidFill>
                            <a:schemeClr val="bg1"/>
                          </a:solidFill>
                          <a:effectLst/>
                        </a:rPr>
                        <a:t>Communication model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State transfer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State transfer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Event model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490005"/>
                  </a:ext>
                </a:extLst>
              </a:tr>
              <a:tr h="481637">
                <a:tc>
                  <a:txBody>
                    <a:bodyPr/>
                    <a:lstStyle/>
                    <a:p>
                      <a:r>
                        <a:rPr lang="en-GB" sz="1300">
                          <a:solidFill>
                            <a:schemeClr val="bg1"/>
                          </a:solidFill>
                          <a:effectLst/>
                        </a:rPr>
                        <a:t>Asynchronous (non-blocking)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Yes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v1,v2 no, v3 yes (see </a:t>
                      </a:r>
                      <a:r>
                        <a:rPr lang="en-GB" sz="1300" u="none" strike="noStrike">
                          <a:solidFill>
                            <a:srgbClr val="0088CC"/>
                          </a:solidFill>
                          <a:effectLst/>
                          <a:hlinkClick r:id="rId3"/>
                        </a:rPr>
                        <a:t>hol-blocking</a:t>
                      </a:r>
                      <a:r>
                        <a:rPr lang="en-GB" sz="1300">
                          <a:effectLst/>
                        </a:rPr>
                        <a:t>)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Yes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605419"/>
                  </a:ext>
                </a:extLst>
              </a:tr>
              <a:tr h="282339">
                <a:tc>
                  <a:txBody>
                    <a:bodyPr/>
                    <a:lstStyle/>
                    <a:p>
                      <a:r>
                        <a:rPr lang="en-GB" sz="1300">
                          <a:solidFill>
                            <a:schemeClr val="bg1"/>
                          </a:solidFill>
                          <a:effectLst/>
                        </a:rPr>
                        <a:t>Payloads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Small (blockwise for larger)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Big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Big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585393"/>
                  </a:ext>
                </a:extLst>
              </a:tr>
              <a:tr h="282339">
                <a:tc>
                  <a:txBody>
                    <a:bodyPr/>
                    <a:lstStyle/>
                    <a:p>
                      <a:r>
                        <a:rPr lang="en-GB" sz="1300">
                          <a:solidFill>
                            <a:schemeClr val="bg1"/>
                          </a:solidFill>
                          <a:effectLst/>
                        </a:rPr>
                        <a:t>Resource Interaction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Direct (GET, PUT, POST, DELETE)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Direct (GET, PUT, POST, DELETE)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Message Queue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731736"/>
                  </a:ext>
                </a:extLst>
              </a:tr>
              <a:tr h="481637">
                <a:tc>
                  <a:txBody>
                    <a:bodyPr/>
                    <a:lstStyle/>
                    <a:p>
                      <a:r>
                        <a:rPr lang="en-GB" sz="1300">
                          <a:solidFill>
                            <a:schemeClr val="bg1"/>
                          </a:solidFill>
                          <a:effectLst/>
                        </a:rPr>
                        <a:t>Content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Support for content negotiation and discovery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Support for content negotiation and discovery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Payload format must be known beforehand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516065"/>
                  </a:ext>
                </a:extLst>
              </a:tr>
              <a:tr h="282339">
                <a:tc>
                  <a:txBody>
                    <a:bodyPr/>
                    <a:lstStyle/>
                    <a:p>
                      <a:r>
                        <a:rPr lang="en-GB" sz="1300">
                          <a:solidFill>
                            <a:schemeClr val="bg1"/>
                          </a:solidFill>
                          <a:effectLst/>
                        </a:rPr>
                        <a:t>Overhead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Little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More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Little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8187599"/>
                  </a:ext>
                </a:extLst>
              </a:tr>
              <a:tr h="282339">
                <a:tc>
                  <a:txBody>
                    <a:bodyPr/>
                    <a:lstStyle/>
                    <a:p>
                      <a:r>
                        <a:rPr lang="en-GB" sz="1300">
                          <a:solidFill>
                            <a:schemeClr val="bg1"/>
                          </a:solidFill>
                          <a:effectLst/>
                        </a:rPr>
                        <a:t>Use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IoT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Everything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IoT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645655"/>
                  </a:ext>
                </a:extLst>
              </a:tr>
              <a:tr h="282339">
                <a:tc>
                  <a:txBody>
                    <a:bodyPr/>
                    <a:lstStyle/>
                    <a:p>
                      <a:r>
                        <a:rPr lang="en-GB" sz="1300">
                          <a:solidFill>
                            <a:schemeClr val="bg1"/>
                          </a:solidFill>
                          <a:effectLst/>
                        </a:rPr>
                        <a:t>NATs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i="0">
                          <a:effectLst/>
                        </a:rPr>
                        <a:t>Problems over UDP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TCP so OK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effectLst/>
                        </a:rPr>
                        <a:t>TCP so OK</a:t>
                      </a:r>
                    </a:p>
                  </a:txBody>
                  <a:tcPr marL="89961" marR="89961" marT="41520" marB="415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473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52346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765405943259318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765405943259318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765405943259318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2945</Words>
  <Application>Microsoft Macintosh PowerPoint</Application>
  <PresentationFormat>Widescreen</PresentationFormat>
  <Paragraphs>518</Paragraphs>
  <Slides>20</Slides>
  <Notes>19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Calibri</vt:lpstr>
      <vt:lpstr>Calibri Light</vt:lpstr>
      <vt:lpstr>Courier New</vt:lpstr>
      <vt:lpstr>Ericsson Hilda</vt:lpstr>
      <vt:lpstr>Ericsson Hilda Light</vt:lpstr>
      <vt:lpstr>Menlo</vt:lpstr>
      <vt:lpstr>PT Sans</vt:lpstr>
      <vt:lpstr>System Font Regular</vt:lpstr>
      <vt:lpstr>Office Theme</vt:lpstr>
      <vt:lpstr>A publish-subscribe architecture for CoAP   </vt:lpstr>
      <vt:lpstr>PowerPoint Presentation</vt:lpstr>
      <vt:lpstr>CoAP Fundamentals</vt:lpstr>
      <vt:lpstr>CoAP Fundamentals II</vt:lpstr>
      <vt:lpstr>PowerPoint Presentation</vt:lpstr>
      <vt:lpstr>Where is CoAP present today (that I know of)</vt:lpstr>
      <vt:lpstr>Where is CoAP present today (that I know of)</vt:lpstr>
      <vt:lpstr>Where is CoAP present today (that I know of)</vt:lpstr>
      <vt:lpstr>PowerPoint Presentation</vt:lpstr>
      <vt:lpstr>Basic Concepts</vt:lpstr>
      <vt:lpstr>Brokers</vt:lpstr>
      <vt:lpstr>Publish-subscribe in CoAP</vt:lpstr>
      <vt:lpstr>Interface Overview</vt:lpstr>
      <vt:lpstr>Interface Overview</vt:lpstr>
      <vt:lpstr>Topic Lifecycle</vt:lpstr>
      <vt:lpstr>CoAP Broker properties</vt:lpstr>
      <vt:lpstr>PowerPoint Presentation</vt:lpstr>
      <vt:lpstr>Implementation</vt:lpstr>
      <vt:lpstr>What about MQTT?</vt:lpstr>
      <vt:lpstr>What about MQTT?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publish-subscribe architecture for CoAP   </dc:title>
  <dc:creator>Jaime Jiménez</dc:creator>
  <cp:lastModifiedBy>Jaime Jiménez</cp:lastModifiedBy>
  <cp:revision>1</cp:revision>
  <dcterms:created xsi:type="dcterms:W3CDTF">2023-12-05T16:46:48Z</dcterms:created>
  <dcterms:modified xsi:type="dcterms:W3CDTF">2023-12-05T16:48:38Z</dcterms:modified>
</cp:coreProperties>
</file>